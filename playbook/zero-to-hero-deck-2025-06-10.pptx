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3" r:id="rId5"/>
    <p:sldId id="267" r:id="rId6"/>
    <p:sldId id="269" r:id="rId7"/>
    <p:sldId id="261" r:id="rId8"/>
    <p:sldId id="260" r:id="rId9"/>
    <p:sldId id="264" r:id="rId10"/>
    <p:sldId id="266" r:id="rId11"/>
    <p:sldId id="265" r:id="rId12"/>
    <p:sldId id="262" r:id="rId13"/>
    <p:sldId id="270" r:id="rId14"/>
    <p:sldId id="259" r:id="rId15"/>
    <p:sldId id="271"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6B3C"/>
    <a:srgbClr val="C2F0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B3D3CD-4680-4A99-828E-B8D7A9289709}" v="8" dt="2026-06-10T08:42:24.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5" d="100"/>
          <a:sy n="135" d="100"/>
        </p:scale>
        <p:origin x="2466" y="11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fali Mody" userId="16c5d7c3b6b586ec" providerId="LiveId" clId="{2C327A21-09B3-47D1-988C-C8B11BDD8957}"/>
    <pc:docChg chg="undo custSel modSld sldOrd">
      <pc:chgData name="Shefali Mody" userId="16c5d7c3b6b586ec" providerId="LiveId" clId="{2C327A21-09B3-47D1-988C-C8B11BDD8957}" dt="2026-06-10T08:43:18.390" v="184" actId="404"/>
      <pc:docMkLst>
        <pc:docMk/>
      </pc:docMkLst>
      <pc:sldChg chg="modSp mod ord">
        <pc:chgData name="Shefali Mody" userId="16c5d7c3b6b586ec" providerId="LiveId" clId="{2C327A21-09B3-47D1-988C-C8B11BDD8957}" dt="2026-06-10T08:36:18.847" v="66" actId="14100"/>
        <pc:sldMkLst>
          <pc:docMk/>
          <pc:sldMk cId="0" sldId="259"/>
        </pc:sldMkLst>
        <pc:spChg chg="mod">
          <ac:chgData name="Shefali Mody" userId="16c5d7c3b6b586ec" providerId="LiveId" clId="{2C327A21-09B3-47D1-988C-C8B11BDD8957}" dt="2026-06-10T08:36:15.353" v="65" actId="14100"/>
          <ac:spMkLst>
            <pc:docMk/>
            <pc:sldMk cId="0" sldId="259"/>
            <ac:spMk id="6" creationId="{00000000-0000-0000-0000-000000000000}"/>
          </ac:spMkLst>
        </pc:spChg>
        <pc:spChg chg="mod">
          <ac:chgData name="Shefali Mody" userId="16c5d7c3b6b586ec" providerId="LiveId" clId="{2C327A21-09B3-47D1-988C-C8B11BDD8957}" dt="2026-06-10T08:36:18.847" v="66" actId="14100"/>
          <ac:spMkLst>
            <pc:docMk/>
            <pc:sldMk cId="0" sldId="259"/>
            <ac:spMk id="48" creationId="{00000000-0000-0000-0000-000000000000}"/>
          </ac:spMkLst>
        </pc:spChg>
      </pc:sldChg>
      <pc:sldChg chg="ord">
        <pc:chgData name="Shefali Mody" userId="16c5d7c3b6b586ec" providerId="LiveId" clId="{2C327A21-09B3-47D1-988C-C8B11BDD8957}" dt="2026-06-10T08:14:06.384" v="9"/>
        <pc:sldMkLst>
          <pc:docMk/>
          <pc:sldMk cId="0" sldId="260"/>
        </pc:sldMkLst>
      </pc:sldChg>
      <pc:sldChg chg="addSp delSp modSp mod">
        <pc:chgData name="Shefali Mody" userId="16c5d7c3b6b586ec" providerId="LiveId" clId="{2C327A21-09B3-47D1-988C-C8B11BDD8957}" dt="2026-06-10T08:43:18.390" v="184" actId="404"/>
        <pc:sldMkLst>
          <pc:docMk/>
          <pc:sldMk cId="0" sldId="261"/>
        </pc:sldMkLst>
        <pc:spChg chg="mod">
          <ac:chgData name="Shefali Mody" userId="16c5d7c3b6b586ec" providerId="LiveId" clId="{2C327A21-09B3-47D1-988C-C8B11BDD8957}" dt="2026-06-10T08:40:22.605" v="102" actId="1076"/>
          <ac:spMkLst>
            <pc:docMk/>
            <pc:sldMk cId="0" sldId="261"/>
            <ac:spMk id="28" creationId="{00000000-0000-0000-0000-000000000000}"/>
          </ac:spMkLst>
        </pc:spChg>
        <pc:spChg chg="mod">
          <ac:chgData name="Shefali Mody" userId="16c5d7c3b6b586ec" providerId="LiveId" clId="{2C327A21-09B3-47D1-988C-C8B11BDD8957}" dt="2026-06-10T08:40:22.605" v="102" actId="1076"/>
          <ac:spMkLst>
            <pc:docMk/>
            <pc:sldMk cId="0" sldId="261"/>
            <ac:spMk id="29" creationId="{00000000-0000-0000-0000-000000000000}"/>
          </ac:spMkLst>
        </pc:spChg>
        <pc:spChg chg="add mod">
          <ac:chgData name="Shefali Mody" userId="16c5d7c3b6b586ec" providerId="LiveId" clId="{2C327A21-09B3-47D1-988C-C8B11BDD8957}" dt="2026-06-10T08:32:13.339" v="51" actId="1036"/>
          <ac:spMkLst>
            <pc:docMk/>
            <pc:sldMk cId="0" sldId="261"/>
            <ac:spMk id="88" creationId="{5CA17F94-8D8B-D8AF-390E-62BBEFB457D0}"/>
          </ac:spMkLst>
        </pc:spChg>
        <pc:spChg chg="add mod">
          <ac:chgData name="Shefali Mody" userId="16c5d7c3b6b586ec" providerId="LiveId" clId="{2C327A21-09B3-47D1-988C-C8B11BDD8957}" dt="2026-06-10T08:32:13.339" v="51" actId="1036"/>
          <ac:spMkLst>
            <pc:docMk/>
            <pc:sldMk cId="0" sldId="261"/>
            <ac:spMk id="89" creationId="{F6125256-4E8E-0737-64C3-F1C420E46FC9}"/>
          </ac:spMkLst>
        </pc:spChg>
        <pc:spChg chg="add mod">
          <ac:chgData name="Shefali Mody" userId="16c5d7c3b6b586ec" providerId="LiveId" clId="{2C327A21-09B3-47D1-988C-C8B11BDD8957}" dt="2026-06-10T08:32:13.339" v="51" actId="1036"/>
          <ac:spMkLst>
            <pc:docMk/>
            <pc:sldMk cId="0" sldId="261"/>
            <ac:spMk id="90" creationId="{1D1E7189-2178-B22E-8B55-56102A077183}"/>
          </ac:spMkLst>
        </pc:spChg>
        <pc:spChg chg="add mod">
          <ac:chgData name="Shefali Mody" userId="16c5d7c3b6b586ec" providerId="LiveId" clId="{2C327A21-09B3-47D1-988C-C8B11BDD8957}" dt="2026-06-10T08:32:13.339" v="51" actId="1036"/>
          <ac:spMkLst>
            <pc:docMk/>
            <pc:sldMk cId="0" sldId="261"/>
            <ac:spMk id="91" creationId="{1D7C98E8-8471-A9CA-3870-7272D76DA147}"/>
          </ac:spMkLst>
        </pc:spChg>
        <pc:spChg chg="add mod">
          <ac:chgData name="Shefali Mody" userId="16c5d7c3b6b586ec" providerId="LiveId" clId="{2C327A21-09B3-47D1-988C-C8B11BDD8957}" dt="2026-06-10T08:32:13.339" v="51" actId="1036"/>
          <ac:spMkLst>
            <pc:docMk/>
            <pc:sldMk cId="0" sldId="261"/>
            <ac:spMk id="93" creationId="{957FA79D-97F8-1E6C-7598-469D0C9128FB}"/>
          </ac:spMkLst>
        </pc:spChg>
        <pc:spChg chg="add mod">
          <ac:chgData name="Shefali Mody" userId="16c5d7c3b6b586ec" providerId="LiveId" clId="{2C327A21-09B3-47D1-988C-C8B11BDD8957}" dt="2026-06-10T08:32:13.339" v="51" actId="1036"/>
          <ac:spMkLst>
            <pc:docMk/>
            <pc:sldMk cId="0" sldId="261"/>
            <ac:spMk id="94" creationId="{1ED5A557-D71D-C348-305F-1C11A0954F6B}"/>
          </ac:spMkLst>
        </pc:spChg>
        <pc:spChg chg="add mod">
          <ac:chgData name="Shefali Mody" userId="16c5d7c3b6b586ec" providerId="LiveId" clId="{2C327A21-09B3-47D1-988C-C8B11BDD8957}" dt="2026-06-10T08:32:13.339" v="51" actId="1036"/>
          <ac:spMkLst>
            <pc:docMk/>
            <pc:sldMk cId="0" sldId="261"/>
            <ac:spMk id="95" creationId="{89171420-C875-10D7-6EB3-F609E07672AE}"/>
          </ac:spMkLst>
        </pc:spChg>
        <pc:spChg chg="add mod">
          <ac:chgData name="Shefali Mody" userId="16c5d7c3b6b586ec" providerId="LiveId" clId="{2C327A21-09B3-47D1-988C-C8B11BDD8957}" dt="2026-06-10T08:32:13.339" v="51" actId="1036"/>
          <ac:spMkLst>
            <pc:docMk/>
            <pc:sldMk cId="0" sldId="261"/>
            <ac:spMk id="96" creationId="{33D2F33E-CAB4-2C42-8E98-6DB89716213D}"/>
          </ac:spMkLst>
        </pc:spChg>
        <pc:spChg chg="add mod">
          <ac:chgData name="Shefali Mody" userId="16c5d7c3b6b586ec" providerId="LiveId" clId="{2C327A21-09B3-47D1-988C-C8B11BDD8957}" dt="2026-06-10T08:32:13.339" v="51" actId="1036"/>
          <ac:spMkLst>
            <pc:docMk/>
            <pc:sldMk cId="0" sldId="261"/>
            <ac:spMk id="97" creationId="{3F1BEF79-17B3-D81A-78AA-FB836A4F631C}"/>
          </ac:spMkLst>
        </pc:spChg>
        <pc:spChg chg="add mod">
          <ac:chgData name="Shefali Mody" userId="16c5d7c3b6b586ec" providerId="LiveId" clId="{2C327A21-09B3-47D1-988C-C8B11BDD8957}" dt="2026-06-10T08:32:13.339" v="51" actId="1036"/>
          <ac:spMkLst>
            <pc:docMk/>
            <pc:sldMk cId="0" sldId="261"/>
            <ac:spMk id="98" creationId="{3BB2ABC2-AD53-EA8D-B48D-5E9FB9302C7E}"/>
          </ac:spMkLst>
        </pc:spChg>
        <pc:spChg chg="add mod">
          <ac:chgData name="Shefali Mody" userId="16c5d7c3b6b586ec" providerId="LiveId" clId="{2C327A21-09B3-47D1-988C-C8B11BDD8957}" dt="2026-06-10T08:38:20.244" v="77" actId="207"/>
          <ac:spMkLst>
            <pc:docMk/>
            <pc:sldMk cId="0" sldId="261"/>
            <ac:spMk id="100" creationId="{8507E902-D23E-47DF-412E-F71514714DB7}"/>
          </ac:spMkLst>
        </pc:spChg>
        <pc:spChg chg="add del mod">
          <ac:chgData name="Shefali Mody" userId="16c5d7c3b6b586ec" providerId="LiveId" clId="{2C327A21-09B3-47D1-988C-C8B11BDD8957}" dt="2026-06-10T08:40:15.118" v="101" actId="478"/>
          <ac:spMkLst>
            <pc:docMk/>
            <pc:sldMk cId="0" sldId="261"/>
            <ac:spMk id="101" creationId="{50875AF5-5DBF-D897-7959-872EAFB9CC4B}"/>
          </ac:spMkLst>
        </pc:spChg>
        <pc:spChg chg="add mod">
          <ac:chgData name="Shefali Mody" userId="16c5d7c3b6b586ec" providerId="LiveId" clId="{2C327A21-09B3-47D1-988C-C8B11BDD8957}" dt="2026-06-10T08:40:50.465" v="110" actId="207"/>
          <ac:spMkLst>
            <pc:docMk/>
            <pc:sldMk cId="0" sldId="261"/>
            <ac:spMk id="102" creationId="{4CA7C10A-212F-7B72-FFB8-1EE41D2E6FD4}"/>
          </ac:spMkLst>
        </pc:spChg>
        <pc:spChg chg="add mod">
          <ac:chgData name="Shefali Mody" userId="16c5d7c3b6b586ec" providerId="LiveId" clId="{2C327A21-09B3-47D1-988C-C8B11BDD8957}" dt="2026-06-10T08:40:57.349" v="111" actId="20577"/>
          <ac:spMkLst>
            <pc:docMk/>
            <pc:sldMk cId="0" sldId="261"/>
            <ac:spMk id="103" creationId="{2A3B3578-6D29-265E-1907-AF1E85CFCFA9}"/>
          </ac:spMkLst>
        </pc:spChg>
        <pc:spChg chg="add mod">
          <ac:chgData name="Shefali Mody" userId="16c5d7c3b6b586ec" providerId="LiveId" clId="{2C327A21-09B3-47D1-988C-C8B11BDD8957}" dt="2026-06-10T08:41:44.553" v="156" actId="313"/>
          <ac:spMkLst>
            <pc:docMk/>
            <pc:sldMk cId="0" sldId="261"/>
            <ac:spMk id="104" creationId="{08EF9407-CAC0-9574-D80C-6C5CDA075B9F}"/>
          </ac:spMkLst>
        </pc:spChg>
        <pc:spChg chg="add mod">
          <ac:chgData name="Shefali Mody" userId="16c5d7c3b6b586ec" providerId="LiveId" clId="{2C327A21-09B3-47D1-988C-C8B11BDD8957}" dt="2026-06-10T08:43:18.390" v="184" actId="404"/>
          <ac:spMkLst>
            <pc:docMk/>
            <pc:sldMk cId="0" sldId="261"/>
            <ac:spMk id="105" creationId="{325725C0-F80C-5EAD-81D4-3AB9419139C7}"/>
          </ac:spMkLst>
        </pc:spChg>
      </pc:sldChg>
      <pc:sldChg chg="modSp mod ord">
        <pc:chgData name="Shefali Mody" userId="16c5d7c3b6b586ec" providerId="LiveId" clId="{2C327A21-09B3-47D1-988C-C8B11BDD8957}" dt="2026-06-10T08:34:06.498" v="57" actId="1076"/>
        <pc:sldMkLst>
          <pc:docMk/>
          <pc:sldMk cId="0" sldId="262"/>
        </pc:sldMkLst>
        <pc:spChg chg="mod">
          <ac:chgData name="Shefali Mody" userId="16c5d7c3b6b586ec" providerId="LiveId" clId="{2C327A21-09B3-47D1-988C-C8B11BDD8957}" dt="2026-06-10T08:33:54.911" v="55" actId="1076"/>
          <ac:spMkLst>
            <pc:docMk/>
            <pc:sldMk cId="0" sldId="262"/>
            <ac:spMk id="13" creationId="{00000000-0000-0000-0000-000000000000}"/>
          </ac:spMkLst>
        </pc:spChg>
        <pc:spChg chg="mod">
          <ac:chgData name="Shefali Mody" userId="16c5d7c3b6b586ec" providerId="LiveId" clId="{2C327A21-09B3-47D1-988C-C8B11BDD8957}" dt="2026-06-10T08:34:00.840" v="56" actId="1076"/>
          <ac:spMkLst>
            <pc:docMk/>
            <pc:sldMk cId="0" sldId="262"/>
            <ac:spMk id="14" creationId="{00000000-0000-0000-0000-000000000000}"/>
          </ac:spMkLst>
        </pc:spChg>
        <pc:spChg chg="mod">
          <ac:chgData name="Shefali Mody" userId="16c5d7c3b6b586ec" providerId="LiveId" clId="{2C327A21-09B3-47D1-988C-C8B11BDD8957}" dt="2026-06-10T08:33:29.563" v="52" actId="1076"/>
          <ac:spMkLst>
            <pc:docMk/>
            <pc:sldMk cId="0" sldId="262"/>
            <ac:spMk id="15" creationId="{00000000-0000-0000-0000-000000000000}"/>
          </ac:spMkLst>
        </pc:spChg>
        <pc:spChg chg="mod">
          <ac:chgData name="Shefali Mody" userId="16c5d7c3b6b586ec" providerId="LiveId" clId="{2C327A21-09B3-47D1-988C-C8B11BDD8957}" dt="2026-06-10T08:34:06.498" v="57" actId="1076"/>
          <ac:spMkLst>
            <pc:docMk/>
            <pc:sldMk cId="0" sldId="262"/>
            <ac:spMk id="17" creationId="{00000000-0000-0000-0000-000000000000}"/>
          </ac:spMkLst>
        </pc:spChg>
      </pc:sldChg>
      <pc:sldChg chg="delSp modSp mod ord">
        <pc:chgData name="Shefali Mody" userId="16c5d7c3b6b586ec" providerId="LiveId" clId="{2C327A21-09B3-47D1-988C-C8B11BDD8957}" dt="2026-06-10T08:30:15.079" v="26" actId="478"/>
        <pc:sldMkLst>
          <pc:docMk/>
          <pc:sldMk cId="0" sldId="263"/>
        </pc:sldMkLst>
        <pc:spChg chg="del">
          <ac:chgData name="Shefali Mody" userId="16c5d7c3b6b586ec" providerId="LiveId" clId="{2C327A21-09B3-47D1-988C-C8B11BDD8957}" dt="2026-06-10T08:30:06.823" v="25" actId="478"/>
          <ac:spMkLst>
            <pc:docMk/>
            <pc:sldMk cId="0" sldId="263"/>
            <ac:spMk id="95" creationId="{00000000-0000-0000-0000-000000000000}"/>
          </ac:spMkLst>
        </pc:spChg>
        <pc:spChg chg="mod">
          <ac:chgData name="Shefali Mody" userId="16c5d7c3b6b586ec" providerId="LiveId" clId="{2C327A21-09B3-47D1-988C-C8B11BDD8957}" dt="2026-06-10T08:29:58.152" v="24" actId="1076"/>
          <ac:spMkLst>
            <pc:docMk/>
            <pc:sldMk cId="0" sldId="263"/>
            <ac:spMk id="97" creationId="{00000000-0000-0000-0000-000000000000}"/>
          </ac:spMkLst>
        </pc:spChg>
        <pc:spChg chg="del">
          <ac:chgData name="Shefali Mody" userId="16c5d7c3b6b586ec" providerId="LiveId" clId="{2C327A21-09B3-47D1-988C-C8B11BDD8957}" dt="2026-06-10T08:30:15.079" v="26" actId="478"/>
          <ac:spMkLst>
            <pc:docMk/>
            <pc:sldMk cId="0" sldId="263"/>
            <ac:spMk id="99" creationId="{00000000-0000-0000-0000-000000000000}"/>
          </ac:spMkLst>
        </pc:spChg>
        <pc:spChg chg="del">
          <ac:chgData name="Shefali Mody" userId="16c5d7c3b6b586ec" providerId="LiveId" clId="{2C327A21-09B3-47D1-988C-C8B11BDD8957}" dt="2026-06-10T08:30:15.079" v="26" actId="478"/>
          <ac:spMkLst>
            <pc:docMk/>
            <pc:sldMk cId="0" sldId="263"/>
            <ac:spMk id="100" creationId="{00000000-0000-0000-0000-000000000000}"/>
          </ac:spMkLst>
        </pc:spChg>
      </pc:sldChg>
      <pc:sldChg chg="ord">
        <pc:chgData name="Shefali Mody" userId="16c5d7c3b6b586ec" providerId="LiveId" clId="{2C327A21-09B3-47D1-988C-C8B11BDD8957}" dt="2026-06-10T08:15:57.051" v="21"/>
        <pc:sldMkLst>
          <pc:docMk/>
          <pc:sldMk cId="0" sldId="266"/>
        </pc:sldMkLst>
      </pc:sldChg>
      <pc:sldChg chg="ord">
        <pc:chgData name="Shefali Mody" userId="16c5d7c3b6b586ec" providerId="LiveId" clId="{2C327A21-09B3-47D1-988C-C8B11BDD8957}" dt="2026-06-10T08:16:06.291" v="23"/>
        <pc:sldMkLst>
          <pc:docMk/>
          <pc:sldMk cId="0" sldId="267"/>
        </pc:sldMkLst>
      </pc:sldChg>
      <pc:sldChg chg="ord">
        <pc:chgData name="Shefali Mody" userId="16c5d7c3b6b586ec" providerId="LiveId" clId="{2C327A21-09B3-47D1-988C-C8B11BDD8957}" dt="2026-06-10T08:15:24.898" v="13"/>
        <pc:sldMkLst>
          <pc:docMk/>
          <pc:sldMk cId="0" sldId="268"/>
        </pc:sldMkLst>
      </pc:sldChg>
      <pc:sldChg chg="ord">
        <pc:chgData name="Shefali Mody" userId="16c5d7c3b6b586ec" providerId="LiveId" clId="{2C327A21-09B3-47D1-988C-C8B11BDD8957}" dt="2026-06-10T08:15:33.038" v="15"/>
        <pc:sldMkLst>
          <pc:docMk/>
          <pc:sldMk cId="0" sldId="269"/>
        </pc:sldMkLst>
      </pc:sldChg>
      <pc:sldChg chg="modSp mod ord">
        <pc:chgData name="Shefali Mody" userId="16c5d7c3b6b586ec" providerId="LiveId" clId="{2C327A21-09B3-47D1-988C-C8B11BDD8957}" dt="2026-06-10T08:36:24.248" v="67" actId="14100"/>
        <pc:sldMkLst>
          <pc:docMk/>
          <pc:sldMk cId="0" sldId="270"/>
        </pc:sldMkLst>
        <pc:spChg chg="mod">
          <ac:chgData name="Shefali Mody" userId="16c5d7c3b6b586ec" providerId="LiveId" clId="{2C327A21-09B3-47D1-988C-C8B11BDD8957}" dt="2026-06-10T08:36:24.248" v="67" actId="14100"/>
          <ac:spMkLst>
            <pc:docMk/>
            <pc:sldMk cId="0" sldId="270"/>
            <ac:spMk id="6" creationId="{00000000-0000-0000-0000-000000000000}"/>
          </ac:spMkLst>
        </pc:spChg>
      </pc:sldChg>
      <pc:sldChg chg="addSp modSp mod ord">
        <pc:chgData name="Shefali Mody" userId="16c5d7c3b6b586ec" providerId="LiveId" clId="{2C327A21-09B3-47D1-988C-C8B11BDD8957}" dt="2026-06-10T08:36:10.430" v="64" actId="14100"/>
        <pc:sldMkLst>
          <pc:docMk/>
          <pc:sldMk cId="0" sldId="271"/>
        </pc:sldMkLst>
        <pc:spChg chg="mod">
          <ac:chgData name="Shefali Mody" userId="16c5d7c3b6b586ec" providerId="LiveId" clId="{2C327A21-09B3-47D1-988C-C8B11BDD8957}" dt="2026-06-10T08:36:10.430" v="64" actId="14100"/>
          <ac:spMkLst>
            <pc:docMk/>
            <pc:sldMk cId="0" sldId="271"/>
            <ac:spMk id="6" creationId="{00000000-0000-0000-0000-000000000000}"/>
          </ac:spMkLst>
        </pc:spChg>
        <pc:spChg chg="mod">
          <ac:chgData name="Shefali Mody" userId="16c5d7c3b6b586ec" providerId="LiveId" clId="{2C327A21-09B3-47D1-988C-C8B11BDD8957}" dt="2026-06-10T08:35:08.941" v="58" actId="164"/>
          <ac:spMkLst>
            <pc:docMk/>
            <pc:sldMk cId="0" sldId="271"/>
            <ac:spMk id="8" creationId="{00000000-0000-0000-0000-000000000000}"/>
          </ac:spMkLst>
        </pc:spChg>
        <pc:spChg chg="mod">
          <ac:chgData name="Shefali Mody" userId="16c5d7c3b6b586ec" providerId="LiveId" clId="{2C327A21-09B3-47D1-988C-C8B11BDD8957}" dt="2026-06-10T08:35:08.941" v="58" actId="164"/>
          <ac:spMkLst>
            <pc:docMk/>
            <pc:sldMk cId="0" sldId="271"/>
            <ac:spMk id="14" creationId="{00000000-0000-0000-0000-000000000000}"/>
          </ac:spMkLst>
        </pc:spChg>
        <pc:spChg chg="mod">
          <ac:chgData name="Shefali Mody" userId="16c5d7c3b6b586ec" providerId="LiveId" clId="{2C327A21-09B3-47D1-988C-C8B11BDD8957}" dt="2026-06-10T08:35:08.941" v="58" actId="164"/>
          <ac:spMkLst>
            <pc:docMk/>
            <pc:sldMk cId="0" sldId="271"/>
            <ac:spMk id="20" creationId="{00000000-0000-0000-0000-000000000000}"/>
          </ac:spMkLst>
        </pc:spChg>
        <pc:spChg chg="mod">
          <ac:chgData name="Shefali Mody" userId="16c5d7c3b6b586ec" providerId="LiveId" clId="{2C327A21-09B3-47D1-988C-C8B11BDD8957}" dt="2026-06-10T08:35:08.941" v="58" actId="164"/>
          <ac:spMkLst>
            <pc:docMk/>
            <pc:sldMk cId="0" sldId="271"/>
            <ac:spMk id="25" creationId="{00000000-0000-0000-0000-000000000000}"/>
          </ac:spMkLst>
        </pc:spChg>
        <pc:spChg chg="mod">
          <ac:chgData name="Shefali Mody" userId="16c5d7c3b6b586ec" providerId="LiveId" clId="{2C327A21-09B3-47D1-988C-C8B11BDD8957}" dt="2026-06-10T08:35:08.941" v="58" actId="164"/>
          <ac:spMkLst>
            <pc:docMk/>
            <pc:sldMk cId="0" sldId="271"/>
            <ac:spMk id="26" creationId="{00000000-0000-0000-0000-000000000000}"/>
          </ac:spMkLst>
        </pc:spChg>
        <pc:spChg chg="mod">
          <ac:chgData name="Shefali Mody" userId="16c5d7c3b6b586ec" providerId="LiveId" clId="{2C327A21-09B3-47D1-988C-C8B11BDD8957}" dt="2026-06-10T08:35:08.941" v="58" actId="164"/>
          <ac:spMkLst>
            <pc:docMk/>
            <pc:sldMk cId="0" sldId="271"/>
            <ac:spMk id="31" creationId="{00000000-0000-0000-0000-000000000000}"/>
          </ac:spMkLst>
        </pc:spChg>
        <pc:spChg chg="mod">
          <ac:chgData name="Shefali Mody" userId="16c5d7c3b6b586ec" providerId="LiveId" clId="{2C327A21-09B3-47D1-988C-C8B11BDD8957}" dt="2026-06-10T08:35:08.941" v="58" actId="164"/>
          <ac:spMkLst>
            <pc:docMk/>
            <pc:sldMk cId="0" sldId="271"/>
            <ac:spMk id="33" creationId="{00000000-0000-0000-0000-000000000000}"/>
          </ac:spMkLst>
        </pc:spChg>
        <pc:spChg chg="mod">
          <ac:chgData name="Shefali Mody" userId="16c5d7c3b6b586ec" providerId="LiveId" clId="{2C327A21-09B3-47D1-988C-C8B11BDD8957}" dt="2026-06-10T08:35:08.941" v="58" actId="164"/>
          <ac:spMkLst>
            <pc:docMk/>
            <pc:sldMk cId="0" sldId="271"/>
            <ac:spMk id="36" creationId="{00000000-0000-0000-0000-000000000000}"/>
          </ac:spMkLst>
        </pc:spChg>
        <pc:spChg chg="mod">
          <ac:chgData name="Shefali Mody" userId="16c5d7c3b6b586ec" providerId="LiveId" clId="{2C327A21-09B3-47D1-988C-C8B11BDD8957}" dt="2026-06-10T08:35:08.941" v="58" actId="164"/>
          <ac:spMkLst>
            <pc:docMk/>
            <pc:sldMk cId="0" sldId="271"/>
            <ac:spMk id="45" creationId="{00000000-0000-0000-0000-000000000000}"/>
          </ac:spMkLst>
        </pc:spChg>
        <pc:spChg chg="mod">
          <ac:chgData name="Shefali Mody" userId="16c5d7c3b6b586ec" providerId="LiveId" clId="{2C327A21-09B3-47D1-988C-C8B11BDD8957}" dt="2026-06-10T08:35:08.941" v="58" actId="164"/>
          <ac:spMkLst>
            <pc:docMk/>
            <pc:sldMk cId="0" sldId="271"/>
            <ac:spMk id="51" creationId="{00000000-0000-0000-0000-000000000000}"/>
          </ac:spMkLst>
        </pc:spChg>
        <pc:spChg chg="mod">
          <ac:chgData name="Shefali Mody" userId="16c5d7c3b6b586ec" providerId="LiveId" clId="{2C327A21-09B3-47D1-988C-C8B11BDD8957}" dt="2026-06-10T08:35:52.509" v="63" actId="14100"/>
          <ac:spMkLst>
            <pc:docMk/>
            <pc:sldMk cId="0" sldId="271"/>
            <ac:spMk id="53" creationId="{00000000-0000-0000-0000-000000000000}"/>
          </ac:spMkLst>
        </pc:spChg>
        <pc:spChg chg="mod">
          <ac:chgData name="Shefali Mody" userId="16c5d7c3b6b586ec" providerId="LiveId" clId="{2C327A21-09B3-47D1-988C-C8B11BDD8957}" dt="2026-06-10T08:35:33.663" v="62" actId="1076"/>
          <ac:spMkLst>
            <pc:docMk/>
            <pc:sldMk cId="0" sldId="271"/>
            <ac:spMk id="54" creationId="{00000000-0000-0000-0000-000000000000}"/>
          </ac:spMkLst>
        </pc:spChg>
        <pc:grpChg chg="mod">
          <ac:chgData name="Shefali Mody" userId="16c5d7c3b6b586ec" providerId="LiveId" clId="{2C327A21-09B3-47D1-988C-C8B11BDD8957}" dt="2026-06-10T08:35:17.207" v="60" actId="1076"/>
          <ac:grpSpMkLst>
            <pc:docMk/>
            <pc:sldMk cId="0" sldId="271"/>
            <ac:grpSpMk id="55" creationId="{11B71897-2F01-4658-67E1-95D3AFA28241}"/>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3461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457200" y="228600"/>
            <a:ext cx="8229600" cy="457200"/>
          </a:xfrm>
          <a:prstGeom prst="rect">
            <a:avLst/>
          </a:prstGeom>
          <a:noFill/>
          <a:ln/>
        </p:spPr>
        <p:txBody>
          <a:bodyPr wrap="square" lIns="0" tIns="0" rIns="0" bIns="0" rtlCol="0" anchor="ctr"/>
          <a:lstStyle/>
          <a:p>
            <a:pPr marL="0" indent="0">
              <a:buNone/>
            </a:pPr>
            <a:r>
              <a:rPr lang="en-US" sz="1200" b="1" kern="0" spc="500" dirty="0">
                <a:solidFill>
                  <a:srgbClr val="FFFFFF"/>
                </a:solidFill>
                <a:latin typeface="Calibri" pitchFamily="34" charset="0"/>
                <a:ea typeface="Calibri" pitchFamily="34" charset="-122"/>
                <a:cs typeface="Calibri" pitchFamily="34" charset="-120"/>
              </a:rPr>
              <a:t>ZERO TO HERO  ·  IDEA TO APP</a:t>
            </a:r>
            <a:endParaRPr lang="en-US" sz="1200" dirty="0"/>
          </a:p>
        </p:txBody>
      </p:sp>
      <p:sp>
        <p:nvSpPr>
          <p:cNvPr id="4" name="Text 2"/>
          <p:cNvSpPr/>
          <p:nvPr/>
        </p:nvSpPr>
        <p:spPr>
          <a:xfrm>
            <a:off x="457200" y="1097280"/>
            <a:ext cx="8229600" cy="2011680"/>
          </a:xfrm>
          <a:prstGeom prst="rect">
            <a:avLst/>
          </a:prstGeom>
          <a:noFill/>
          <a:ln/>
        </p:spPr>
        <p:txBody>
          <a:bodyPr wrap="square" lIns="0" tIns="0" rIns="0" bIns="0" rtlCol="0" anchor="ctr"/>
          <a:lstStyle/>
          <a:p>
            <a:pPr marL="0" indent="0">
              <a:buNone/>
            </a:pPr>
            <a:r>
              <a:rPr lang="en-US" sz="5200" b="1" dirty="0">
                <a:solidFill>
                  <a:srgbClr val="1A2B4A"/>
                </a:solidFill>
                <a:latin typeface="Cambria" pitchFamily="34" charset="0"/>
                <a:ea typeface="Cambria" pitchFamily="34" charset="-122"/>
                <a:cs typeface="Cambria" pitchFamily="34" charset="-120"/>
              </a:rPr>
              <a:t>Team Roles &amp;</a:t>
            </a:r>
            <a:endParaRPr lang="en-US" sz="5200" dirty="0"/>
          </a:p>
          <a:p>
            <a:pPr marL="0" indent="0">
              <a:buNone/>
            </a:pPr>
            <a:r>
              <a:rPr lang="en-US" sz="5200" b="1" dirty="0">
                <a:solidFill>
                  <a:srgbClr val="1A2B4A"/>
                </a:solidFill>
                <a:latin typeface="Cambria" pitchFamily="34" charset="0"/>
                <a:ea typeface="Cambria" pitchFamily="34" charset="-122"/>
                <a:cs typeface="Cambria" pitchFamily="34" charset="-120"/>
              </a:rPr>
              <a:t>Workstreams</a:t>
            </a:r>
            <a:endParaRPr lang="en-US" sz="5200" dirty="0"/>
          </a:p>
        </p:txBody>
      </p:sp>
      <p:sp>
        <p:nvSpPr>
          <p:cNvPr id="5" name="Shape 3"/>
          <p:cNvSpPr/>
          <p:nvPr/>
        </p:nvSpPr>
        <p:spPr>
          <a:xfrm>
            <a:off x="457200" y="3154680"/>
            <a:ext cx="1097280" cy="64008"/>
          </a:xfrm>
          <a:prstGeom prst="rect">
            <a:avLst/>
          </a:prstGeom>
          <a:solidFill>
            <a:srgbClr val="1A6B3C"/>
          </a:solidFill>
          <a:ln w="12700">
            <a:solidFill>
              <a:srgbClr val="1A6B3C"/>
            </a:solidFill>
            <a:prstDash val="solid"/>
          </a:ln>
        </p:spPr>
        <p:txBody>
          <a:bodyPr/>
          <a:lstStyle/>
          <a:p>
            <a:endParaRPr lang="en-US"/>
          </a:p>
        </p:txBody>
      </p:sp>
      <p:sp>
        <p:nvSpPr>
          <p:cNvPr id="6" name="Text 4"/>
          <p:cNvSpPr/>
          <p:nvPr/>
        </p:nvSpPr>
        <p:spPr>
          <a:xfrm>
            <a:off x="457200" y="3383280"/>
            <a:ext cx="8229600" cy="36576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June 2025  |  Action Items · M1 To-Do · Process Flow · Welcome Email · Roles &amp; Responsibilities · Workstreams · Dependencies · Phase Cards · Cadence · GitHub Guide</a:t>
            </a:r>
            <a:endParaRPr lang="en-US" sz="1000" dirty="0"/>
          </a:p>
        </p:txBody>
      </p:sp>
      <p:sp>
        <p:nvSpPr>
          <p:cNvPr id="7" name="Text 5"/>
          <p:cNvSpPr/>
          <p:nvPr/>
        </p:nvSpPr>
        <p:spPr>
          <a:xfrm>
            <a:off x="457200" y="3931920"/>
            <a:ext cx="1097280" cy="256032"/>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COLOUR KEY:</a:t>
            </a:r>
            <a:endParaRPr lang="en-US" sz="900" dirty="0"/>
          </a:p>
        </p:txBody>
      </p:sp>
      <p:sp>
        <p:nvSpPr>
          <p:cNvPr id="8" name="Shape 6"/>
          <p:cNvSpPr/>
          <p:nvPr/>
        </p:nvSpPr>
        <p:spPr>
          <a:xfrm>
            <a:off x="1600200" y="3968496"/>
            <a:ext cx="201168" cy="201168"/>
          </a:xfrm>
          <a:prstGeom prst="roundRect">
            <a:avLst>
              <a:gd name="adj" fmla="val 18182"/>
            </a:avLst>
          </a:prstGeom>
          <a:solidFill>
            <a:srgbClr val="1A2B4A"/>
          </a:solidFill>
          <a:ln w="12700">
            <a:solidFill>
              <a:srgbClr val="1A2B4A"/>
            </a:solidFill>
            <a:prstDash val="solid"/>
          </a:ln>
        </p:spPr>
        <p:txBody>
          <a:bodyPr/>
          <a:lstStyle/>
          <a:p>
            <a:endParaRPr lang="en-US"/>
          </a:p>
        </p:txBody>
      </p:sp>
      <p:sp>
        <p:nvSpPr>
          <p:cNvPr id="9" name="Text 7"/>
          <p:cNvSpPr/>
          <p:nvPr/>
        </p:nvSpPr>
        <p:spPr>
          <a:xfrm>
            <a:off x="1856232" y="3968496"/>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Munish</a:t>
            </a:r>
            <a:endParaRPr lang="en-US" sz="1000" dirty="0"/>
          </a:p>
        </p:txBody>
      </p:sp>
      <p:sp>
        <p:nvSpPr>
          <p:cNvPr id="10" name="Shape 8"/>
          <p:cNvSpPr/>
          <p:nvPr/>
        </p:nvSpPr>
        <p:spPr>
          <a:xfrm>
            <a:off x="2834640" y="3968496"/>
            <a:ext cx="201168" cy="201168"/>
          </a:xfrm>
          <a:prstGeom prst="roundRect">
            <a:avLst>
              <a:gd name="adj" fmla="val 18182"/>
            </a:avLst>
          </a:prstGeom>
          <a:solidFill>
            <a:srgbClr val="6B21A8"/>
          </a:solidFill>
          <a:ln w="12700">
            <a:solidFill>
              <a:srgbClr val="6B21A8"/>
            </a:solidFill>
            <a:prstDash val="solid"/>
          </a:ln>
        </p:spPr>
        <p:txBody>
          <a:bodyPr/>
          <a:lstStyle/>
          <a:p>
            <a:endParaRPr lang="en-US"/>
          </a:p>
        </p:txBody>
      </p:sp>
      <p:sp>
        <p:nvSpPr>
          <p:cNvPr id="11" name="Text 9"/>
          <p:cNvSpPr/>
          <p:nvPr/>
        </p:nvSpPr>
        <p:spPr>
          <a:xfrm>
            <a:off x="3090672" y="3968496"/>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Shefali</a:t>
            </a:r>
            <a:endParaRPr lang="en-US" sz="1000" dirty="0"/>
          </a:p>
        </p:txBody>
      </p:sp>
      <p:sp>
        <p:nvSpPr>
          <p:cNvPr id="12" name="Shape 10"/>
          <p:cNvSpPr/>
          <p:nvPr/>
        </p:nvSpPr>
        <p:spPr>
          <a:xfrm>
            <a:off x="4069080" y="3968496"/>
            <a:ext cx="201168" cy="201168"/>
          </a:xfrm>
          <a:prstGeom prst="roundRect">
            <a:avLst>
              <a:gd name="adj" fmla="val 18182"/>
            </a:avLst>
          </a:prstGeom>
          <a:solidFill>
            <a:srgbClr val="0D7377"/>
          </a:solidFill>
          <a:ln w="12700">
            <a:solidFill>
              <a:srgbClr val="0D7377"/>
            </a:solidFill>
            <a:prstDash val="solid"/>
          </a:ln>
        </p:spPr>
        <p:txBody>
          <a:bodyPr/>
          <a:lstStyle/>
          <a:p>
            <a:endParaRPr lang="en-US"/>
          </a:p>
        </p:txBody>
      </p:sp>
      <p:sp>
        <p:nvSpPr>
          <p:cNvPr id="13" name="Text 11"/>
          <p:cNvSpPr/>
          <p:nvPr/>
        </p:nvSpPr>
        <p:spPr>
          <a:xfrm>
            <a:off x="4325112" y="3968496"/>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Hansh</a:t>
            </a:r>
            <a:endParaRPr lang="en-US" sz="1000" dirty="0"/>
          </a:p>
        </p:txBody>
      </p:sp>
      <p:sp>
        <p:nvSpPr>
          <p:cNvPr id="14" name="Shape 12"/>
          <p:cNvSpPr/>
          <p:nvPr/>
        </p:nvSpPr>
        <p:spPr>
          <a:xfrm>
            <a:off x="5303520" y="3968496"/>
            <a:ext cx="201168" cy="201168"/>
          </a:xfrm>
          <a:prstGeom prst="roundRect">
            <a:avLst>
              <a:gd name="adj" fmla="val 18182"/>
            </a:avLst>
          </a:prstGeom>
          <a:solidFill>
            <a:srgbClr val="C05621"/>
          </a:solidFill>
          <a:ln w="12700">
            <a:solidFill>
              <a:srgbClr val="C05621"/>
            </a:solidFill>
            <a:prstDash val="solid"/>
          </a:ln>
        </p:spPr>
        <p:txBody>
          <a:bodyPr/>
          <a:lstStyle/>
          <a:p>
            <a:endParaRPr lang="en-US"/>
          </a:p>
        </p:txBody>
      </p:sp>
      <p:sp>
        <p:nvSpPr>
          <p:cNvPr id="15" name="Text 13"/>
          <p:cNvSpPr/>
          <p:nvPr/>
        </p:nvSpPr>
        <p:spPr>
          <a:xfrm>
            <a:off x="5559552" y="3968496"/>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Eddie</a:t>
            </a:r>
            <a:endParaRPr lang="en-US" sz="1000" dirty="0"/>
          </a:p>
        </p:txBody>
      </p:sp>
      <p:sp>
        <p:nvSpPr>
          <p:cNvPr id="16" name="Shape 14"/>
          <p:cNvSpPr/>
          <p:nvPr/>
        </p:nvSpPr>
        <p:spPr>
          <a:xfrm>
            <a:off x="6537960" y="3968496"/>
            <a:ext cx="201168" cy="201168"/>
          </a:xfrm>
          <a:prstGeom prst="roundRect">
            <a:avLst>
              <a:gd name="adj" fmla="val 18182"/>
            </a:avLst>
          </a:prstGeom>
          <a:solidFill>
            <a:srgbClr val="1A6B3C"/>
          </a:solidFill>
          <a:ln w="12700">
            <a:solidFill>
              <a:srgbClr val="1A6B3C"/>
            </a:solidFill>
            <a:prstDash val="solid"/>
          </a:ln>
        </p:spPr>
        <p:txBody>
          <a:bodyPr/>
          <a:lstStyle/>
          <a:p>
            <a:endParaRPr lang="en-US"/>
          </a:p>
        </p:txBody>
      </p:sp>
      <p:sp>
        <p:nvSpPr>
          <p:cNvPr id="17" name="Text 15"/>
          <p:cNvSpPr/>
          <p:nvPr/>
        </p:nvSpPr>
        <p:spPr>
          <a:xfrm>
            <a:off x="6793992" y="3968496"/>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Yash</a:t>
            </a:r>
            <a:endParaRPr lang="en-US" sz="1000" dirty="0"/>
          </a:p>
        </p:txBody>
      </p:sp>
      <p:sp>
        <p:nvSpPr>
          <p:cNvPr id="18" name="Shape 16"/>
          <p:cNvSpPr/>
          <p:nvPr/>
        </p:nvSpPr>
        <p:spPr>
          <a:xfrm>
            <a:off x="7772400" y="3968496"/>
            <a:ext cx="201168" cy="201168"/>
          </a:xfrm>
          <a:prstGeom prst="roundRect">
            <a:avLst>
              <a:gd name="adj" fmla="val 18182"/>
            </a:avLst>
          </a:prstGeom>
          <a:solidFill>
            <a:srgbClr val="9CA3AF"/>
          </a:solidFill>
          <a:ln w="12700">
            <a:solidFill>
              <a:srgbClr val="9CA3AF"/>
            </a:solidFill>
            <a:prstDash val="solid"/>
          </a:ln>
        </p:spPr>
        <p:txBody>
          <a:bodyPr/>
          <a:lstStyle/>
          <a:p>
            <a:endParaRPr lang="en-US"/>
          </a:p>
        </p:txBody>
      </p:sp>
      <p:sp>
        <p:nvSpPr>
          <p:cNvPr id="19" name="Text 17"/>
          <p:cNvSpPr/>
          <p:nvPr/>
        </p:nvSpPr>
        <p:spPr>
          <a:xfrm>
            <a:off x="8028432" y="3968496"/>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TBD</a:t>
            </a:r>
            <a:endParaRPr lang="en-US" sz="1000" dirty="0"/>
          </a:p>
        </p:txBody>
      </p:sp>
      <p:sp>
        <p:nvSpPr>
          <p:cNvPr id="20" name="Text 18"/>
          <p:cNvSpPr/>
          <p:nvPr/>
        </p:nvSpPr>
        <p:spPr>
          <a:xfrm>
            <a:off x="457200" y="4343400"/>
            <a:ext cx="822960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Each colour identifies one person consistently across all slides in this deck.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ACTION ITEMS — JUNE 9 GROUP MEETING</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Action Items — June 9 Group Meeting</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Tasks agreed at the first full team meeting. Status reflects current state as of June 10.</a:t>
            </a:r>
            <a:endParaRPr lang="en-US" sz="1100" dirty="0"/>
          </a:p>
        </p:txBody>
      </p:sp>
      <p:sp>
        <p:nvSpPr>
          <p:cNvPr id="6" name="Shape 4"/>
          <p:cNvSpPr/>
          <p:nvPr/>
        </p:nvSpPr>
        <p:spPr>
          <a:xfrm>
            <a:off x="347472" y="1280160"/>
            <a:ext cx="8430768" cy="256032"/>
          </a:xfrm>
          <a:prstGeom prst="rect">
            <a:avLst/>
          </a:prstGeom>
          <a:solidFill>
            <a:srgbClr val="1A2B4A"/>
          </a:solidFill>
          <a:ln w="12700">
            <a:solidFill>
              <a:srgbClr val="1A2B4A"/>
            </a:solidFill>
            <a:prstDash val="solid"/>
          </a:ln>
        </p:spPr>
        <p:txBody>
          <a:bodyPr/>
          <a:lstStyle/>
          <a:p>
            <a:endParaRPr lang="en-US"/>
          </a:p>
        </p:txBody>
      </p:sp>
      <p:sp>
        <p:nvSpPr>
          <p:cNvPr id="7" name="Text 5"/>
          <p:cNvSpPr/>
          <p:nvPr/>
        </p:nvSpPr>
        <p:spPr>
          <a:xfrm>
            <a:off x="457200" y="1325880"/>
            <a:ext cx="105156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OWNER</a:t>
            </a:r>
            <a:endParaRPr lang="en-US" sz="800" dirty="0"/>
          </a:p>
        </p:txBody>
      </p:sp>
      <p:sp>
        <p:nvSpPr>
          <p:cNvPr id="8" name="Text 6"/>
          <p:cNvSpPr/>
          <p:nvPr/>
        </p:nvSpPr>
        <p:spPr>
          <a:xfrm>
            <a:off x="1572768" y="1325880"/>
            <a:ext cx="544068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ACTION ITEM</a:t>
            </a:r>
            <a:endParaRPr lang="en-US" sz="800" dirty="0"/>
          </a:p>
        </p:txBody>
      </p:sp>
      <p:sp>
        <p:nvSpPr>
          <p:cNvPr id="9" name="Text 7"/>
          <p:cNvSpPr/>
          <p:nvPr/>
        </p:nvSpPr>
        <p:spPr>
          <a:xfrm>
            <a:off x="7077456" y="1325880"/>
            <a:ext cx="68580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WHEN</a:t>
            </a:r>
            <a:endParaRPr lang="en-US" sz="800" dirty="0"/>
          </a:p>
        </p:txBody>
      </p:sp>
      <p:sp>
        <p:nvSpPr>
          <p:cNvPr id="10" name="Text 8"/>
          <p:cNvSpPr/>
          <p:nvPr/>
        </p:nvSpPr>
        <p:spPr>
          <a:xfrm>
            <a:off x="7818120" y="1325880"/>
            <a:ext cx="96012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STATUS</a:t>
            </a:r>
            <a:endParaRPr lang="en-US" sz="800" dirty="0"/>
          </a:p>
        </p:txBody>
      </p:sp>
      <p:sp>
        <p:nvSpPr>
          <p:cNvPr id="11" name="Shape 9"/>
          <p:cNvSpPr/>
          <p:nvPr/>
        </p:nvSpPr>
        <p:spPr>
          <a:xfrm>
            <a:off x="347472" y="1554480"/>
            <a:ext cx="8430768" cy="347472"/>
          </a:xfrm>
          <a:prstGeom prst="rect">
            <a:avLst/>
          </a:prstGeom>
          <a:solidFill>
            <a:srgbClr val="FFFFFF"/>
          </a:solidFill>
          <a:ln w="12700">
            <a:solidFill>
              <a:srgbClr val="D1D5DB"/>
            </a:solidFill>
            <a:prstDash val="solid"/>
          </a:ln>
        </p:spPr>
        <p:txBody>
          <a:bodyPr/>
          <a:lstStyle/>
          <a:p>
            <a:endParaRPr lang="en-US"/>
          </a:p>
        </p:txBody>
      </p:sp>
      <p:sp>
        <p:nvSpPr>
          <p:cNvPr id="12" name="Shape 10"/>
          <p:cNvSpPr/>
          <p:nvPr/>
        </p:nvSpPr>
        <p:spPr>
          <a:xfrm>
            <a:off x="347472" y="1554480"/>
            <a:ext cx="54864" cy="347472"/>
          </a:xfrm>
          <a:prstGeom prst="rect">
            <a:avLst/>
          </a:prstGeom>
          <a:solidFill>
            <a:srgbClr val="C05621"/>
          </a:solidFill>
          <a:ln w="12700">
            <a:solidFill>
              <a:srgbClr val="C05621"/>
            </a:solidFill>
            <a:prstDash val="solid"/>
          </a:ln>
        </p:spPr>
        <p:txBody>
          <a:bodyPr/>
          <a:lstStyle/>
          <a:p>
            <a:endParaRPr lang="en-US"/>
          </a:p>
        </p:txBody>
      </p:sp>
      <p:sp>
        <p:nvSpPr>
          <p:cNvPr id="13" name="Text 11"/>
          <p:cNvSpPr/>
          <p:nvPr/>
        </p:nvSpPr>
        <p:spPr>
          <a:xfrm>
            <a:off x="457200" y="1618488"/>
            <a:ext cx="1051560" cy="219456"/>
          </a:xfrm>
          <a:prstGeom prst="rect">
            <a:avLst/>
          </a:prstGeom>
          <a:noFill/>
          <a:ln/>
        </p:spPr>
        <p:txBody>
          <a:bodyPr wrap="square" lIns="0" tIns="0" rIns="0" bIns="0" rtlCol="0" anchor="ctr"/>
          <a:lstStyle/>
          <a:p>
            <a:pPr marL="0" indent="0">
              <a:buNone/>
            </a:pPr>
            <a:r>
              <a:rPr lang="en-US" sz="850" b="1" dirty="0">
                <a:solidFill>
                  <a:srgbClr val="C05621"/>
                </a:solidFill>
                <a:latin typeface="Calibri" pitchFamily="34" charset="0"/>
                <a:ea typeface="Calibri" pitchFamily="34" charset="-122"/>
                <a:cs typeface="Calibri" pitchFamily="34" charset="-120"/>
              </a:rPr>
              <a:t>Eddie</a:t>
            </a:r>
            <a:endParaRPr lang="en-US" sz="850" dirty="0"/>
          </a:p>
        </p:txBody>
      </p:sp>
      <p:sp>
        <p:nvSpPr>
          <p:cNvPr id="14" name="Text 12"/>
          <p:cNvSpPr/>
          <p:nvPr/>
        </p:nvSpPr>
        <p:spPr>
          <a:xfrm>
            <a:off x="1572768" y="1618488"/>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Confirm Om Maheshwari: interest and availability for editing and/or music role. Report back to Munish.</a:t>
            </a:r>
            <a:endParaRPr lang="en-US" sz="950" dirty="0"/>
          </a:p>
        </p:txBody>
      </p:sp>
      <p:sp>
        <p:nvSpPr>
          <p:cNvPr id="15" name="Shape 13"/>
          <p:cNvSpPr/>
          <p:nvPr/>
        </p:nvSpPr>
        <p:spPr>
          <a:xfrm>
            <a:off x="7077456" y="1627632"/>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16" name="Text 14"/>
          <p:cNvSpPr/>
          <p:nvPr/>
        </p:nvSpPr>
        <p:spPr>
          <a:xfrm>
            <a:off x="7077456" y="1645920"/>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 Wk1</a:t>
            </a:r>
            <a:endParaRPr lang="en-US" sz="750" dirty="0"/>
          </a:p>
        </p:txBody>
      </p:sp>
      <p:sp>
        <p:nvSpPr>
          <p:cNvPr id="17" name="Shape 15"/>
          <p:cNvSpPr/>
          <p:nvPr/>
        </p:nvSpPr>
        <p:spPr>
          <a:xfrm>
            <a:off x="7818120" y="1627632"/>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18" name="Text 16"/>
          <p:cNvSpPr/>
          <p:nvPr/>
        </p:nvSpPr>
        <p:spPr>
          <a:xfrm>
            <a:off x="7818120" y="1645920"/>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19" name="Shape 17"/>
          <p:cNvSpPr/>
          <p:nvPr/>
        </p:nvSpPr>
        <p:spPr>
          <a:xfrm>
            <a:off x="347472" y="1901952"/>
            <a:ext cx="8430768" cy="347472"/>
          </a:xfrm>
          <a:prstGeom prst="rect">
            <a:avLst/>
          </a:prstGeom>
          <a:solidFill>
            <a:srgbClr val="F3F4F6"/>
          </a:solidFill>
          <a:ln w="12700">
            <a:solidFill>
              <a:srgbClr val="D1D5DB"/>
            </a:solidFill>
            <a:prstDash val="solid"/>
          </a:ln>
        </p:spPr>
        <p:txBody>
          <a:bodyPr/>
          <a:lstStyle/>
          <a:p>
            <a:endParaRPr lang="en-US"/>
          </a:p>
        </p:txBody>
      </p:sp>
      <p:sp>
        <p:nvSpPr>
          <p:cNvPr id="20" name="Shape 18"/>
          <p:cNvSpPr/>
          <p:nvPr/>
        </p:nvSpPr>
        <p:spPr>
          <a:xfrm>
            <a:off x="347472" y="1901952"/>
            <a:ext cx="54864" cy="347472"/>
          </a:xfrm>
          <a:prstGeom prst="rect">
            <a:avLst/>
          </a:prstGeom>
          <a:solidFill>
            <a:srgbClr val="1A2B4A"/>
          </a:solidFill>
          <a:ln w="12700">
            <a:solidFill>
              <a:srgbClr val="1A2B4A"/>
            </a:solidFill>
            <a:prstDash val="solid"/>
          </a:ln>
        </p:spPr>
        <p:txBody>
          <a:bodyPr/>
          <a:lstStyle/>
          <a:p>
            <a:endParaRPr lang="en-US"/>
          </a:p>
        </p:txBody>
      </p:sp>
      <p:sp>
        <p:nvSpPr>
          <p:cNvPr id="21" name="Text 19"/>
          <p:cNvSpPr/>
          <p:nvPr/>
        </p:nvSpPr>
        <p:spPr>
          <a:xfrm>
            <a:off x="457200" y="1965960"/>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a:t>
            </a:r>
            <a:endParaRPr lang="en-US" sz="850" dirty="0"/>
          </a:p>
        </p:txBody>
      </p:sp>
      <p:sp>
        <p:nvSpPr>
          <p:cNvPr id="22" name="Text 20"/>
          <p:cNvSpPr/>
          <p:nvPr/>
        </p:nvSpPr>
        <p:spPr>
          <a:xfrm>
            <a:off x="1572768" y="1965960"/>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Add Yash's suggestion: highlight individual contributions and value received from cohort members in the documentary questionnaire.</a:t>
            </a:r>
            <a:endParaRPr lang="en-US" sz="950" dirty="0"/>
          </a:p>
        </p:txBody>
      </p:sp>
      <p:sp>
        <p:nvSpPr>
          <p:cNvPr id="23" name="Shape 21"/>
          <p:cNvSpPr/>
          <p:nvPr/>
        </p:nvSpPr>
        <p:spPr>
          <a:xfrm>
            <a:off x="7077456" y="1975104"/>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24" name="Text 22"/>
          <p:cNvSpPr/>
          <p:nvPr/>
        </p:nvSpPr>
        <p:spPr>
          <a:xfrm>
            <a:off x="7077456" y="1993392"/>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25" name="Shape 23"/>
          <p:cNvSpPr/>
          <p:nvPr/>
        </p:nvSpPr>
        <p:spPr>
          <a:xfrm>
            <a:off x="7818120" y="1975104"/>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26" name="Text 24"/>
          <p:cNvSpPr/>
          <p:nvPr/>
        </p:nvSpPr>
        <p:spPr>
          <a:xfrm>
            <a:off x="7818120" y="1993392"/>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27" name="Shape 25"/>
          <p:cNvSpPr/>
          <p:nvPr/>
        </p:nvSpPr>
        <p:spPr>
          <a:xfrm>
            <a:off x="347472" y="2249424"/>
            <a:ext cx="8430768" cy="347472"/>
          </a:xfrm>
          <a:prstGeom prst="rect">
            <a:avLst/>
          </a:prstGeom>
          <a:solidFill>
            <a:srgbClr val="FFFFFF"/>
          </a:solidFill>
          <a:ln w="12700">
            <a:solidFill>
              <a:srgbClr val="D1D5DB"/>
            </a:solidFill>
            <a:prstDash val="solid"/>
          </a:ln>
        </p:spPr>
        <p:txBody>
          <a:bodyPr/>
          <a:lstStyle/>
          <a:p>
            <a:endParaRPr lang="en-US"/>
          </a:p>
        </p:txBody>
      </p:sp>
      <p:sp>
        <p:nvSpPr>
          <p:cNvPr id="28" name="Shape 26"/>
          <p:cNvSpPr/>
          <p:nvPr/>
        </p:nvSpPr>
        <p:spPr>
          <a:xfrm>
            <a:off x="347472" y="2249424"/>
            <a:ext cx="54864" cy="347472"/>
          </a:xfrm>
          <a:prstGeom prst="rect">
            <a:avLst/>
          </a:prstGeom>
          <a:solidFill>
            <a:srgbClr val="1A2B4A"/>
          </a:solidFill>
          <a:ln w="12700">
            <a:solidFill>
              <a:srgbClr val="1A2B4A"/>
            </a:solidFill>
            <a:prstDash val="solid"/>
          </a:ln>
        </p:spPr>
        <p:txBody>
          <a:bodyPr/>
          <a:lstStyle/>
          <a:p>
            <a:endParaRPr lang="en-US"/>
          </a:p>
        </p:txBody>
      </p:sp>
      <p:sp>
        <p:nvSpPr>
          <p:cNvPr id="29" name="Text 27"/>
          <p:cNvSpPr/>
          <p:nvPr/>
        </p:nvSpPr>
        <p:spPr>
          <a:xfrm>
            <a:off x="457200" y="2313432"/>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a:t>
            </a:r>
            <a:endParaRPr lang="en-US" sz="850" dirty="0"/>
          </a:p>
        </p:txBody>
      </p:sp>
      <p:sp>
        <p:nvSpPr>
          <p:cNvPr id="30" name="Text 28"/>
          <p:cNvSpPr/>
          <p:nvPr/>
        </p:nvSpPr>
        <p:spPr>
          <a:xfrm>
            <a:off x="1572768" y="2313432"/>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Reach out to Sagar Batra (content/event marketing) and Om Maheshwari (music) as roles are confirmed and when ready.</a:t>
            </a:r>
            <a:endParaRPr lang="en-US" sz="950" dirty="0"/>
          </a:p>
        </p:txBody>
      </p:sp>
      <p:sp>
        <p:nvSpPr>
          <p:cNvPr id="31" name="Shape 29"/>
          <p:cNvSpPr/>
          <p:nvPr/>
        </p:nvSpPr>
        <p:spPr>
          <a:xfrm>
            <a:off x="7077456" y="2322576"/>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32" name="Text 30"/>
          <p:cNvSpPr/>
          <p:nvPr/>
        </p:nvSpPr>
        <p:spPr>
          <a:xfrm>
            <a:off x="7077456" y="2340864"/>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33" name="Shape 31"/>
          <p:cNvSpPr/>
          <p:nvPr/>
        </p:nvSpPr>
        <p:spPr>
          <a:xfrm>
            <a:off x="7818120" y="2322576"/>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34" name="Text 32"/>
          <p:cNvSpPr/>
          <p:nvPr/>
        </p:nvSpPr>
        <p:spPr>
          <a:xfrm>
            <a:off x="7818120" y="2340864"/>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35" name="Shape 33"/>
          <p:cNvSpPr/>
          <p:nvPr/>
        </p:nvSpPr>
        <p:spPr>
          <a:xfrm>
            <a:off x="347472" y="2596896"/>
            <a:ext cx="8430768" cy="347472"/>
          </a:xfrm>
          <a:prstGeom prst="rect">
            <a:avLst/>
          </a:prstGeom>
          <a:solidFill>
            <a:srgbClr val="F3F4F6"/>
          </a:solidFill>
          <a:ln w="12700">
            <a:solidFill>
              <a:srgbClr val="D1D5DB"/>
            </a:solidFill>
            <a:prstDash val="solid"/>
          </a:ln>
        </p:spPr>
        <p:txBody>
          <a:bodyPr/>
          <a:lstStyle/>
          <a:p>
            <a:endParaRPr lang="en-US"/>
          </a:p>
        </p:txBody>
      </p:sp>
      <p:sp>
        <p:nvSpPr>
          <p:cNvPr id="36" name="Shape 34"/>
          <p:cNvSpPr/>
          <p:nvPr/>
        </p:nvSpPr>
        <p:spPr>
          <a:xfrm>
            <a:off x="347472" y="2596896"/>
            <a:ext cx="54864" cy="347472"/>
          </a:xfrm>
          <a:prstGeom prst="rect">
            <a:avLst/>
          </a:prstGeom>
          <a:solidFill>
            <a:srgbClr val="6B21A8"/>
          </a:solidFill>
          <a:ln w="12700">
            <a:solidFill>
              <a:srgbClr val="6B21A8"/>
            </a:solidFill>
            <a:prstDash val="solid"/>
          </a:ln>
        </p:spPr>
        <p:txBody>
          <a:bodyPr/>
          <a:lstStyle/>
          <a:p>
            <a:endParaRPr lang="en-US"/>
          </a:p>
        </p:txBody>
      </p:sp>
      <p:sp>
        <p:nvSpPr>
          <p:cNvPr id="37" name="Text 35"/>
          <p:cNvSpPr/>
          <p:nvPr/>
        </p:nvSpPr>
        <p:spPr>
          <a:xfrm>
            <a:off x="457200" y="2660904"/>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38" name="Text 36"/>
          <p:cNvSpPr/>
          <p:nvPr/>
        </p:nvSpPr>
        <p:spPr>
          <a:xfrm>
            <a:off x="1572768" y="2660904"/>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Mentor/transfer Project Manager (PM) responsibilities to a detail-oriented team member. Shefali is temp PM.</a:t>
            </a:r>
            <a:endParaRPr lang="en-US" sz="950" dirty="0"/>
          </a:p>
        </p:txBody>
      </p:sp>
      <p:sp>
        <p:nvSpPr>
          <p:cNvPr id="39" name="Shape 37"/>
          <p:cNvSpPr/>
          <p:nvPr/>
        </p:nvSpPr>
        <p:spPr>
          <a:xfrm>
            <a:off x="7077456" y="2670048"/>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40" name="Text 38"/>
          <p:cNvSpPr/>
          <p:nvPr/>
        </p:nvSpPr>
        <p:spPr>
          <a:xfrm>
            <a:off x="7077456" y="2688336"/>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M2</a:t>
            </a:r>
            <a:endParaRPr lang="en-US" sz="750" dirty="0"/>
          </a:p>
        </p:txBody>
      </p:sp>
      <p:sp>
        <p:nvSpPr>
          <p:cNvPr id="41" name="Shape 39"/>
          <p:cNvSpPr/>
          <p:nvPr/>
        </p:nvSpPr>
        <p:spPr>
          <a:xfrm>
            <a:off x="7818120" y="2670048"/>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42" name="Text 40"/>
          <p:cNvSpPr/>
          <p:nvPr/>
        </p:nvSpPr>
        <p:spPr>
          <a:xfrm>
            <a:off x="7818120" y="2688336"/>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43" name="Shape 41"/>
          <p:cNvSpPr/>
          <p:nvPr/>
        </p:nvSpPr>
        <p:spPr>
          <a:xfrm>
            <a:off x="347472" y="2944368"/>
            <a:ext cx="8430768" cy="347472"/>
          </a:xfrm>
          <a:prstGeom prst="rect">
            <a:avLst/>
          </a:prstGeom>
          <a:solidFill>
            <a:srgbClr val="FFFFFF"/>
          </a:solidFill>
          <a:ln w="12700">
            <a:solidFill>
              <a:srgbClr val="D1D5DB"/>
            </a:solidFill>
            <a:prstDash val="solid"/>
          </a:ln>
        </p:spPr>
        <p:txBody>
          <a:bodyPr/>
          <a:lstStyle/>
          <a:p>
            <a:endParaRPr lang="en-US"/>
          </a:p>
        </p:txBody>
      </p:sp>
      <p:sp>
        <p:nvSpPr>
          <p:cNvPr id="44" name="Shape 42"/>
          <p:cNvSpPr/>
          <p:nvPr/>
        </p:nvSpPr>
        <p:spPr>
          <a:xfrm>
            <a:off x="347472" y="2944368"/>
            <a:ext cx="54864" cy="347472"/>
          </a:xfrm>
          <a:prstGeom prst="rect">
            <a:avLst/>
          </a:prstGeom>
          <a:solidFill>
            <a:srgbClr val="6B21A8"/>
          </a:solidFill>
          <a:ln w="12700">
            <a:solidFill>
              <a:srgbClr val="6B21A8"/>
            </a:solidFill>
            <a:prstDash val="solid"/>
          </a:ln>
        </p:spPr>
        <p:txBody>
          <a:bodyPr/>
          <a:lstStyle/>
          <a:p>
            <a:endParaRPr lang="en-US"/>
          </a:p>
        </p:txBody>
      </p:sp>
      <p:sp>
        <p:nvSpPr>
          <p:cNvPr id="45" name="Text 43"/>
          <p:cNvSpPr/>
          <p:nvPr/>
        </p:nvSpPr>
        <p:spPr>
          <a:xfrm>
            <a:off x="457200" y="3008376"/>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46" name="Text 44"/>
          <p:cNvSpPr/>
          <p:nvPr/>
        </p:nvSpPr>
        <p:spPr>
          <a:xfrm>
            <a:off x="1572768" y="3008376"/>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Simplify the playbook into a deck so it is easily digestible for the whole team.</a:t>
            </a:r>
            <a:endParaRPr lang="en-US" sz="950" dirty="0"/>
          </a:p>
        </p:txBody>
      </p:sp>
      <p:sp>
        <p:nvSpPr>
          <p:cNvPr id="47" name="Shape 45"/>
          <p:cNvSpPr/>
          <p:nvPr/>
        </p:nvSpPr>
        <p:spPr>
          <a:xfrm>
            <a:off x="7077456" y="3017520"/>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48" name="Text 46"/>
          <p:cNvSpPr/>
          <p:nvPr/>
        </p:nvSpPr>
        <p:spPr>
          <a:xfrm>
            <a:off x="7077456" y="3035808"/>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49" name="Shape 47"/>
          <p:cNvSpPr/>
          <p:nvPr/>
        </p:nvSpPr>
        <p:spPr>
          <a:xfrm>
            <a:off x="7818120" y="3017520"/>
            <a:ext cx="914400" cy="201168"/>
          </a:xfrm>
          <a:prstGeom prst="roundRect">
            <a:avLst>
              <a:gd name="adj" fmla="val 18182"/>
            </a:avLst>
          </a:prstGeom>
          <a:solidFill>
            <a:srgbClr val="E6F4ED"/>
          </a:solidFill>
          <a:ln w="12700">
            <a:solidFill>
              <a:srgbClr val="1A6B3C"/>
            </a:solidFill>
            <a:prstDash val="solid"/>
          </a:ln>
        </p:spPr>
        <p:txBody>
          <a:bodyPr/>
          <a:lstStyle/>
          <a:p>
            <a:endParaRPr lang="en-US"/>
          </a:p>
        </p:txBody>
      </p:sp>
      <p:sp>
        <p:nvSpPr>
          <p:cNvPr id="50" name="Text 48"/>
          <p:cNvSpPr/>
          <p:nvPr/>
        </p:nvSpPr>
        <p:spPr>
          <a:xfrm>
            <a:off x="7818120" y="3035808"/>
            <a:ext cx="914400" cy="164592"/>
          </a:xfrm>
          <a:prstGeom prst="rect">
            <a:avLst/>
          </a:prstGeom>
          <a:noFill/>
          <a:ln/>
        </p:spPr>
        <p:txBody>
          <a:bodyPr wrap="square" lIns="0" tIns="0" rIns="0" bIns="0" rtlCol="0" anchor="ctr"/>
          <a:lstStyle/>
          <a:p>
            <a:pPr marL="0" indent="0" algn="ctr">
              <a:buNone/>
            </a:pPr>
            <a:r>
              <a:rPr lang="en-US" sz="750" b="1" dirty="0">
                <a:solidFill>
                  <a:srgbClr val="1A6B3C"/>
                </a:solidFill>
                <a:latin typeface="Calibri" pitchFamily="34" charset="0"/>
                <a:ea typeface="Calibri" pitchFamily="34" charset="-122"/>
                <a:cs typeface="Calibri" pitchFamily="34" charset="-120"/>
              </a:rPr>
              <a:t>✓ Done</a:t>
            </a:r>
            <a:endParaRPr lang="en-US" sz="750" dirty="0"/>
          </a:p>
        </p:txBody>
      </p:sp>
      <p:sp>
        <p:nvSpPr>
          <p:cNvPr id="51" name="Shape 49"/>
          <p:cNvSpPr/>
          <p:nvPr/>
        </p:nvSpPr>
        <p:spPr>
          <a:xfrm>
            <a:off x="347472" y="3291840"/>
            <a:ext cx="8430768" cy="347472"/>
          </a:xfrm>
          <a:prstGeom prst="rect">
            <a:avLst/>
          </a:prstGeom>
          <a:solidFill>
            <a:srgbClr val="F3F4F6"/>
          </a:solidFill>
          <a:ln w="12700">
            <a:solidFill>
              <a:srgbClr val="D1D5DB"/>
            </a:solidFill>
            <a:prstDash val="solid"/>
          </a:ln>
        </p:spPr>
        <p:txBody>
          <a:bodyPr/>
          <a:lstStyle/>
          <a:p>
            <a:endParaRPr lang="en-US"/>
          </a:p>
        </p:txBody>
      </p:sp>
      <p:sp>
        <p:nvSpPr>
          <p:cNvPr id="52" name="Shape 50"/>
          <p:cNvSpPr/>
          <p:nvPr/>
        </p:nvSpPr>
        <p:spPr>
          <a:xfrm>
            <a:off x="347472" y="3291840"/>
            <a:ext cx="54864" cy="347472"/>
          </a:xfrm>
          <a:prstGeom prst="rect">
            <a:avLst/>
          </a:prstGeom>
          <a:solidFill>
            <a:srgbClr val="1A2B4A"/>
          </a:solidFill>
          <a:ln w="12700">
            <a:solidFill>
              <a:srgbClr val="1A2B4A"/>
            </a:solidFill>
            <a:prstDash val="solid"/>
          </a:ln>
        </p:spPr>
        <p:txBody>
          <a:bodyPr/>
          <a:lstStyle/>
          <a:p>
            <a:endParaRPr lang="en-US"/>
          </a:p>
        </p:txBody>
      </p:sp>
      <p:sp>
        <p:nvSpPr>
          <p:cNvPr id="53" name="Text 51"/>
          <p:cNvSpPr/>
          <p:nvPr/>
        </p:nvSpPr>
        <p:spPr>
          <a:xfrm>
            <a:off x="457200" y="3355848"/>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 +</a:t>
            </a:r>
            <a:endParaRPr lang="en-US" sz="850" dirty="0"/>
          </a:p>
          <a:p>
            <a:pPr marL="0" indent="0">
              <a:buNone/>
            </a:pPr>
            <a:r>
              <a:rPr lang="en-US" sz="850" b="1" dirty="0">
                <a:solidFill>
                  <a:srgbClr val="1A2B4A"/>
                </a:solidFill>
                <a:latin typeface="Calibri" pitchFamily="34" charset="0"/>
                <a:ea typeface="Calibri" pitchFamily="34" charset="-122"/>
                <a:cs typeface="Calibri" pitchFamily="34" charset="-120"/>
              </a:rPr>
              <a:t>Shefali</a:t>
            </a:r>
            <a:endParaRPr lang="en-US" sz="850" dirty="0"/>
          </a:p>
        </p:txBody>
      </p:sp>
      <p:sp>
        <p:nvSpPr>
          <p:cNvPr id="54" name="Text 52"/>
          <p:cNvSpPr/>
          <p:nvPr/>
        </p:nvSpPr>
        <p:spPr>
          <a:xfrm>
            <a:off x="1572768" y="3355848"/>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Update Roles &amp; Responsibilities from June 9 meeting decisions.</a:t>
            </a:r>
            <a:endParaRPr lang="en-US" sz="950" dirty="0"/>
          </a:p>
        </p:txBody>
      </p:sp>
      <p:sp>
        <p:nvSpPr>
          <p:cNvPr id="55" name="Shape 53"/>
          <p:cNvSpPr/>
          <p:nvPr/>
        </p:nvSpPr>
        <p:spPr>
          <a:xfrm>
            <a:off x="7077456" y="3364992"/>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56" name="Text 54"/>
          <p:cNvSpPr/>
          <p:nvPr/>
        </p:nvSpPr>
        <p:spPr>
          <a:xfrm>
            <a:off x="7077456" y="3383280"/>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57" name="Shape 55"/>
          <p:cNvSpPr/>
          <p:nvPr/>
        </p:nvSpPr>
        <p:spPr>
          <a:xfrm>
            <a:off x="7818120" y="3364992"/>
            <a:ext cx="914400" cy="201168"/>
          </a:xfrm>
          <a:prstGeom prst="roundRect">
            <a:avLst>
              <a:gd name="adj" fmla="val 18182"/>
            </a:avLst>
          </a:prstGeom>
          <a:solidFill>
            <a:srgbClr val="E6F4ED"/>
          </a:solidFill>
          <a:ln w="12700">
            <a:solidFill>
              <a:srgbClr val="1A6B3C"/>
            </a:solidFill>
            <a:prstDash val="solid"/>
          </a:ln>
        </p:spPr>
        <p:txBody>
          <a:bodyPr/>
          <a:lstStyle/>
          <a:p>
            <a:endParaRPr lang="en-US"/>
          </a:p>
        </p:txBody>
      </p:sp>
      <p:sp>
        <p:nvSpPr>
          <p:cNvPr id="58" name="Text 56"/>
          <p:cNvSpPr/>
          <p:nvPr/>
        </p:nvSpPr>
        <p:spPr>
          <a:xfrm>
            <a:off x="7818120" y="3383280"/>
            <a:ext cx="914400" cy="164592"/>
          </a:xfrm>
          <a:prstGeom prst="rect">
            <a:avLst/>
          </a:prstGeom>
          <a:noFill/>
          <a:ln/>
        </p:spPr>
        <p:txBody>
          <a:bodyPr wrap="square" lIns="0" tIns="0" rIns="0" bIns="0" rtlCol="0" anchor="ctr"/>
          <a:lstStyle/>
          <a:p>
            <a:pPr marL="0" indent="0" algn="ctr">
              <a:buNone/>
            </a:pPr>
            <a:r>
              <a:rPr lang="en-US" sz="750" b="1" dirty="0">
                <a:solidFill>
                  <a:srgbClr val="1A6B3C"/>
                </a:solidFill>
                <a:latin typeface="Calibri" pitchFamily="34" charset="0"/>
                <a:ea typeface="Calibri" pitchFamily="34" charset="-122"/>
                <a:cs typeface="Calibri" pitchFamily="34" charset="-120"/>
              </a:rPr>
              <a:t>✓ Done</a:t>
            </a:r>
            <a:endParaRPr lang="en-US" sz="750" dirty="0"/>
          </a:p>
        </p:txBody>
      </p:sp>
      <p:sp>
        <p:nvSpPr>
          <p:cNvPr id="59" name="Shape 57"/>
          <p:cNvSpPr/>
          <p:nvPr/>
        </p:nvSpPr>
        <p:spPr>
          <a:xfrm>
            <a:off x="347472" y="3639312"/>
            <a:ext cx="8430768" cy="347472"/>
          </a:xfrm>
          <a:prstGeom prst="rect">
            <a:avLst/>
          </a:prstGeom>
          <a:solidFill>
            <a:srgbClr val="FFFFFF"/>
          </a:solidFill>
          <a:ln w="12700">
            <a:solidFill>
              <a:srgbClr val="D1D5DB"/>
            </a:solidFill>
            <a:prstDash val="solid"/>
          </a:ln>
        </p:spPr>
        <p:txBody>
          <a:bodyPr/>
          <a:lstStyle/>
          <a:p>
            <a:endParaRPr lang="en-US"/>
          </a:p>
        </p:txBody>
      </p:sp>
      <p:sp>
        <p:nvSpPr>
          <p:cNvPr id="60" name="Shape 58"/>
          <p:cNvSpPr/>
          <p:nvPr/>
        </p:nvSpPr>
        <p:spPr>
          <a:xfrm>
            <a:off x="347472" y="3639312"/>
            <a:ext cx="54864" cy="347472"/>
          </a:xfrm>
          <a:prstGeom prst="rect">
            <a:avLst/>
          </a:prstGeom>
          <a:solidFill>
            <a:srgbClr val="1A6B3C"/>
          </a:solidFill>
          <a:ln w="12700">
            <a:solidFill>
              <a:srgbClr val="1A6B3C"/>
            </a:solidFill>
            <a:prstDash val="solid"/>
          </a:ln>
        </p:spPr>
        <p:txBody>
          <a:bodyPr/>
          <a:lstStyle/>
          <a:p>
            <a:endParaRPr lang="en-US"/>
          </a:p>
        </p:txBody>
      </p:sp>
      <p:sp>
        <p:nvSpPr>
          <p:cNvPr id="61" name="Text 59"/>
          <p:cNvSpPr/>
          <p:nvPr/>
        </p:nvSpPr>
        <p:spPr>
          <a:xfrm>
            <a:off x="457200" y="3703320"/>
            <a:ext cx="1051560" cy="219456"/>
          </a:xfrm>
          <a:prstGeom prst="rect">
            <a:avLst/>
          </a:prstGeom>
          <a:noFill/>
          <a:ln/>
        </p:spPr>
        <p:txBody>
          <a:bodyPr wrap="square" lIns="0" tIns="0" rIns="0" bIns="0" rtlCol="0" anchor="ctr"/>
          <a:lstStyle/>
          <a:p>
            <a:pPr marL="0" indent="0">
              <a:buNone/>
            </a:pPr>
            <a:r>
              <a:rPr lang="en-US" sz="850" b="1" dirty="0">
                <a:solidFill>
                  <a:srgbClr val="1A6B3C"/>
                </a:solidFill>
                <a:latin typeface="Calibri" pitchFamily="34" charset="0"/>
                <a:ea typeface="Calibri" pitchFamily="34" charset="-122"/>
                <a:cs typeface="Calibri" pitchFamily="34" charset="-120"/>
              </a:rPr>
              <a:t>Yash</a:t>
            </a:r>
            <a:endParaRPr lang="en-US" sz="850" dirty="0"/>
          </a:p>
        </p:txBody>
      </p:sp>
      <p:sp>
        <p:nvSpPr>
          <p:cNvPr id="62" name="Text 60"/>
          <p:cNvSpPr/>
          <p:nvPr/>
        </p:nvSpPr>
        <p:spPr>
          <a:xfrm>
            <a:off x="1572768" y="3703320"/>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Take ownership of marketing/distribution role. Coordinate with Munish on content. Begin planning social media and promotional activities.</a:t>
            </a:r>
            <a:endParaRPr lang="en-US" sz="950" dirty="0"/>
          </a:p>
        </p:txBody>
      </p:sp>
      <p:sp>
        <p:nvSpPr>
          <p:cNvPr id="63" name="Shape 61"/>
          <p:cNvSpPr/>
          <p:nvPr/>
        </p:nvSpPr>
        <p:spPr>
          <a:xfrm>
            <a:off x="7077456" y="3712464"/>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64" name="Text 62"/>
          <p:cNvSpPr/>
          <p:nvPr/>
        </p:nvSpPr>
        <p:spPr>
          <a:xfrm>
            <a:off x="7077456" y="3730752"/>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65" name="Shape 63"/>
          <p:cNvSpPr/>
          <p:nvPr/>
        </p:nvSpPr>
        <p:spPr>
          <a:xfrm>
            <a:off x="7818120" y="3712464"/>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66" name="Text 64"/>
          <p:cNvSpPr/>
          <p:nvPr/>
        </p:nvSpPr>
        <p:spPr>
          <a:xfrm>
            <a:off x="7818120" y="3730752"/>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67" name="Shape 65"/>
          <p:cNvSpPr/>
          <p:nvPr/>
        </p:nvSpPr>
        <p:spPr>
          <a:xfrm>
            <a:off x="347472" y="3986784"/>
            <a:ext cx="8430768" cy="347472"/>
          </a:xfrm>
          <a:prstGeom prst="rect">
            <a:avLst/>
          </a:prstGeom>
          <a:solidFill>
            <a:srgbClr val="F3F4F6"/>
          </a:solidFill>
          <a:ln w="12700">
            <a:solidFill>
              <a:srgbClr val="D1D5DB"/>
            </a:solidFill>
            <a:prstDash val="solid"/>
          </a:ln>
        </p:spPr>
        <p:txBody>
          <a:bodyPr/>
          <a:lstStyle/>
          <a:p>
            <a:endParaRPr lang="en-US"/>
          </a:p>
        </p:txBody>
      </p:sp>
      <p:sp>
        <p:nvSpPr>
          <p:cNvPr id="68" name="Shape 66"/>
          <p:cNvSpPr/>
          <p:nvPr/>
        </p:nvSpPr>
        <p:spPr>
          <a:xfrm>
            <a:off x="347472" y="3986784"/>
            <a:ext cx="54864" cy="347472"/>
          </a:xfrm>
          <a:prstGeom prst="rect">
            <a:avLst/>
          </a:prstGeom>
          <a:solidFill>
            <a:srgbClr val="1A2B4A"/>
          </a:solidFill>
          <a:ln w="12700">
            <a:solidFill>
              <a:srgbClr val="1A2B4A"/>
            </a:solidFill>
            <a:prstDash val="solid"/>
          </a:ln>
        </p:spPr>
        <p:txBody>
          <a:bodyPr/>
          <a:lstStyle/>
          <a:p>
            <a:endParaRPr lang="en-US"/>
          </a:p>
        </p:txBody>
      </p:sp>
      <p:sp>
        <p:nvSpPr>
          <p:cNvPr id="69" name="Text 67"/>
          <p:cNvSpPr/>
          <p:nvPr/>
        </p:nvSpPr>
        <p:spPr>
          <a:xfrm>
            <a:off x="457200" y="4050792"/>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All</a:t>
            </a:r>
            <a:endParaRPr lang="en-US" sz="850" dirty="0"/>
          </a:p>
        </p:txBody>
      </p:sp>
      <p:sp>
        <p:nvSpPr>
          <p:cNvPr id="70" name="Text 68"/>
          <p:cNvSpPr/>
          <p:nvPr/>
        </p:nvSpPr>
        <p:spPr>
          <a:xfrm>
            <a:off x="1572768" y="4050792"/>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Review the playbook. Clarify and accept roles. Inform Munish of any role changes or additional support needs.</a:t>
            </a:r>
            <a:endParaRPr lang="en-US" sz="950" dirty="0"/>
          </a:p>
        </p:txBody>
      </p:sp>
      <p:sp>
        <p:nvSpPr>
          <p:cNvPr id="71" name="Shape 69"/>
          <p:cNvSpPr/>
          <p:nvPr/>
        </p:nvSpPr>
        <p:spPr>
          <a:xfrm>
            <a:off x="7077456" y="4059936"/>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72" name="Text 70"/>
          <p:cNvSpPr/>
          <p:nvPr/>
        </p:nvSpPr>
        <p:spPr>
          <a:xfrm>
            <a:off x="7077456" y="4078224"/>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 Wk1</a:t>
            </a:r>
            <a:endParaRPr lang="en-US" sz="750" dirty="0"/>
          </a:p>
        </p:txBody>
      </p:sp>
      <p:sp>
        <p:nvSpPr>
          <p:cNvPr id="73" name="Shape 71"/>
          <p:cNvSpPr/>
          <p:nvPr/>
        </p:nvSpPr>
        <p:spPr>
          <a:xfrm>
            <a:off x="7818120" y="4059936"/>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74" name="Text 72"/>
          <p:cNvSpPr/>
          <p:nvPr/>
        </p:nvSpPr>
        <p:spPr>
          <a:xfrm>
            <a:off x="7818120" y="4078224"/>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75" name="Shape 73"/>
          <p:cNvSpPr/>
          <p:nvPr/>
        </p:nvSpPr>
        <p:spPr>
          <a:xfrm>
            <a:off x="347472" y="4334256"/>
            <a:ext cx="8430768" cy="347472"/>
          </a:xfrm>
          <a:prstGeom prst="rect">
            <a:avLst/>
          </a:prstGeom>
          <a:solidFill>
            <a:srgbClr val="FFFFFF"/>
          </a:solidFill>
          <a:ln w="12700">
            <a:solidFill>
              <a:srgbClr val="D1D5DB"/>
            </a:solidFill>
            <a:prstDash val="solid"/>
          </a:ln>
        </p:spPr>
        <p:txBody>
          <a:bodyPr/>
          <a:lstStyle/>
          <a:p>
            <a:endParaRPr lang="en-US"/>
          </a:p>
        </p:txBody>
      </p:sp>
      <p:sp>
        <p:nvSpPr>
          <p:cNvPr id="76" name="Shape 74"/>
          <p:cNvSpPr/>
          <p:nvPr/>
        </p:nvSpPr>
        <p:spPr>
          <a:xfrm>
            <a:off x="347472" y="4334256"/>
            <a:ext cx="54864" cy="347472"/>
          </a:xfrm>
          <a:prstGeom prst="rect">
            <a:avLst/>
          </a:prstGeom>
          <a:solidFill>
            <a:srgbClr val="1A2B4A"/>
          </a:solidFill>
          <a:ln w="12700">
            <a:solidFill>
              <a:srgbClr val="1A2B4A"/>
            </a:solidFill>
            <a:prstDash val="solid"/>
          </a:ln>
        </p:spPr>
        <p:txBody>
          <a:bodyPr/>
          <a:lstStyle/>
          <a:p>
            <a:endParaRPr lang="en-US"/>
          </a:p>
        </p:txBody>
      </p:sp>
      <p:sp>
        <p:nvSpPr>
          <p:cNvPr id="77" name="Text 75"/>
          <p:cNvSpPr/>
          <p:nvPr/>
        </p:nvSpPr>
        <p:spPr>
          <a:xfrm>
            <a:off x="457200" y="4398264"/>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All</a:t>
            </a:r>
            <a:endParaRPr lang="en-US" sz="850" dirty="0"/>
          </a:p>
        </p:txBody>
      </p:sp>
      <p:sp>
        <p:nvSpPr>
          <p:cNvPr id="78" name="Text 76"/>
          <p:cNvSpPr/>
          <p:nvPr/>
        </p:nvSpPr>
        <p:spPr>
          <a:xfrm>
            <a:off x="1572768" y="4398264"/>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Be diligent in organising and naming all documentary footage as it is collected. Follow folder structure and best practices in the playbook.</a:t>
            </a:r>
            <a:endParaRPr lang="en-US" sz="950" dirty="0"/>
          </a:p>
        </p:txBody>
      </p:sp>
      <p:sp>
        <p:nvSpPr>
          <p:cNvPr id="79" name="Shape 77"/>
          <p:cNvSpPr/>
          <p:nvPr/>
        </p:nvSpPr>
        <p:spPr>
          <a:xfrm>
            <a:off x="7077456" y="4407408"/>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80" name="Text 78"/>
          <p:cNvSpPr/>
          <p:nvPr/>
        </p:nvSpPr>
        <p:spPr>
          <a:xfrm>
            <a:off x="7077456" y="4425696"/>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Ongoing</a:t>
            </a:r>
            <a:endParaRPr lang="en-US" sz="750" dirty="0"/>
          </a:p>
        </p:txBody>
      </p:sp>
      <p:sp>
        <p:nvSpPr>
          <p:cNvPr id="81" name="Shape 79"/>
          <p:cNvSpPr/>
          <p:nvPr/>
        </p:nvSpPr>
        <p:spPr>
          <a:xfrm>
            <a:off x="7818120" y="4407408"/>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82" name="Text 80"/>
          <p:cNvSpPr/>
          <p:nvPr/>
        </p:nvSpPr>
        <p:spPr>
          <a:xfrm>
            <a:off x="7818120" y="4425696"/>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83" name="Shape 81"/>
          <p:cNvSpPr/>
          <p:nvPr/>
        </p:nvSpPr>
        <p:spPr>
          <a:xfrm>
            <a:off x="347472" y="4681728"/>
            <a:ext cx="8430768" cy="347472"/>
          </a:xfrm>
          <a:prstGeom prst="rect">
            <a:avLst/>
          </a:prstGeom>
          <a:solidFill>
            <a:srgbClr val="F3F4F6"/>
          </a:solidFill>
          <a:ln w="12700">
            <a:solidFill>
              <a:srgbClr val="D1D5DB"/>
            </a:solidFill>
            <a:prstDash val="solid"/>
          </a:ln>
        </p:spPr>
        <p:txBody>
          <a:bodyPr/>
          <a:lstStyle/>
          <a:p>
            <a:endParaRPr lang="en-US"/>
          </a:p>
        </p:txBody>
      </p:sp>
      <p:sp>
        <p:nvSpPr>
          <p:cNvPr id="84" name="Shape 82"/>
          <p:cNvSpPr/>
          <p:nvPr/>
        </p:nvSpPr>
        <p:spPr>
          <a:xfrm>
            <a:off x="347472" y="4681728"/>
            <a:ext cx="54864" cy="347472"/>
          </a:xfrm>
          <a:prstGeom prst="rect">
            <a:avLst/>
          </a:prstGeom>
          <a:solidFill>
            <a:srgbClr val="1A2B4A"/>
          </a:solidFill>
          <a:ln w="12700">
            <a:solidFill>
              <a:srgbClr val="1A2B4A"/>
            </a:solidFill>
            <a:prstDash val="solid"/>
          </a:ln>
        </p:spPr>
        <p:txBody>
          <a:bodyPr/>
          <a:lstStyle/>
          <a:p>
            <a:endParaRPr lang="en-US"/>
          </a:p>
        </p:txBody>
      </p:sp>
      <p:sp>
        <p:nvSpPr>
          <p:cNvPr id="85" name="Text 83"/>
          <p:cNvSpPr/>
          <p:nvPr/>
        </p:nvSpPr>
        <p:spPr>
          <a:xfrm>
            <a:off x="457200" y="4745736"/>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All</a:t>
            </a:r>
            <a:endParaRPr lang="en-US" sz="850" dirty="0"/>
          </a:p>
        </p:txBody>
      </p:sp>
      <p:sp>
        <p:nvSpPr>
          <p:cNvPr id="86" name="Text 84"/>
          <p:cNvSpPr/>
          <p:nvPr/>
        </p:nvSpPr>
        <p:spPr>
          <a:xfrm>
            <a:off x="1572768" y="4745736"/>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Legal and branding: do not reference '100X' publicly. Use 'learning community'. Shefali's guidance.</a:t>
            </a:r>
            <a:endParaRPr lang="en-US" sz="950" dirty="0"/>
          </a:p>
        </p:txBody>
      </p:sp>
      <p:sp>
        <p:nvSpPr>
          <p:cNvPr id="87" name="Shape 85"/>
          <p:cNvSpPr/>
          <p:nvPr/>
        </p:nvSpPr>
        <p:spPr>
          <a:xfrm>
            <a:off x="7077456" y="4754880"/>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88" name="Text 86"/>
          <p:cNvSpPr/>
          <p:nvPr/>
        </p:nvSpPr>
        <p:spPr>
          <a:xfrm>
            <a:off x="7077456" y="4773168"/>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Ongoing</a:t>
            </a:r>
            <a:endParaRPr lang="en-US" sz="750" dirty="0"/>
          </a:p>
        </p:txBody>
      </p:sp>
      <p:sp>
        <p:nvSpPr>
          <p:cNvPr id="89" name="Shape 87"/>
          <p:cNvSpPr/>
          <p:nvPr/>
        </p:nvSpPr>
        <p:spPr>
          <a:xfrm>
            <a:off x="7818120" y="4754880"/>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90" name="Text 88"/>
          <p:cNvSpPr/>
          <p:nvPr/>
        </p:nvSpPr>
        <p:spPr>
          <a:xfrm>
            <a:off x="7818120" y="4773168"/>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ACTION ITEMS — JUNE 9 POST-MEETING  (SHEFALI + MUNISH BILATERAL)</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Action Items — June 9 Post-Meeting</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Decisions from the Shefali + Munish session after the group meeting.</a:t>
            </a:r>
            <a:endParaRPr lang="en-US" sz="1100" dirty="0"/>
          </a:p>
        </p:txBody>
      </p:sp>
      <p:sp>
        <p:nvSpPr>
          <p:cNvPr id="6" name="Shape 4"/>
          <p:cNvSpPr/>
          <p:nvPr/>
        </p:nvSpPr>
        <p:spPr>
          <a:xfrm>
            <a:off x="347472" y="1280160"/>
            <a:ext cx="8430768" cy="256032"/>
          </a:xfrm>
          <a:prstGeom prst="rect">
            <a:avLst/>
          </a:prstGeom>
          <a:solidFill>
            <a:srgbClr val="1A2B4A"/>
          </a:solidFill>
          <a:ln w="12700">
            <a:solidFill>
              <a:srgbClr val="1A2B4A"/>
            </a:solidFill>
            <a:prstDash val="solid"/>
          </a:ln>
        </p:spPr>
        <p:txBody>
          <a:bodyPr/>
          <a:lstStyle/>
          <a:p>
            <a:endParaRPr lang="en-US"/>
          </a:p>
        </p:txBody>
      </p:sp>
      <p:sp>
        <p:nvSpPr>
          <p:cNvPr id="7" name="Text 5"/>
          <p:cNvSpPr/>
          <p:nvPr/>
        </p:nvSpPr>
        <p:spPr>
          <a:xfrm>
            <a:off x="457200" y="1325880"/>
            <a:ext cx="105156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OWNER</a:t>
            </a:r>
            <a:endParaRPr lang="en-US" sz="800" dirty="0"/>
          </a:p>
        </p:txBody>
      </p:sp>
      <p:sp>
        <p:nvSpPr>
          <p:cNvPr id="8" name="Text 6"/>
          <p:cNvSpPr/>
          <p:nvPr/>
        </p:nvSpPr>
        <p:spPr>
          <a:xfrm>
            <a:off x="1572768" y="1325880"/>
            <a:ext cx="544068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ACTION ITEM</a:t>
            </a:r>
            <a:endParaRPr lang="en-US" sz="800" dirty="0"/>
          </a:p>
        </p:txBody>
      </p:sp>
      <p:sp>
        <p:nvSpPr>
          <p:cNvPr id="9" name="Text 7"/>
          <p:cNvSpPr/>
          <p:nvPr/>
        </p:nvSpPr>
        <p:spPr>
          <a:xfrm>
            <a:off x="7077456" y="1325880"/>
            <a:ext cx="68580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WHEN</a:t>
            </a:r>
            <a:endParaRPr lang="en-US" sz="800" dirty="0"/>
          </a:p>
        </p:txBody>
      </p:sp>
      <p:sp>
        <p:nvSpPr>
          <p:cNvPr id="10" name="Text 8"/>
          <p:cNvSpPr/>
          <p:nvPr/>
        </p:nvSpPr>
        <p:spPr>
          <a:xfrm>
            <a:off x="7818120" y="1325880"/>
            <a:ext cx="96012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STATUS</a:t>
            </a:r>
            <a:endParaRPr lang="en-US" sz="800" dirty="0"/>
          </a:p>
        </p:txBody>
      </p:sp>
      <p:sp>
        <p:nvSpPr>
          <p:cNvPr id="11" name="Shape 9"/>
          <p:cNvSpPr/>
          <p:nvPr/>
        </p:nvSpPr>
        <p:spPr>
          <a:xfrm>
            <a:off x="347472" y="1554480"/>
            <a:ext cx="8430768" cy="347472"/>
          </a:xfrm>
          <a:prstGeom prst="rect">
            <a:avLst/>
          </a:prstGeom>
          <a:solidFill>
            <a:srgbClr val="FFFFFF"/>
          </a:solidFill>
          <a:ln w="12700">
            <a:solidFill>
              <a:srgbClr val="D1D5DB"/>
            </a:solidFill>
            <a:prstDash val="solid"/>
          </a:ln>
        </p:spPr>
        <p:txBody>
          <a:bodyPr/>
          <a:lstStyle/>
          <a:p>
            <a:endParaRPr lang="en-US"/>
          </a:p>
        </p:txBody>
      </p:sp>
      <p:sp>
        <p:nvSpPr>
          <p:cNvPr id="12" name="Shape 10"/>
          <p:cNvSpPr/>
          <p:nvPr/>
        </p:nvSpPr>
        <p:spPr>
          <a:xfrm>
            <a:off x="347472" y="1554480"/>
            <a:ext cx="54864" cy="347472"/>
          </a:xfrm>
          <a:prstGeom prst="rect">
            <a:avLst/>
          </a:prstGeom>
          <a:solidFill>
            <a:srgbClr val="6B21A8"/>
          </a:solidFill>
          <a:ln w="12700">
            <a:solidFill>
              <a:srgbClr val="6B21A8"/>
            </a:solidFill>
            <a:prstDash val="solid"/>
          </a:ln>
        </p:spPr>
        <p:txBody>
          <a:bodyPr/>
          <a:lstStyle/>
          <a:p>
            <a:endParaRPr lang="en-US"/>
          </a:p>
        </p:txBody>
      </p:sp>
      <p:sp>
        <p:nvSpPr>
          <p:cNvPr id="13" name="Text 11"/>
          <p:cNvSpPr/>
          <p:nvPr/>
        </p:nvSpPr>
        <p:spPr>
          <a:xfrm>
            <a:off x="457200" y="1618488"/>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14" name="Text 12"/>
          <p:cNvSpPr/>
          <p:nvPr/>
        </p:nvSpPr>
        <p:spPr>
          <a:xfrm>
            <a:off x="1572768" y="1618488"/>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Send questionnaire to all 30 ACES members. Participants self-select: tick a box if they want to be a protagonist. Shortlist 5 from responses.</a:t>
            </a:r>
            <a:endParaRPr lang="en-US" sz="950" dirty="0"/>
          </a:p>
        </p:txBody>
      </p:sp>
      <p:sp>
        <p:nvSpPr>
          <p:cNvPr id="15" name="Shape 13"/>
          <p:cNvSpPr/>
          <p:nvPr/>
        </p:nvSpPr>
        <p:spPr>
          <a:xfrm>
            <a:off x="7077456" y="1627632"/>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16" name="Text 14"/>
          <p:cNvSpPr/>
          <p:nvPr/>
        </p:nvSpPr>
        <p:spPr>
          <a:xfrm>
            <a:off x="7077456" y="1645920"/>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 Wk1</a:t>
            </a:r>
            <a:endParaRPr lang="en-US" sz="750" dirty="0"/>
          </a:p>
        </p:txBody>
      </p:sp>
      <p:sp>
        <p:nvSpPr>
          <p:cNvPr id="17" name="Shape 15"/>
          <p:cNvSpPr/>
          <p:nvPr/>
        </p:nvSpPr>
        <p:spPr>
          <a:xfrm>
            <a:off x="7818120" y="1627632"/>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18" name="Text 16"/>
          <p:cNvSpPr/>
          <p:nvPr/>
        </p:nvSpPr>
        <p:spPr>
          <a:xfrm>
            <a:off x="7818120" y="1645920"/>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19" name="Shape 17"/>
          <p:cNvSpPr/>
          <p:nvPr/>
        </p:nvSpPr>
        <p:spPr>
          <a:xfrm>
            <a:off x="347472" y="1901952"/>
            <a:ext cx="8430768" cy="347472"/>
          </a:xfrm>
          <a:prstGeom prst="rect">
            <a:avLst/>
          </a:prstGeom>
          <a:solidFill>
            <a:srgbClr val="F3F4F6"/>
          </a:solidFill>
          <a:ln w="12700">
            <a:solidFill>
              <a:srgbClr val="D1D5DB"/>
            </a:solidFill>
            <a:prstDash val="solid"/>
          </a:ln>
        </p:spPr>
        <p:txBody>
          <a:bodyPr/>
          <a:lstStyle/>
          <a:p>
            <a:endParaRPr lang="en-US"/>
          </a:p>
        </p:txBody>
      </p:sp>
      <p:sp>
        <p:nvSpPr>
          <p:cNvPr id="20" name="Shape 18"/>
          <p:cNvSpPr/>
          <p:nvPr/>
        </p:nvSpPr>
        <p:spPr>
          <a:xfrm>
            <a:off x="347472" y="1901952"/>
            <a:ext cx="54864" cy="347472"/>
          </a:xfrm>
          <a:prstGeom prst="rect">
            <a:avLst/>
          </a:prstGeom>
          <a:solidFill>
            <a:srgbClr val="6B21A8"/>
          </a:solidFill>
          <a:ln w="12700">
            <a:solidFill>
              <a:srgbClr val="6B21A8"/>
            </a:solidFill>
            <a:prstDash val="solid"/>
          </a:ln>
        </p:spPr>
        <p:txBody>
          <a:bodyPr/>
          <a:lstStyle/>
          <a:p>
            <a:endParaRPr lang="en-US"/>
          </a:p>
        </p:txBody>
      </p:sp>
      <p:sp>
        <p:nvSpPr>
          <p:cNvPr id="21" name="Text 19"/>
          <p:cNvSpPr/>
          <p:nvPr/>
        </p:nvSpPr>
        <p:spPr>
          <a:xfrm>
            <a:off x="457200" y="1965960"/>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22" name="Text 20"/>
          <p:cNvSpPr/>
          <p:nvPr/>
        </p:nvSpPr>
        <p:spPr>
          <a:xfrm>
            <a:off x="1572768" y="1965960"/>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Create and distribute protagonist selection rubric (scores on specificity, emotional stakes, contrast potential, surprise factor).</a:t>
            </a:r>
            <a:endParaRPr lang="en-US" sz="950" dirty="0"/>
          </a:p>
        </p:txBody>
      </p:sp>
      <p:sp>
        <p:nvSpPr>
          <p:cNvPr id="23" name="Shape 21"/>
          <p:cNvSpPr/>
          <p:nvPr/>
        </p:nvSpPr>
        <p:spPr>
          <a:xfrm>
            <a:off x="7077456" y="1975104"/>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24" name="Text 22"/>
          <p:cNvSpPr/>
          <p:nvPr/>
        </p:nvSpPr>
        <p:spPr>
          <a:xfrm>
            <a:off x="7077456" y="1993392"/>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 Wk1</a:t>
            </a:r>
            <a:endParaRPr lang="en-US" sz="750" dirty="0"/>
          </a:p>
        </p:txBody>
      </p:sp>
      <p:sp>
        <p:nvSpPr>
          <p:cNvPr id="25" name="Shape 23"/>
          <p:cNvSpPr/>
          <p:nvPr/>
        </p:nvSpPr>
        <p:spPr>
          <a:xfrm>
            <a:off x="7818120" y="1975104"/>
            <a:ext cx="914400" cy="201168"/>
          </a:xfrm>
          <a:prstGeom prst="roundRect">
            <a:avLst>
              <a:gd name="adj" fmla="val 18182"/>
            </a:avLst>
          </a:prstGeom>
          <a:solidFill>
            <a:srgbClr val="E6F4ED"/>
          </a:solidFill>
          <a:ln w="12700">
            <a:solidFill>
              <a:srgbClr val="1A6B3C"/>
            </a:solidFill>
            <a:prstDash val="solid"/>
          </a:ln>
        </p:spPr>
        <p:txBody>
          <a:bodyPr/>
          <a:lstStyle/>
          <a:p>
            <a:endParaRPr lang="en-US"/>
          </a:p>
        </p:txBody>
      </p:sp>
      <p:sp>
        <p:nvSpPr>
          <p:cNvPr id="26" name="Text 24"/>
          <p:cNvSpPr/>
          <p:nvPr/>
        </p:nvSpPr>
        <p:spPr>
          <a:xfrm>
            <a:off x="7818120" y="1993392"/>
            <a:ext cx="914400" cy="164592"/>
          </a:xfrm>
          <a:prstGeom prst="rect">
            <a:avLst/>
          </a:prstGeom>
          <a:noFill/>
          <a:ln/>
        </p:spPr>
        <p:txBody>
          <a:bodyPr wrap="square" lIns="0" tIns="0" rIns="0" bIns="0" rtlCol="0" anchor="ctr"/>
          <a:lstStyle/>
          <a:p>
            <a:pPr marL="0" indent="0" algn="ctr">
              <a:buNone/>
            </a:pPr>
            <a:r>
              <a:rPr lang="en-US" sz="750" b="1" dirty="0">
                <a:solidFill>
                  <a:srgbClr val="1A6B3C"/>
                </a:solidFill>
                <a:latin typeface="Calibri" pitchFamily="34" charset="0"/>
                <a:ea typeface="Calibri" pitchFamily="34" charset="-122"/>
                <a:cs typeface="Calibri" pitchFamily="34" charset="-120"/>
              </a:rPr>
              <a:t>✓ Done</a:t>
            </a:r>
            <a:endParaRPr lang="en-US" sz="750" dirty="0"/>
          </a:p>
        </p:txBody>
      </p:sp>
      <p:sp>
        <p:nvSpPr>
          <p:cNvPr id="27" name="Shape 25"/>
          <p:cNvSpPr/>
          <p:nvPr/>
        </p:nvSpPr>
        <p:spPr>
          <a:xfrm>
            <a:off x="347472" y="2249424"/>
            <a:ext cx="8430768" cy="347472"/>
          </a:xfrm>
          <a:prstGeom prst="rect">
            <a:avLst/>
          </a:prstGeom>
          <a:solidFill>
            <a:srgbClr val="FFFFFF"/>
          </a:solidFill>
          <a:ln w="12700">
            <a:solidFill>
              <a:srgbClr val="D1D5DB"/>
            </a:solidFill>
            <a:prstDash val="solid"/>
          </a:ln>
        </p:spPr>
        <p:txBody>
          <a:bodyPr/>
          <a:lstStyle/>
          <a:p>
            <a:endParaRPr lang="en-US"/>
          </a:p>
        </p:txBody>
      </p:sp>
      <p:sp>
        <p:nvSpPr>
          <p:cNvPr id="28" name="Shape 26"/>
          <p:cNvSpPr/>
          <p:nvPr/>
        </p:nvSpPr>
        <p:spPr>
          <a:xfrm>
            <a:off x="347472" y="2249424"/>
            <a:ext cx="54864" cy="347472"/>
          </a:xfrm>
          <a:prstGeom prst="rect">
            <a:avLst/>
          </a:prstGeom>
          <a:solidFill>
            <a:srgbClr val="6B21A8"/>
          </a:solidFill>
          <a:ln w="12700">
            <a:solidFill>
              <a:srgbClr val="6B21A8"/>
            </a:solidFill>
            <a:prstDash val="solid"/>
          </a:ln>
        </p:spPr>
        <p:txBody>
          <a:bodyPr/>
          <a:lstStyle/>
          <a:p>
            <a:endParaRPr lang="en-US"/>
          </a:p>
        </p:txBody>
      </p:sp>
      <p:sp>
        <p:nvSpPr>
          <p:cNvPr id="29" name="Text 27"/>
          <p:cNvSpPr/>
          <p:nvPr/>
        </p:nvSpPr>
        <p:spPr>
          <a:xfrm>
            <a:off x="457200" y="2313432"/>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30" name="Text 28"/>
          <p:cNvSpPr/>
          <p:nvPr/>
        </p:nvSpPr>
        <p:spPr>
          <a:xfrm>
            <a:off x="1572768" y="2313432"/>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Retain Project Manager (PM) role for now. Identify and begin mentoring a detail-oriented second person for PM. Not urgent until M2.</a:t>
            </a:r>
            <a:endParaRPr lang="en-US" sz="950" dirty="0"/>
          </a:p>
        </p:txBody>
      </p:sp>
      <p:sp>
        <p:nvSpPr>
          <p:cNvPr id="31" name="Shape 29"/>
          <p:cNvSpPr/>
          <p:nvPr/>
        </p:nvSpPr>
        <p:spPr>
          <a:xfrm>
            <a:off x="7077456" y="2322576"/>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32" name="Text 30"/>
          <p:cNvSpPr/>
          <p:nvPr/>
        </p:nvSpPr>
        <p:spPr>
          <a:xfrm>
            <a:off x="7077456" y="2340864"/>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M2</a:t>
            </a:r>
            <a:endParaRPr lang="en-US" sz="750" dirty="0"/>
          </a:p>
        </p:txBody>
      </p:sp>
      <p:sp>
        <p:nvSpPr>
          <p:cNvPr id="33" name="Shape 31"/>
          <p:cNvSpPr/>
          <p:nvPr/>
        </p:nvSpPr>
        <p:spPr>
          <a:xfrm>
            <a:off x="7818120" y="2322576"/>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34" name="Text 32"/>
          <p:cNvSpPr/>
          <p:nvPr/>
        </p:nvSpPr>
        <p:spPr>
          <a:xfrm>
            <a:off x="7818120" y="2340864"/>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35" name="Shape 33"/>
          <p:cNvSpPr/>
          <p:nvPr/>
        </p:nvSpPr>
        <p:spPr>
          <a:xfrm>
            <a:off x="347472" y="2596896"/>
            <a:ext cx="8430768" cy="347472"/>
          </a:xfrm>
          <a:prstGeom prst="rect">
            <a:avLst/>
          </a:prstGeom>
          <a:solidFill>
            <a:srgbClr val="F3F4F6"/>
          </a:solidFill>
          <a:ln w="12700">
            <a:solidFill>
              <a:srgbClr val="D1D5DB"/>
            </a:solidFill>
            <a:prstDash val="solid"/>
          </a:ln>
        </p:spPr>
        <p:txBody>
          <a:bodyPr/>
          <a:lstStyle/>
          <a:p>
            <a:endParaRPr lang="en-US"/>
          </a:p>
        </p:txBody>
      </p:sp>
      <p:sp>
        <p:nvSpPr>
          <p:cNvPr id="36" name="Shape 34"/>
          <p:cNvSpPr/>
          <p:nvPr/>
        </p:nvSpPr>
        <p:spPr>
          <a:xfrm>
            <a:off x="347472" y="2596896"/>
            <a:ext cx="54864" cy="347472"/>
          </a:xfrm>
          <a:prstGeom prst="rect">
            <a:avLst/>
          </a:prstGeom>
          <a:solidFill>
            <a:srgbClr val="6B21A8"/>
          </a:solidFill>
          <a:ln w="12700">
            <a:solidFill>
              <a:srgbClr val="6B21A8"/>
            </a:solidFill>
            <a:prstDash val="solid"/>
          </a:ln>
        </p:spPr>
        <p:txBody>
          <a:bodyPr/>
          <a:lstStyle/>
          <a:p>
            <a:endParaRPr lang="en-US"/>
          </a:p>
        </p:txBody>
      </p:sp>
      <p:sp>
        <p:nvSpPr>
          <p:cNvPr id="37" name="Text 35"/>
          <p:cNvSpPr/>
          <p:nvPr/>
        </p:nvSpPr>
        <p:spPr>
          <a:xfrm>
            <a:off x="457200" y="2660904"/>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38" name="Text 36"/>
          <p:cNvSpPr/>
          <p:nvPr/>
        </p:nvSpPr>
        <p:spPr>
          <a:xfrm>
            <a:off x="1572768" y="2660904"/>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Begin outreach to find an Indian entertainment lawyer or advisor. Not needed until M3+. Do not use '100X' publicly — use 'learning community'.</a:t>
            </a:r>
            <a:endParaRPr lang="en-US" sz="950" dirty="0"/>
          </a:p>
        </p:txBody>
      </p:sp>
      <p:sp>
        <p:nvSpPr>
          <p:cNvPr id="39" name="Shape 37"/>
          <p:cNvSpPr/>
          <p:nvPr/>
        </p:nvSpPr>
        <p:spPr>
          <a:xfrm>
            <a:off x="7077456" y="2670048"/>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40" name="Text 38"/>
          <p:cNvSpPr/>
          <p:nvPr/>
        </p:nvSpPr>
        <p:spPr>
          <a:xfrm>
            <a:off x="7077456" y="2688336"/>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M3+</a:t>
            </a:r>
            <a:endParaRPr lang="en-US" sz="750" dirty="0"/>
          </a:p>
        </p:txBody>
      </p:sp>
      <p:sp>
        <p:nvSpPr>
          <p:cNvPr id="41" name="Shape 39"/>
          <p:cNvSpPr/>
          <p:nvPr/>
        </p:nvSpPr>
        <p:spPr>
          <a:xfrm>
            <a:off x="7818120" y="2670048"/>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42" name="Text 40"/>
          <p:cNvSpPr/>
          <p:nvPr/>
        </p:nvSpPr>
        <p:spPr>
          <a:xfrm>
            <a:off x="7818120" y="2688336"/>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43" name="Shape 41"/>
          <p:cNvSpPr/>
          <p:nvPr/>
        </p:nvSpPr>
        <p:spPr>
          <a:xfrm>
            <a:off x="347472" y="2944368"/>
            <a:ext cx="8430768" cy="347472"/>
          </a:xfrm>
          <a:prstGeom prst="rect">
            <a:avLst/>
          </a:prstGeom>
          <a:solidFill>
            <a:srgbClr val="FFFFFF"/>
          </a:solidFill>
          <a:ln w="12700">
            <a:solidFill>
              <a:srgbClr val="D1D5DB"/>
            </a:solidFill>
            <a:prstDash val="solid"/>
          </a:ln>
        </p:spPr>
        <p:txBody>
          <a:bodyPr/>
          <a:lstStyle/>
          <a:p>
            <a:endParaRPr lang="en-US"/>
          </a:p>
        </p:txBody>
      </p:sp>
      <p:sp>
        <p:nvSpPr>
          <p:cNvPr id="44" name="Shape 42"/>
          <p:cNvSpPr/>
          <p:nvPr/>
        </p:nvSpPr>
        <p:spPr>
          <a:xfrm>
            <a:off x="347472" y="2944368"/>
            <a:ext cx="54864" cy="347472"/>
          </a:xfrm>
          <a:prstGeom prst="rect">
            <a:avLst/>
          </a:prstGeom>
          <a:solidFill>
            <a:srgbClr val="C05621"/>
          </a:solidFill>
          <a:ln w="12700">
            <a:solidFill>
              <a:srgbClr val="C05621"/>
            </a:solidFill>
            <a:prstDash val="solid"/>
          </a:ln>
        </p:spPr>
        <p:txBody>
          <a:bodyPr/>
          <a:lstStyle/>
          <a:p>
            <a:endParaRPr lang="en-US"/>
          </a:p>
        </p:txBody>
      </p:sp>
      <p:sp>
        <p:nvSpPr>
          <p:cNvPr id="45" name="Text 43"/>
          <p:cNvSpPr/>
          <p:nvPr/>
        </p:nvSpPr>
        <p:spPr>
          <a:xfrm>
            <a:off x="457200" y="3008376"/>
            <a:ext cx="1051560" cy="219456"/>
          </a:xfrm>
          <a:prstGeom prst="rect">
            <a:avLst/>
          </a:prstGeom>
          <a:noFill/>
          <a:ln/>
        </p:spPr>
        <p:txBody>
          <a:bodyPr wrap="square" lIns="0" tIns="0" rIns="0" bIns="0" rtlCol="0" anchor="ctr"/>
          <a:lstStyle/>
          <a:p>
            <a:pPr marL="0" indent="0">
              <a:buNone/>
            </a:pPr>
            <a:r>
              <a:rPr lang="en-US" sz="850" b="1" dirty="0">
                <a:solidFill>
                  <a:srgbClr val="C05621"/>
                </a:solidFill>
                <a:latin typeface="Calibri" pitchFamily="34" charset="0"/>
                <a:ea typeface="Calibri" pitchFamily="34" charset="-122"/>
                <a:cs typeface="Calibri" pitchFamily="34" charset="-120"/>
              </a:rPr>
              <a:t>Eddie</a:t>
            </a:r>
            <a:endParaRPr lang="en-US" sz="850" dirty="0"/>
          </a:p>
        </p:txBody>
      </p:sp>
      <p:sp>
        <p:nvSpPr>
          <p:cNvPr id="46" name="Text 44"/>
          <p:cNvSpPr/>
          <p:nvPr/>
        </p:nvSpPr>
        <p:spPr>
          <a:xfrm>
            <a:off x="1572768" y="3008376"/>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Confirm with Om Maheshwari: interest in editing and/or music role. Om sits as sub-role under Eddie's or Hansh's workstream.</a:t>
            </a:r>
            <a:endParaRPr lang="en-US" sz="950" dirty="0"/>
          </a:p>
        </p:txBody>
      </p:sp>
      <p:sp>
        <p:nvSpPr>
          <p:cNvPr id="47" name="Shape 45"/>
          <p:cNvSpPr/>
          <p:nvPr/>
        </p:nvSpPr>
        <p:spPr>
          <a:xfrm>
            <a:off x="7077456" y="3017520"/>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48" name="Text 46"/>
          <p:cNvSpPr/>
          <p:nvPr/>
        </p:nvSpPr>
        <p:spPr>
          <a:xfrm>
            <a:off x="7077456" y="3035808"/>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 Wk1</a:t>
            </a:r>
            <a:endParaRPr lang="en-US" sz="750" dirty="0"/>
          </a:p>
        </p:txBody>
      </p:sp>
      <p:sp>
        <p:nvSpPr>
          <p:cNvPr id="49" name="Shape 47"/>
          <p:cNvSpPr/>
          <p:nvPr/>
        </p:nvSpPr>
        <p:spPr>
          <a:xfrm>
            <a:off x="7818120" y="3017520"/>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50" name="Text 48"/>
          <p:cNvSpPr/>
          <p:nvPr/>
        </p:nvSpPr>
        <p:spPr>
          <a:xfrm>
            <a:off x="7818120" y="3035808"/>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51" name="Shape 49"/>
          <p:cNvSpPr/>
          <p:nvPr/>
        </p:nvSpPr>
        <p:spPr>
          <a:xfrm>
            <a:off x="347472" y="3291840"/>
            <a:ext cx="8430768" cy="347472"/>
          </a:xfrm>
          <a:prstGeom prst="rect">
            <a:avLst/>
          </a:prstGeom>
          <a:solidFill>
            <a:srgbClr val="F3F4F6"/>
          </a:solidFill>
          <a:ln w="12700">
            <a:solidFill>
              <a:srgbClr val="D1D5DB"/>
            </a:solidFill>
            <a:prstDash val="solid"/>
          </a:ln>
        </p:spPr>
        <p:txBody>
          <a:bodyPr/>
          <a:lstStyle/>
          <a:p>
            <a:endParaRPr lang="en-US"/>
          </a:p>
        </p:txBody>
      </p:sp>
      <p:sp>
        <p:nvSpPr>
          <p:cNvPr id="52" name="Shape 50"/>
          <p:cNvSpPr/>
          <p:nvPr/>
        </p:nvSpPr>
        <p:spPr>
          <a:xfrm>
            <a:off x="347472" y="3291840"/>
            <a:ext cx="54864" cy="347472"/>
          </a:xfrm>
          <a:prstGeom prst="rect">
            <a:avLst/>
          </a:prstGeom>
          <a:solidFill>
            <a:srgbClr val="1A2B4A"/>
          </a:solidFill>
          <a:ln w="12700">
            <a:solidFill>
              <a:srgbClr val="1A2B4A"/>
            </a:solidFill>
            <a:prstDash val="solid"/>
          </a:ln>
        </p:spPr>
        <p:txBody>
          <a:bodyPr/>
          <a:lstStyle/>
          <a:p>
            <a:endParaRPr lang="en-US"/>
          </a:p>
        </p:txBody>
      </p:sp>
      <p:sp>
        <p:nvSpPr>
          <p:cNvPr id="53" name="Text 51"/>
          <p:cNvSpPr/>
          <p:nvPr/>
        </p:nvSpPr>
        <p:spPr>
          <a:xfrm>
            <a:off x="457200" y="3355848"/>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a:t>
            </a:r>
            <a:endParaRPr lang="en-US" sz="850" dirty="0"/>
          </a:p>
        </p:txBody>
      </p:sp>
      <p:sp>
        <p:nvSpPr>
          <p:cNvPr id="54" name="Text 52"/>
          <p:cNvSpPr/>
          <p:nvPr/>
        </p:nvSpPr>
        <p:spPr>
          <a:xfrm>
            <a:off x="1572768" y="3355848"/>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Reach out to Sagar Batra for content/event marketing sub-role under Yash's workstream when ready.</a:t>
            </a:r>
            <a:endParaRPr lang="en-US" sz="950" dirty="0"/>
          </a:p>
        </p:txBody>
      </p:sp>
      <p:sp>
        <p:nvSpPr>
          <p:cNvPr id="55" name="Shape 53"/>
          <p:cNvSpPr/>
          <p:nvPr/>
        </p:nvSpPr>
        <p:spPr>
          <a:xfrm>
            <a:off x="7077456" y="3364992"/>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56" name="Text 54"/>
          <p:cNvSpPr/>
          <p:nvPr/>
        </p:nvSpPr>
        <p:spPr>
          <a:xfrm>
            <a:off x="7077456" y="3383280"/>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57" name="Shape 55"/>
          <p:cNvSpPr/>
          <p:nvPr/>
        </p:nvSpPr>
        <p:spPr>
          <a:xfrm>
            <a:off x="7818120" y="3364992"/>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58" name="Text 56"/>
          <p:cNvSpPr/>
          <p:nvPr/>
        </p:nvSpPr>
        <p:spPr>
          <a:xfrm>
            <a:off x="7818120" y="3383280"/>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59" name="Shape 57"/>
          <p:cNvSpPr/>
          <p:nvPr/>
        </p:nvSpPr>
        <p:spPr>
          <a:xfrm>
            <a:off x="347472" y="3639312"/>
            <a:ext cx="8430768" cy="347472"/>
          </a:xfrm>
          <a:prstGeom prst="rect">
            <a:avLst/>
          </a:prstGeom>
          <a:solidFill>
            <a:srgbClr val="FFFFFF"/>
          </a:solidFill>
          <a:ln w="12700">
            <a:solidFill>
              <a:srgbClr val="D1D5DB"/>
            </a:solidFill>
            <a:prstDash val="solid"/>
          </a:ln>
        </p:spPr>
        <p:txBody>
          <a:bodyPr/>
          <a:lstStyle/>
          <a:p>
            <a:endParaRPr lang="en-US"/>
          </a:p>
        </p:txBody>
      </p:sp>
      <p:sp>
        <p:nvSpPr>
          <p:cNvPr id="60" name="Shape 58"/>
          <p:cNvSpPr/>
          <p:nvPr/>
        </p:nvSpPr>
        <p:spPr>
          <a:xfrm>
            <a:off x="347472" y="3639312"/>
            <a:ext cx="54864" cy="347472"/>
          </a:xfrm>
          <a:prstGeom prst="rect">
            <a:avLst/>
          </a:prstGeom>
          <a:solidFill>
            <a:srgbClr val="1A2B4A"/>
          </a:solidFill>
          <a:ln w="12700">
            <a:solidFill>
              <a:srgbClr val="1A2B4A"/>
            </a:solidFill>
            <a:prstDash val="solid"/>
          </a:ln>
        </p:spPr>
        <p:txBody>
          <a:bodyPr/>
          <a:lstStyle/>
          <a:p>
            <a:endParaRPr lang="en-US"/>
          </a:p>
        </p:txBody>
      </p:sp>
      <p:sp>
        <p:nvSpPr>
          <p:cNvPr id="61" name="Text 59"/>
          <p:cNvSpPr/>
          <p:nvPr/>
        </p:nvSpPr>
        <p:spPr>
          <a:xfrm>
            <a:off x="457200" y="3703320"/>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a:t>
            </a:r>
            <a:endParaRPr lang="en-US" sz="850" dirty="0"/>
          </a:p>
        </p:txBody>
      </p:sp>
      <p:sp>
        <p:nvSpPr>
          <p:cNvPr id="62" name="Text 60"/>
          <p:cNvSpPr/>
          <p:nvPr/>
        </p:nvSpPr>
        <p:spPr>
          <a:xfrm>
            <a:off x="1572768" y="3703320"/>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Decide budget ownership: Hansh, Shefali, or future Producer? This is blocking the budget line in the playbook.</a:t>
            </a:r>
            <a:endParaRPr lang="en-US" sz="950" dirty="0"/>
          </a:p>
        </p:txBody>
      </p:sp>
      <p:sp>
        <p:nvSpPr>
          <p:cNvPr id="63" name="Shape 61"/>
          <p:cNvSpPr/>
          <p:nvPr/>
        </p:nvSpPr>
        <p:spPr>
          <a:xfrm>
            <a:off x="7077456" y="3712464"/>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64" name="Text 62"/>
          <p:cNvSpPr/>
          <p:nvPr/>
        </p:nvSpPr>
        <p:spPr>
          <a:xfrm>
            <a:off x="7077456" y="3730752"/>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a:t>
            </a:r>
            <a:endParaRPr lang="en-US" sz="750" dirty="0"/>
          </a:p>
        </p:txBody>
      </p:sp>
      <p:sp>
        <p:nvSpPr>
          <p:cNvPr id="65" name="Shape 63"/>
          <p:cNvSpPr/>
          <p:nvPr/>
        </p:nvSpPr>
        <p:spPr>
          <a:xfrm>
            <a:off x="7818120" y="3712464"/>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66" name="Text 64"/>
          <p:cNvSpPr/>
          <p:nvPr/>
        </p:nvSpPr>
        <p:spPr>
          <a:xfrm>
            <a:off x="7818120" y="3730752"/>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67" name="Shape 65"/>
          <p:cNvSpPr/>
          <p:nvPr/>
        </p:nvSpPr>
        <p:spPr>
          <a:xfrm>
            <a:off x="347472" y="3986784"/>
            <a:ext cx="8430768" cy="347472"/>
          </a:xfrm>
          <a:prstGeom prst="rect">
            <a:avLst/>
          </a:prstGeom>
          <a:solidFill>
            <a:srgbClr val="F3F4F6"/>
          </a:solidFill>
          <a:ln w="12700">
            <a:solidFill>
              <a:srgbClr val="D1D5DB"/>
            </a:solidFill>
            <a:prstDash val="solid"/>
          </a:ln>
        </p:spPr>
        <p:txBody>
          <a:bodyPr/>
          <a:lstStyle/>
          <a:p>
            <a:endParaRPr lang="en-US"/>
          </a:p>
        </p:txBody>
      </p:sp>
      <p:sp>
        <p:nvSpPr>
          <p:cNvPr id="68" name="Shape 66"/>
          <p:cNvSpPr/>
          <p:nvPr/>
        </p:nvSpPr>
        <p:spPr>
          <a:xfrm>
            <a:off x="347472" y="3986784"/>
            <a:ext cx="54864" cy="347472"/>
          </a:xfrm>
          <a:prstGeom prst="rect">
            <a:avLst/>
          </a:prstGeom>
          <a:solidFill>
            <a:srgbClr val="1A2B4A"/>
          </a:solidFill>
          <a:ln w="12700">
            <a:solidFill>
              <a:srgbClr val="1A2B4A"/>
            </a:solidFill>
            <a:prstDash val="solid"/>
          </a:ln>
        </p:spPr>
        <p:txBody>
          <a:bodyPr/>
          <a:lstStyle/>
          <a:p>
            <a:endParaRPr lang="en-US"/>
          </a:p>
        </p:txBody>
      </p:sp>
      <p:sp>
        <p:nvSpPr>
          <p:cNvPr id="69" name="Text 67"/>
          <p:cNvSpPr/>
          <p:nvPr/>
        </p:nvSpPr>
        <p:spPr>
          <a:xfrm>
            <a:off x="457200" y="4050792"/>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a:t>
            </a:r>
            <a:endParaRPr lang="en-US" sz="850" dirty="0"/>
          </a:p>
        </p:txBody>
      </p:sp>
      <p:sp>
        <p:nvSpPr>
          <p:cNvPr id="70" name="Text 68"/>
          <p:cNvSpPr/>
          <p:nvPr/>
        </p:nvSpPr>
        <p:spPr>
          <a:xfrm>
            <a:off x="1572768" y="4050792"/>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Clarify Exec/Producer definition with Shefali before Netflix pitch. Not blocking immediate production.</a:t>
            </a:r>
            <a:endParaRPr lang="en-US" sz="950" dirty="0"/>
          </a:p>
        </p:txBody>
      </p:sp>
      <p:sp>
        <p:nvSpPr>
          <p:cNvPr id="71" name="Shape 69"/>
          <p:cNvSpPr/>
          <p:nvPr/>
        </p:nvSpPr>
        <p:spPr>
          <a:xfrm>
            <a:off x="7077456" y="4059936"/>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72" name="Text 70"/>
          <p:cNvSpPr/>
          <p:nvPr/>
        </p:nvSpPr>
        <p:spPr>
          <a:xfrm>
            <a:off x="7077456" y="4078224"/>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M2</a:t>
            </a:r>
            <a:endParaRPr lang="en-US" sz="750" dirty="0"/>
          </a:p>
        </p:txBody>
      </p:sp>
      <p:sp>
        <p:nvSpPr>
          <p:cNvPr id="73" name="Shape 71"/>
          <p:cNvSpPr/>
          <p:nvPr/>
        </p:nvSpPr>
        <p:spPr>
          <a:xfrm>
            <a:off x="7818120" y="4059936"/>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74" name="Text 72"/>
          <p:cNvSpPr/>
          <p:nvPr/>
        </p:nvSpPr>
        <p:spPr>
          <a:xfrm>
            <a:off x="7818120" y="4078224"/>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75" name="Shape 73"/>
          <p:cNvSpPr/>
          <p:nvPr/>
        </p:nvSpPr>
        <p:spPr>
          <a:xfrm>
            <a:off x="347472" y="4334256"/>
            <a:ext cx="8430768" cy="347472"/>
          </a:xfrm>
          <a:prstGeom prst="rect">
            <a:avLst/>
          </a:prstGeom>
          <a:solidFill>
            <a:srgbClr val="FFFFFF"/>
          </a:solidFill>
          <a:ln w="12700">
            <a:solidFill>
              <a:srgbClr val="D1D5DB"/>
            </a:solidFill>
            <a:prstDash val="solid"/>
          </a:ln>
        </p:spPr>
        <p:txBody>
          <a:bodyPr/>
          <a:lstStyle/>
          <a:p>
            <a:endParaRPr lang="en-US"/>
          </a:p>
        </p:txBody>
      </p:sp>
      <p:sp>
        <p:nvSpPr>
          <p:cNvPr id="76" name="Shape 74"/>
          <p:cNvSpPr/>
          <p:nvPr/>
        </p:nvSpPr>
        <p:spPr>
          <a:xfrm>
            <a:off x="347472" y="4334256"/>
            <a:ext cx="54864" cy="347472"/>
          </a:xfrm>
          <a:prstGeom prst="rect">
            <a:avLst/>
          </a:prstGeom>
          <a:solidFill>
            <a:srgbClr val="0D7377"/>
          </a:solidFill>
          <a:ln w="12700">
            <a:solidFill>
              <a:srgbClr val="0D7377"/>
            </a:solidFill>
            <a:prstDash val="solid"/>
          </a:ln>
        </p:spPr>
        <p:txBody>
          <a:bodyPr/>
          <a:lstStyle/>
          <a:p>
            <a:endParaRPr lang="en-US"/>
          </a:p>
        </p:txBody>
      </p:sp>
      <p:sp>
        <p:nvSpPr>
          <p:cNvPr id="77" name="Text 75"/>
          <p:cNvSpPr/>
          <p:nvPr/>
        </p:nvSpPr>
        <p:spPr>
          <a:xfrm>
            <a:off x="457200" y="4398264"/>
            <a:ext cx="1051560" cy="219456"/>
          </a:xfrm>
          <a:prstGeom prst="rect">
            <a:avLst/>
          </a:prstGeom>
          <a:noFill/>
          <a:ln/>
        </p:spPr>
        <p:txBody>
          <a:bodyPr wrap="square" lIns="0" tIns="0" rIns="0" bIns="0" rtlCol="0" anchor="ctr"/>
          <a:lstStyle/>
          <a:p>
            <a:pPr marL="0" indent="0">
              <a:buNone/>
            </a:pPr>
            <a:r>
              <a:rPr lang="en-US" sz="850" b="1" dirty="0">
                <a:solidFill>
                  <a:srgbClr val="0D7377"/>
                </a:solidFill>
                <a:latin typeface="Calibri" pitchFamily="34" charset="0"/>
                <a:ea typeface="Calibri" pitchFamily="34" charset="-122"/>
                <a:cs typeface="Calibri" pitchFamily="34" charset="-120"/>
              </a:rPr>
              <a:t>Hansh</a:t>
            </a:r>
            <a:endParaRPr lang="en-US" sz="850" dirty="0"/>
          </a:p>
        </p:txBody>
      </p:sp>
      <p:sp>
        <p:nvSpPr>
          <p:cNvPr id="78" name="Text 76"/>
          <p:cNvSpPr/>
          <p:nvPr/>
        </p:nvSpPr>
        <p:spPr>
          <a:xfrm>
            <a:off x="1572768" y="4398264"/>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Set up GitHub repository and full folder structure before M2 filming begins. Nothing gets filmed until this system exists.</a:t>
            </a:r>
            <a:endParaRPr lang="en-US" sz="950" dirty="0"/>
          </a:p>
        </p:txBody>
      </p:sp>
      <p:sp>
        <p:nvSpPr>
          <p:cNvPr id="79" name="Shape 77"/>
          <p:cNvSpPr/>
          <p:nvPr/>
        </p:nvSpPr>
        <p:spPr>
          <a:xfrm>
            <a:off x="7077456" y="4407408"/>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80" name="Text 78"/>
          <p:cNvSpPr/>
          <p:nvPr/>
        </p:nvSpPr>
        <p:spPr>
          <a:xfrm>
            <a:off x="7077456" y="4425696"/>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M1 Wk1</a:t>
            </a:r>
            <a:endParaRPr lang="en-US" sz="750" dirty="0"/>
          </a:p>
        </p:txBody>
      </p:sp>
      <p:sp>
        <p:nvSpPr>
          <p:cNvPr id="81" name="Shape 79"/>
          <p:cNvSpPr/>
          <p:nvPr/>
        </p:nvSpPr>
        <p:spPr>
          <a:xfrm>
            <a:off x="7818120" y="4407408"/>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82" name="Text 80"/>
          <p:cNvSpPr/>
          <p:nvPr/>
        </p:nvSpPr>
        <p:spPr>
          <a:xfrm>
            <a:off x="7818120" y="4425696"/>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83" name="Shape 81"/>
          <p:cNvSpPr/>
          <p:nvPr/>
        </p:nvSpPr>
        <p:spPr>
          <a:xfrm>
            <a:off x="347472" y="4681728"/>
            <a:ext cx="8430768" cy="347472"/>
          </a:xfrm>
          <a:prstGeom prst="rect">
            <a:avLst/>
          </a:prstGeom>
          <a:solidFill>
            <a:srgbClr val="F3F4F6"/>
          </a:solidFill>
          <a:ln w="12700">
            <a:solidFill>
              <a:srgbClr val="D1D5DB"/>
            </a:solidFill>
            <a:prstDash val="solid"/>
          </a:ln>
        </p:spPr>
        <p:txBody>
          <a:bodyPr/>
          <a:lstStyle/>
          <a:p>
            <a:endParaRPr lang="en-US"/>
          </a:p>
        </p:txBody>
      </p:sp>
      <p:sp>
        <p:nvSpPr>
          <p:cNvPr id="84" name="Shape 82"/>
          <p:cNvSpPr/>
          <p:nvPr/>
        </p:nvSpPr>
        <p:spPr>
          <a:xfrm>
            <a:off x="347472" y="4681728"/>
            <a:ext cx="54864" cy="347472"/>
          </a:xfrm>
          <a:prstGeom prst="rect">
            <a:avLst/>
          </a:prstGeom>
          <a:solidFill>
            <a:srgbClr val="1A2B4A"/>
          </a:solidFill>
          <a:ln w="12700">
            <a:solidFill>
              <a:srgbClr val="1A2B4A"/>
            </a:solidFill>
            <a:prstDash val="solid"/>
          </a:ln>
        </p:spPr>
        <p:txBody>
          <a:bodyPr/>
          <a:lstStyle/>
          <a:p>
            <a:endParaRPr lang="en-US"/>
          </a:p>
        </p:txBody>
      </p:sp>
      <p:sp>
        <p:nvSpPr>
          <p:cNvPr id="85" name="Text 83"/>
          <p:cNvSpPr/>
          <p:nvPr/>
        </p:nvSpPr>
        <p:spPr>
          <a:xfrm>
            <a:off x="457200" y="4745736"/>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All</a:t>
            </a:r>
            <a:endParaRPr lang="en-US" sz="850" dirty="0"/>
          </a:p>
        </p:txBody>
      </p:sp>
      <p:sp>
        <p:nvSpPr>
          <p:cNvPr id="86" name="Text 84"/>
          <p:cNvSpPr/>
          <p:nvPr/>
        </p:nvSpPr>
        <p:spPr>
          <a:xfrm>
            <a:off x="1572768" y="4745736"/>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Weekly async update to GitHub README by each workstream owner every Friday. WhatsApp for urgent decisions only. Bilateral Zoom if thread exceeds 5 messages.</a:t>
            </a:r>
            <a:endParaRPr lang="en-US" sz="950" dirty="0"/>
          </a:p>
        </p:txBody>
      </p:sp>
      <p:sp>
        <p:nvSpPr>
          <p:cNvPr id="87" name="Shape 85"/>
          <p:cNvSpPr/>
          <p:nvPr/>
        </p:nvSpPr>
        <p:spPr>
          <a:xfrm>
            <a:off x="7077456" y="4754880"/>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88" name="Text 86"/>
          <p:cNvSpPr/>
          <p:nvPr/>
        </p:nvSpPr>
        <p:spPr>
          <a:xfrm>
            <a:off x="7077456" y="4773168"/>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Ongoing</a:t>
            </a:r>
            <a:endParaRPr lang="en-US" sz="750" dirty="0"/>
          </a:p>
        </p:txBody>
      </p:sp>
      <p:sp>
        <p:nvSpPr>
          <p:cNvPr id="89" name="Shape 87"/>
          <p:cNvSpPr/>
          <p:nvPr/>
        </p:nvSpPr>
        <p:spPr>
          <a:xfrm>
            <a:off x="7818120" y="4754880"/>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90" name="Text 88"/>
          <p:cNvSpPr/>
          <p:nvPr/>
        </p:nvSpPr>
        <p:spPr>
          <a:xfrm>
            <a:off x="7818120" y="4773168"/>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ROLES &amp; RESPONSIBILITIES  —  v3.0  |  JUNE 9, 2025</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Roles &amp; Responsibilities</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Colour = person. Consistent across all slides in this deck.</a:t>
            </a:r>
            <a:endParaRPr lang="en-US" sz="1100" dirty="0"/>
          </a:p>
        </p:txBody>
      </p:sp>
      <p:sp>
        <p:nvSpPr>
          <p:cNvPr id="6" name="Shape 4"/>
          <p:cNvSpPr/>
          <p:nvPr/>
        </p:nvSpPr>
        <p:spPr>
          <a:xfrm>
            <a:off x="347472" y="1280160"/>
            <a:ext cx="1920240" cy="274320"/>
          </a:xfrm>
          <a:prstGeom prst="rect">
            <a:avLst/>
          </a:prstGeom>
          <a:solidFill>
            <a:srgbClr val="1A2B4A"/>
          </a:solidFill>
          <a:ln w="12700">
            <a:solidFill>
              <a:srgbClr val="1A2B4A"/>
            </a:solidFill>
            <a:prstDash val="solid"/>
          </a:ln>
        </p:spPr>
        <p:txBody>
          <a:bodyPr/>
          <a:lstStyle/>
          <a:p>
            <a:endParaRPr lang="en-US"/>
          </a:p>
        </p:txBody>
      </p:sp>
      <p:sp>
        <p:nvSpPr>
          <p:cNvPr id="7" name="Text 5"/>
          <p:cNvSpPr/>
          <p:nvPr/>
        </p:nvSpPr>
        <p:spPr>
          <a:xfrm>
            <a:off x="402336" y="1325880"/>
            <a:ext cx="1847088" cy="18288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TITLE(S)</a:t>
            </a:r>
            <a:endParaRPr lang="en-US" sz="900" dirty="0"/>
          </a:p>
        </p:txBody>
      </p:sp>
      <p:sp>
        <p:nvSpPr>
          <p:cNvPr id="8" name="Shape 6"/>
          <p:cNvSpPr/>
          <p:nvPr/>
        </p:nvSpPr>
        <p:spPr>
          <a:xfrm>
            <a:off x="2267712" y="1280160"/>
            <a:ext cx="1417320" cy="274320"/>
          </a:xfrm>
          <a:prstGeom prst="rect">
            <a:avLst/>
          </a:prstGeom>
          <a:solidFill>
            <a:srgbClr val="1A2B4A"/>
          </a:solidFill>
          <a:ln w="12700">
            <a:solidFill>
              <a:srgbClr val="1A2B4A"/>
            </a:solidFill>
            <a:prstDash val="solid"/>
          </a:ln>
        </p:spPr>
        <p:txBody>
          <a:bodyPr/>
          <a:lstStyle/>
          <a:p>
            <a:endParaRPr lang="en-US"/>
          </a:p>
        </p:txBody>
      </p:sp>
      <p:sp>
        <p:nvSpPr>
          <p:cNvPr id="9" name="Text 7"/>
          <p:cNvSpPr/>
          <p:nvPr/>
        </p:nvSpPr>
        <p:spPr>
          <a:xfrm>
            <a:off x="2322576" y="1325880"/>
            <a:ext cx="1344168" cy="18288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NAME</a:t>
            </a:r>
            <a:endParaRPr lang="en-US" sz="900" dirty="0"/>
          </a:p>
        </p:txBody>
      </p:sp>
      <p:sp>
        <p:nvSpPr>
          <p:cNvPr id="10" name="Shape 8"/>
          <p:cNvSpPr/>
          <p:nvPr/>
        </p:nvSpPr>
        <p:spPr>
          <a:xfrm>
            <a:off x="3685032" y="1280160"/>
            <a:ext cx="3246120" cy="274320"/>
          </a:xfrm>
          <a:prstGeom prst="rect">
            <a:avLst/>
          </a:prstGeom>
          <a:solidFill>
            <a:srgbClr val="1A2B4A"/>
          </a:solidFill>
          <a:ln w="12700">
            <a:solidFill>
              <a:srgbClr val="1A2B4A"/>
            </a:solidFill>
            <a:prstDash val="solid"/>
          </a:ln>
        </p:spPr>
        <p:txBody>
          <a:bodyPr/>
          <a:lstStyle/>
          <a:p>
            <a:endParaRPr lang="en-US"/>
          </a:p>
        </p:txBody>
      </p:sp>
      <p:sp>
        <p:nvSpPr>
          <p:cNvPr id="11" name="Text 9"/>
          <p:cNvSpPr/>
          <p:nvPr/>
        </p:nvSpPr>
        <p:spPr>
          <a:xfrm>
            <a:off x="3739896" y="1325880"/>
            <a:ext cx="3172968" cy="18288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WHAT THEY OWN</a:t>
            </a:r>
            <a:endParaRPr lang="en-US" sz="900" dirty="0"/>
          </a:p>
        </p:txBody>
      </p:sp>
      <p:sp>
        <p:nvSpPr>
          <p:cNvPr id="12" name="Shape 10"/>
          <p:cNvSpPr/>
          <p:nvPr/>
        </p:nvSpPr>
        <p:spPr>
          <a:xfrm>
            <a:off x="6931152" y="1280160"/>
            <a:ext cx="2011680" cy="274320"/>
          </a:xfrm>
          <a:prstGeom prst="rect">
            <a:avLst/>
          </a:prstGeom>
          <a:solidFill>
            <a:srgbClr val="1A2B4A"/>
          </a:solidFill>
          <a:ln w="12700">
            <a:solidFill>
              <a:srgbClr val="1A2B4A"/>
            </a:solidFill>
            <a:prstDash val="solid"/>
          </a:ln>
        </p:spPr>
        <p:txBody>
          <a:bodyPr/>
          <a:lstStyle/>
          <a:p>
            <a:endParaRPr lang="en-US"/>
          </a:p>
        </p:txBody>
      </p:sp>
      <p:sp>
        <p:nvSpPr>
          <p:cNvPr id="13" name="Text 11"/>
          <p:cNvSpPr/>
          <p:nvPr/>
        </p:nvSpPr>
        <p:spPr>
          <a:xfrm>
            <a:off x="6986016" y="1325880"/>
            <a:ext cx="1938528" cy="18288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WHERE TEAM CROSS-SUPPORTS THEM</a:t>
            </a:r>
            <a:endParaRPr lang="en-US" sz="900" dirty="0"/>
          </a:p>
        </p:txBody>
      </p:sp>
      <p:sp>
        <p:nvSpPr>
          <p:cNvPr id="14" name="Shape 12"/>
          <p:cNvSpPr/>
          <p:nvPr/>
        </p:nvSpPr>
        <p:spPr>
          <a:xfrm>
            <a:off x="347472" y="1554480"/>
            <a:ext cx="1920240" cy="475488"/>
          </a:xfrm>
          <a:prstGeom prst="rect">
            <a:avLst/>
          </a:prstGeom>
          <a:solidFill>
            <a:srgbClr val="FFFFFF"/>
          </a:solidFill>
          <a:ln w="12700">
            <a:solidFill>
              <a:srgbClr val="D1D5DB"/>
            </a:solidFill>
            <a:prstDash val="solid"/>
          </a:ln>
        </p:spPr>
        <p:txBody>
          <a:bodyPr/>
          <a:lstStyle/>
          <a:p>
            <a:endParaRPr lang="en-US"/>
          </a:p>
        </p:txBody>
      </p:sp>
      <p:sp>
        <p:nvSpPr>
          <p:cNvPr id="15" name="Shape 13"/>
          <p:cNvSpPr/>
          <p:nvPr/>
        </p:nvSpPr>
        <p:spPr>
          <a:xfrm>
            <a:off x="347472" y="1554480"/>
            <a:ext cx="54864" cy="475488"/>
          </a:xfrm>
          <a:prstGeom prst="rect">
            <a:avLst/>
          </a:prstGeom>
          <a:solidFill>
            <a:srgbClr val="1A2B4A"/>
          </a:solidFill>
          <a:ln w="12700">
            <a:solidFill>
              <a:srgbClr val="1A2B4A"/>
            </a:solidFill>
            <a:prstDash val="solid"/>
          </a:ln>
        </p:spPr>
        <p:txBody>
          <a:bodyPr/>
          <a:lstStyle/>
          <a:p>
            <a:endParaRPr lang="en-US"/>
          </a:p>
        </p:txBody>
      </p:sp>
      <p:sp>
        <p:nvSpPr>
          <p:cNvPr id="16" name="Text 14"/>
          <p:cNvSpPr/>
          <p:nvPr/>
        </p:nvSpPr>
        <p:spPr>
          <a:xfrm>
            <a:off x="438912" y="1591056"/>
            <a:ext cx="1792224" cy="420624"/>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Director</a:t>
            </a:r>
            <a:endParaRPr lang="en-US" sz="900" dirty="0"/>
          </a:p>
        </p:txBody>
      </p:sp>
      <p:sp>
        <p:nvSpPr>
          <p:cNvPr id="17" name="Shape 15"/>
          <p:cNvSpPr/>
          <p:nvPr/>
        </p:nvSpPr>
        <p:spPr>
          <a:xfrm>
            <a:off x="2267712" y="1554480"/>
            <a:ext cx="1417320" cy="475488"/>
          </a:xfrm>
          <a:prstGeom prst="rect">
            <a:avLst/>
          </a:prstGeom>
          <a:solidFill>
            <a:srgbClr val="FFFFFF"/>
          </a:solidFill>
          <a:ln w="12700">
            <a:solidFill>
              <a:srgbClr val="D1D5DB"/>
            </a:solidFill>
            <a:prstDash val="solid"/>
          </a:ln>
        </p:spPr>
        <p:txBody>
          <a:bodyPr/>
          <a:lstStyle/>
          <a:p>
            <a:endParaRPr lang="en-US"/>
          </a:p>
        </p:txBody>
      </p:sp>
      <p:sp>
        <p:nvSpPr>
          <p:cNvPr id="18" name="Text 16"/>
          <p:cNvSpPr/>
          <p:nvPr/>
        </p:nvSpPr>
        <p:spPr>
          <a:xfrm>
            <a:off x="2322576" y="1591056"/>
            <a:ext cx="1325880" cy="420624"/>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Munish Bhardwaj</a:t>
            </a:r>
            <a:endParaRPr lang="en-US" sz="850" dirty="0"/>
          </a:p>
        </p:txBody>
      </p:sp>
      <p:sp>
        <p:nvSpPr>
          <p:cNvPr id="19" name="Shape 17"/>
          <p:cNvSpPr/>
          <p:nvPr/>
        </p:nvSpPr>
        <p:spPr>
          <a:xfrm>
            <a:off x="3685032" y="1554480"/>
            <a:ext cx="3246120" cy="475488"/>
          </a:xfrm>
          <a:prstGeom prst="rect">
            <a:avLst/>
          </a:prstGeom>
          <a:solidFill>
            <a:srgbClr val="FFFFFF"/>
          </a:solidFill>
          <a:ln w="12700">
            <a:solidFill>
              <a:srgbClr val="D1D5DB"/>
            </a:solidFill>
            <a:prstDash val="solid"/>
          </a:ln>
        </p:spPr>
        <p:txBody>
          <a:bodyPr/>
          <a:lstStyle/>
          <a:p>
            <a:endParaRPr lang="en-US"/>
          </a:p>
        </p:txBody>
      </p:sp>
      <p:sp>
        <p:nvSpPr>
          <p:cNvPr id="20" name="Text 18"/>
          <p:cNvSpPr/>
          <p:nvPr/>
        </p:nvSpPr>
        <p:spPr>
          <a:xfrm>
            <a:off x="3739896" y="1591056"/>
            <a:ext cx="3154680" cy="420624"/>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Creative vision, story direction, picture lock, Netflix relationship, music sign-off, weekly meeting chair, tiebreaker on all decisions.</a:t>
            </a:r>
            <a:endParaRPr lang="en-US" sz="850" dirty="0"/>
          </a:p>
        </p:txBody>
      </p:sp>
      <p:sp>
        <p:nvSpPr>
          <p:cNvPr id="21" name="Shape 19"/>
          <p:cNvSpPr/>
          <p:nvPr/>
        </p:nvSpPr>
        <p:spPr>
          <a:xfrm>
            <a:off x="6931152" y="1554480"/>
            <a:ext cx="2011680" cy="475488"/>
          </a:xfrm>
          <a:prstGeom prst="rect">
            <a:avLst/>
          </a:prstGeom>
          <a:solidFill>
            <a:srgbClr val="FFFFFF"/>
          </a:solidFill>
          <a:ln w="12700">
            <a:solidFill>
              <a:srgbClr val="D1D5DB"/>
            </a:solidFill>
            <a:prstDash val="solid"/>
          </a:ln>
        </p:spPr>
        <p:txBody>
          <a:bodyPr/>
          <a:lstStyle/>
          <a:p>
            <a:endParaRPr lang="en-US"/>
          </a:p>
        </p:txBody>
      </p:sp>
      <p:sp>
        <p:nvSpPr>
          <p:cNvPr id="22" name="Text 20"/>
          <p:cNvSpPr/>
          <p:nvPr/>
        </p:nvSpPr>
        <p:spPr>
          <a:xfrm>
            <a:off x="6986016" y="1591056"/>
            <a:ext cx="1920240" cy="420624"/>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Shefali manages scheduling. Director reviews footage.</a:t>
            </a:r>
            <a:endParaRPr lang="en-US" sz="850" dirty="0"/>
          </a:p>
        </p:txBody>
      </p:sp>
      <p:sp>
        <p:nvSpPr>
          <p:cNvPr id="23" name="Shape 21"/>
          <p:cNvSpPr/>
          <p:nvPr/>
        </p:nvSpPr>
        <p:spPr>
          <a:xfrm>
            <a:off x="347472" y="2029968"/>
            <a:ext cx="1920240" cy="475488"/>
          </a:xfrm>
          <a:prstGeom prst="rect">
            <a:avLst/>
          </a:prstGeom>
          <a:solidFill>
            <a:srgbClr val="F3F4F6"/>
          </a:solidFill>
          <a:ln w="12700">
            <a:solidFill>
              <a:srgbClr val="D1D5DB"/>
            </a:solidFill>
            <a:prstDash val="solid"/>
          </a:ln>
        </p:spPr>
        <p:txBody>
          <a:bodyPr/>
          <a:lstStyle/>
          <a:p>
            <a:endParaRPr lang="en-US"/>
          </a:p>
        </p:txBody>
      </p:sp>
      <p:sp>
        <p:nvSpPr>
          <p:cNvPr id="24" name="Shape 22"/>
          <p:cNvSpPr/>
          <p:nvPr/>
        </p:nvSpPr>
        <p:spPr>
          <a:xfrm>
            <a:off x="347472" y="2029968"/>
            <a:ext cx="54864" cy="475488"/>
          </a:xfrm>
          <a:prstGeom prst="rect">
            <a:avLst/>
          </a:prstGeom>
          <a:solidFill>
            <a:srgbClr val="6B21A8"/>
          </a:solidFill>
          <a:ln w="12700">
            <a:solidFill>
              <a:srgbClr val="6B21A8"/>
            </a:solidFill>
            <a:prstDash val="solid"/>
          </a:ln>
        </p:spPr>
        <p:txBody>
          <a:bodyPr/>
          <a:lstStyle/>
          <a:p>
            <a:endParaRPr lang="en-US"/>
          </a:p>
        </p:txBody>
      </p:sp>
      <p:sp>
        <p:nvSpPr>
          <p:cNvPr id="25" name="Text 23"/>
          <p:cNvSpPr/>
          <p:nvPr/>
        </p:nvSpPr>
        <p:spPr>
          <a:xfrm>
            <a:off x="438912" y="2066544"/>
            <a:ext cx="1792224" cy="420624"/>
          </a:xfrm>
          <a:prstGeom prst="rect">
            <a:avLst/>
          </a:prstGeom>
          <a:noFill/>
          <a:ln/>
        </p:spPr>
        <p:txBody>
          <a:bodyPr wrap="square" lIns="0" tIns="0" rIns="0" bIns="0" rtlCol="0" anchor="ctr"/>
          <a:lstStyle/>
          <a:p>
            <a:pPr marL="0" indent="0">
              <a:buNone/>
            </a:pPr>
            <a:r>
              <a:rPr lang="en-US" sz="900" b="1" dirty="0">
                <a:solidFill>
                  <a:srgbClr val="6B21A8"/>
                </a:solidFill>
                <a:latin typeface="Calibri" pitchFamily="34" charset="0"/>
                <a:ea typeface="Calibri" pitchFamily="34" charset="-122"/>
                <a:cs typeface="Calibri" pitchFamily="34" charset="-120"/>
              </a:rPr>
              <a:t>Showrunner / Narrator /</a:t>
            </a:r>
            <a:endParaRPr lang="en-US" sz="900" dirty="0"/>
          </a:p>
          <a:p>
            <a:pPr marL="0" indent="0">
              <a:buNone/>
            </a:pPr>
            <a:r>
              <a:rPr lang="en-US" sz="900" b="1" dirty="0">
                <a:solidFill>
                  <a:srgbClr val="6B21A8"/>
                </a:solidFill>
                <a:latin typeface="Calibri" pitchFamily="34" charset="0"/>
                <a:ea typeface="Calibri" pitchFamily="34" charset="-122"/>
                <a:cs typeface="Calibri" pitchFamily="34" charset="-120"/>
              </a:rPr>
              <a:t>Story Producer / PM (temp)</a:t>
            </a:r>
            <a:endParaRPr lang="en-US" sz="900" dirty="0"/>
          </a:p>
        </p:txBody>
      </p:sp>
      <p:sp>
        <p:nvSpPr>
          <p:cNvPr id="26" name="Shape 24"/>
          <p:cNvSpPr/>
          <p:nvPr/>
        </p:nvSpPr>
        <p:spPr>
          <a:xfrm>
            <a:off x="2267712" y="2029968"/>
            <a:ext cx="1417320" cy="475488"/>
          </a:xfrm>
          <a:prstGeom prst="rect">
            <a:avLst/>
          </a:prstGeom>
          <a:solidFill>
            <a:srgbClr val="F3F4F6"/>
          </a:solidFill>
          <a:ln w="12700">
            <a:solidFill>
              <a:srgbClr val="D1D5DB"/>
            </a:solidFill>
            <a:prstDash val="solid"/>
          </a:ln>
        </p:spPr>
        <p:txBody>
          <a:bodyPr/>
          <a:lstStyle/>
          <a:p>
            <a:endParaRPr lang="en-US"/>
          </a:p>
        </p:txBody>
      </p:sp>
      <p:sp>
        <p:nvSpPr>
          <p:cNvPr id="27" name="Text 25"/>
          <p:cNvSpPr/>
          <p:nvPr/>
        </p:nvSpPr>
        <p:spPr>
          <a:xfrm>
            <a:off x="2322576" y="2066544"/>
            <a:ext cx="1325880" cy="420624"/>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Shefali Mody + Eddie</a:t>
            </a:r>
            <a:endParaRPr lang="en-US" sz="850" dirty="0"/>
          </a:p>
        </p:txBody>
      </p:sp>
      <p:sp>
        <p:nvSpPr>
          <p:cNvPr id="28" name="Shape 26"/>
          <p:cNvSpPr/>
          <p:nvPr/>
        </p:nvSpPr>
        <p:spPr>
          <a:xfrm>
            <a:off x="3685032" y="2029968"/>
            <a:ext cx="3246120" cy="475488"/>
          </a:xfrm>
          <a:prstGeom prst="rect">
            <a:avLst/>
          </a:prstGeom>
          <a:solidFill>
            <a:srgbClr val="F3F4F6"/>
          </a:solidFill>
          <a:ln w="12700">
            <a:solidFill>
              <a:srgbClr val="D1D5DB"/>
            </a:solidFill>
            <a:prstDash val="solid"/>
          </a:ln>
        </p:spPr>
        <p:txBody>
          <a:bodyPr/>
          <a:lstStyle/>
          <a:p>
            <a:endParaRPr lang="en-US"/>
          </a:p>
        </p:txBody>
      </p:sp>
      <p:sp>
        <p:nvSpPr>
          <p:cNvPr id="29" name="Text 27"/>
          <p:cNvSpPr/>
          <p:nvPr/>
        </p:nvSpPr>
        <p:spPr>
          <a:xfrm>
            <a:off x="3739896" y="2066544"/>
            <a:ext cx="3154680" cy="420624"/>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Questionnaire to all 30 (M1). Zoom interviews of the 5 selected protagonists (with Eddie). Weekly prompts. Character arc &amp; story bible. All Project Manager (PM) duties. Cut review coordination.</a:t>
            </a:r>
            <a:endParaRPr lang="en-US" sz="850" dirty="0"/>
          </a:p>
        </p:txBody>
      </p:sp>
      <p:sp>
        <p:nvSpPr>
          <p:cNvPr id="30" name="Shape 28"/>
          <p:cNvSpPr/>
          <p:nvPr/>
        </p:nvSpPr>
        <p:spPr>
          <a:xfrm>
            <a:off x="6931152" y="2029968"/>
            <a:ext cx="2011680" cy="475488"/>
          </a:xfrm>
          <a:prstGeom prst="rect">
            <a:avLst/>
          </a:prstGeom>
          <a:solidFill>
            <a:srgbClr val="F3F4F6"/>
          </a:solidFill>
          <a:ln w="12700">
            <a:solidFill>
              <a:srgbClr val="D1D5DB"/>
            </a:solidFill>
            <a:prstDash val="solid"/>
          </a:ln>
        </p:spPr>
        <p:txBody>
          <a:bodyPr/>
          <a:lstStyle/>
          <a:p>
            <a:endParaRPr lang="en-US"/>
          </a:p>
        </p:txBody>
      </p:sp>
      <p:sp>
        <p:nvSpPr>
          <p:cNvPr id="31" name="Text 29"/>
          <p:cNvSpPr/>
          <p:nvPr/>
        </p:nvSpPr>
        <p:spPr>
          <a:xfrm>
            <a:off x="6986016" y="2066544"/>
            <a:ext cx="1920240" cy="420624"/>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Munish owns all editorial. Eddie/Munish &amp; Shefali review initial content.</a:t>
            </a:r>
            <a:endParaRPr lang="en-US" sz="850" dirty="0"/>
          </a:p>
        </p:txBody>
      </p:sp>
      <p:sp>
        <p:nvSpPr>
          <p:cNvPr id="32" name="Shape 30"/>
          <p:cNvSpPr/>
          <p:nvPr/>
        </p:nvSpPr>
        <p:spPr>
          <a:xfrm>
            <a:off x="347472" y="2505456"/>
            <a:ext cx="1920240" cy="402336"/>
          </a:xfrm>
          <a:prstGeom prst="rect">
            <a:avLst/>
          </a:prstGeom>
          <a:solidFill>
            <a:srgbClr val="FFFFFF"/>
          </a:solidFill>
          <a:ln w="12700">
            <a:solidFill>
              <a:srgbClr val="D1D5DB"/>
            </a:solidFill>
            <a:prstDash val="solid"/>
          </a:ln>
        </p:spPr>
        <p:txBody>
          <a:bodyPr/>
          <a:lstStyle/>
          <a:p>
            <a:endParaRPr lang="en-US"/>
          </a:p>
        </p:txBody>
      </p:sp>
      <p:sp>
        <p:nvSpPr>
          <p:cNvPr id="33" name="Shape 31"/>
          <p:cNvSpPr/>
          <p:nvPr/>
        </p:nvSpPr>
        <p:spPr>
          <a:xfrm>
            <a:off x="347472" y="2505456"/>
            <a:ext cx="54864" cy="402336"/>
          </a:xfrm>
          <a:prstGeom prst="rect">
            <a:avLst/>
          </a:prstGeom>
          <a:solidFill>
            <a:srgbClr val="C05621"/>
          </a:solidFill>
          <a:ln w="12700">
            <a:solidFill>
              <a:srgbClr val="C05621"/>
            </a:solidFill>
            <a:prstDash val="solid"/>
          </a:ln>
        </p:spPr>
        <p:txBody>
          <a:bodyPr/>
          <a:lstStyle/>
          <a:p>
            <a:endParaRPr lang="en-US"/>
          </a:p>
        </p:txBody>
      </p:sp>
      <p:sp>
        <p:nvSpPr>
          <p:cNvPr id="34" name="Text 32"/>
          <p:cNvSpPr/>
          <p:nvPr/>
        </p:nvSpPr>
        <p:spPr>
          <a:xfrm>
            <a:off x="438912" y="2542032"/>
            <a:ext cx="1792224" cy="347472"/>
          </a:xfrm>
          <a:prstGeom prst="rect">
            <a:avLst/>
          </a:prstGeom>
          <a:noFill/>
          <a:ln/>
        </p:spPr>
        <p:txBody>
          <a:bodyPr wrap="square" lIns="0" tIns="0" rIns="0" bIns="0" rtlCol="0" anchor="ctr"/>
          <a:lstStyle/>
          <a:p>
            <a:pPr marL="0" indent="0">
              <a:buNone/>
            </a:pPr>
            <a:r>
              <a:rPr lang="en-US" sz="900" b="1" dirty="0">
                <a:solidFill>
                  <a:srgbClr val="C05621"/>
                </a:solidFill>
                <a:latin typeface="Calibri" pitchFamily="34" charset="0"/>
                <a:ea typeface="Calibri" pitchFamily="34" charset="-122"/>
                <a:cs typeface="Calibri" pitchFamily="34" charset="-120"/>
              </a:rPr>
              <a:t>Director of Photography</a:t>
            </a:r>
            <a:endParaRPr lang="en-US" sz="900" dirty="0"/>
          </a:p>
        </p:txBody>
      </p:sp>
      <p:sp>
        <p:nvSpPr>
          <p:cNvPr id="35" name="Shape 33"/>
          <p:cNvSpPr/>
          <p:nvPr/>
        </p:nvSpPr>
        <p:spPr>
          <a:xfrm>
            <a:off x="2267712" y="2505456"/>
            <a:ext cx="1417320" cy="402336"/>
          </a:xfrm>
          <a:prstGeom prst="rect">
            <a:avLst/>
          </a:prstGeom>
          <a:solidFill>
            <a:srgbClr val="FFFFFF"/>
          </a:solidFill>
          <a:ln w="12700">
            <a:solidFill>
              <a:srgbClr val="D1D5DB"/>
            </a:solidFill>
            <a:prstDash val="solid"/>
          </a:ln>
        </p:spPr>
        <p:txBody>
          <a:bodyPr/>
          <a:lstStyle/>
          <a:p>
            <a:endParaRPr lang="en-US"/>
          </a:p>
        </p:txBody>
      </p:sp>
      <p:sp>
        <p:nvSpPr>
          <p:cNvPr id="36" name="Text 34"/>
          <p:cNvSpPr/>
          <p:nvPr/>
        </p:nvSpPr>
        <p:spPr>
          <a:xfrm>
            <a:off x="2322576" y="2542032"/>
            <a:ext cx="132588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Eddie Bhardwaj</a:t>
            </a:r>
            <a:endParaRPr lang="en-US" sz="850" dirty="0"/>
          </a:p>
        </p:txBody>
      </p:sp>
      <p:sp>
        <p:nvSpPr>
          <p:cNvPr id="37" name="Shape 35"/>
          <p:cNvSpPr/>
          <p:nvPr/>
        </p:nvSpPr>
        <p:spPr>
          <a:xfrm>
            <a:off x="3685032" y="2505456"/>
            <a:ext cx="3246120" cy="402336"/>
          </a:xfrm>
          <a:prstGeom prst="rect">
            <a:avLst/>
          </a:prstGeom>
          <a:solidFill>
            <a:srgbClr val="FFFFFF"/>
          </a:solidFill>
          <a:ln w="12700">
            <a:solidFill>
              <a:srgbClr val="D1D5DB"/>
            </a:solidFill>
            <a:prstDash val="solid"/>
          </a:ln>
        </p:spPr>
        <p:txBody>
          <a:bodyPr/>
          <a:lstStyle/>
          <a:p>
            <a:endParaRPr lang="en-US"/>
          </a:p>
        </p:txBody>
      </p:sp>
      <p:sp>
        <p:nvSpPr>
          <p:cNvPr id="38" name="Text 36"/>
          <p:cNvSpPr/>
          <p:nvPr/>
        </p:nvSpPr>
        <p:spPr>
          <a:xfrm>
            <a:off x="3739896" y="2542032"/>
            <a:ext cx="315468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Hardware tech — call to understand each protagonist's working environment. Camera angles to record. Settings for same footage from different angles.</a:t>
            </a:r>
            <a:endParaRPr lang="en-US" sz="850" dirty="0"/>
          </a:p>
        </p:txBody>
      </p:sp>
      <p:sp>
        <p:nvSpPr>
          <p:cNvPr id="39" name="Shape 37"/>
          <p:cNvSpPr/>
          <p:nvPr/>
        </p:nvSpPr>
        <p:spPr>
          <a:xfrm>
            <a:off x="6931152" y="2505456"/>
            <a:ext cx="2011680" cy="402336"/>
          </a:xfrm>
          <a:prstGeom prst="rect">
            <a:avLst/>
          </a:prstGeom>
          <a:solidFill>
            <a:srgbClr val="FFFFFF"/>
          </a:solidFill>
          <a:ln w="12700">
            <a:solidFill>
              <a:srgbClr val="D1D5DB"/>
            </a:solidFill>
            <a:prstDash val="solid"/>
          </a:ln>
        </p:spPr>
        <p:txBody>
          <a:bodyPr/>
          <a:lstStyle/>
          <a:p>
            <a:endParaRPr lang="en-US"/>
          </a:p>
        </p:txBody>
      </p:sp>
      <p:sp>
        <p:nvSpPr>
          <p:cNvPr id="40" name="Text 38"/>
          <p:cNvSpPr/>
          <p:nvPr/>
        </p:nvSpPr>
        <p:spPr>
          <a:xfrm>
            <a:off x="6986016" y="2542032"/>
            <a:ext cx="192024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Shefali briefs on story priorities. Hansh provides ingest system.</a:t>
            </a:r>
            <a:endParaRPr lang="en-US" sz="850" dirty="0"/>
          </a:p>
        </p:txBody>
      </p:sp>
      <p:sp>
        <p:nvSpPr>
          <p:cNvPr id="41" name="Shape 39"/>
          <p:cNvSpPr/>
          <p:nvPr/>
        </p:nvSpPr>
        <p:spPr>
          <a:xfrm>
            <a:off x="347472" y="2907792"/>
            <a:ext cx="1920240" cy="402336"/>
          </a:xfrm>
          <a:prstGeom prst="rect">
            <a:avLst/>
          </a:prstGeom>
          <a:solidFill>
            <a:srgbClr val="F3F4F6"/>
          </a:solidFill>
          <a:ln w="12700">
            <a:solidFill>
              <a:srgbClr val="D1D5DB"/>
            </a:solidFill>
            <a:prstDash val="solid"/>
          </a:ln>
        </p:spPr>
        <p:txBody>
          <a:bodyPr/>
          <a:lstStyle/>
          <a:p>
            <a:endParaRPr lang="en-US"/>
          </a:p>
        </p:txBody>
      </p:sp>
      <p:sp>
        <p:nvSpPr>
          <p:cNvPr id="42" name="Shape 40"/>
          <p:cNvSpPr/>
          <p:nvPr/>
        </p:nvSpPr>
        <p:spPr>
          <a:xfrm>
            <a:off x="347472" y="2907792"/>
            <a:ext cx="54864" cy="402336"/>
          </a:xfrm>
          <a:prstGeom prst="rect">
            <a:avLst/>
          </a:prstGeom>
          <a:solidFill>
            <a:srgbClr val="0D7377"/>
          </a:solidFill>
          <a:ln w="12700">
            <a:solidFill>
              <a:srgbClr val="0D7377"/>
            </a:solidFill>
            <a:prstDash val="solid"/>
          </a:ln>
        </p:spPr>
        <p:txBody>
          <a:bodyPr/>
          <a:lstStyle/>
          <a:p>
            <a:endParaRPr lang="en-US"/>
          </a:p>
        </p:txBody>
      </p:sp>
      <p:sp>
        <p:nvSpPr>
          <p:cNvPr id="43" name="Text 41"/>
          <p:cNvSpPr/>
          <p:nvPr/>
        </p:nvSpPr>
        <p:spPr>
          <a:xfrm>
            <a:off x="438912" y="2944368"/>
            <a:ext cx="1792224" cy="347472"/>
          </a:xfrm>
          <a:prstGeom prst="rect">
            <a:avLst/>
          </a:prstGeom>
          <a:noFill/>
          <a:ln/>
        </p:spPr>
        <p:txBody>
          <a:bodyPr wrap="square" lIns="0" tIns="0" rIns="0" bIns="0" rtlCol="0" anchor="ctr"/>
          <a:lstStyle/>
          <a:p>
            <a:pPr marL="0" indent="0">
              <a:buNone/>
            </a:pPr>
            <a:r>
              <a:rPr lang="en-US" sz="900" b="1" dirty="0">
                <a:solidFill>
                  <a:srgbClr val="0D7377"/>
                </a:solidFill>
                <a:latin typeface="Calibri" pitchFamily="34" charset="0"/>
                <a:ea typeface="Calibri" pitchFamily="34" charset="-122"/>
                <a:cs typeface="Calibri" pitchFamily="34" charset="-120"/>
              </a:rPr>
              <a:t>Post Production</a:t>
            </a:r>
            <a:endParaRPr lang="en-US" sz="900" dirty="0"/>
          </a:p>
          <a:p>
            <a:pPr marL="0" indent="0">
              <a:buNone/>
            </a:pPr>
            <a:r>
              <a:rPr lang="en-US" sz="900" b="1" dirty="0">
                <a:solidFill>
                  <a:srgbClr val="0D7377"/>
                </a:solidFill>
                <a:latin typeface="Calibri" pitchFamily="34" charset="0"/>
                <a:ea typeface="Calibri" pitchFamily="34" charset="-122"/>
                <a:cs typeface="Calibri" pitchFamily="34" charset="-120"/>
              </a:rPr>
              <a:t>(+ Om Maheshwari)</a:t>
            </a:r>
            <a:endParaRPr lang="en-US" sz="900" dirty="0"/>
          </a:p>
        </p:txBody>
      </p:sp>
      <p:sp>
        <p:nvSpPr>
          <p:cNvPr id="44" name="Shape 42"/>
          <p:cNvSpPr/>
          <p:nvPr/>
        </p:nvSpPr>
        <p:spPr>
          <a:xfrm>
            <a:off x="2267712" y="2907792"/>
            <a:ext cx="1417320" cy="402336"/>
          </a:xfrm>
          <a:prstGeom prst="rect">
            <a:avLst/>
          </a:prstGeom>
          <a:solidFill>
            <a:srgbClr val="F3F4F6"/>
          </a:solidFill>
          <a:ln w="12700">
            <a:solidFill>
              <a:srgbClr val="D1D5DB"/>
            </a:solidFill>
            <a:prstDash val="solid"/>
          </a:ln>
        </p:spPr>
        <p:txBody>
          <a:bodyPr/>
          <a:lstStyle/>
          <a:p>
            <a:endParaRPr lang="en-US"/>
          </a:p>
        </p:txBody>
      </p:sp>
      <p:sp>
        <p:nvSpPr>
          <p:cNvPr id="45" name="Text 43"/>
          <p:cNvSpPr/>
          <p:nvPr/>
        </p:nvSpPr>
        <p:spPr>
          <a:xfrm>
            <a:off x="2322576" y="2944368"/>
            <a:ext cx="132588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Hansh Goyal</a:t>
            </a:r>
            <a:endParaRPr lang="en-US" sz="850" dirty="0"/>
          </a:p>
        </p:txBody>
      </p:sp>
      <p:sp>
        <p:nvSpPr>
          <p:cNvPr id="46" name="Shape 44"/>
          <p:cNvSpPr/>
          <p:nvPr/>
        </p:nvSpPr>
        <p:spPr>
          <a:xfrm>
            <a:off x="3685032" y="2907792"/>
            <a:ext cx="3246120" cy="402336"/>
          </a:xfrm>
          <a:prstGeom prst="rect">
            <a:avLst/>
          </a:prstGeom>
          <a:solidFill>
            <a:srgbClr val="F3F4F6"/>
          </a:solidFill>
          <a:ln w="12700">
            <a:solidFill>
              <a:srgbClr val="D1D5DB"/>
            </a:solidFill>
            <a:prstDash val="solid"/>
          </a:ln>
        </p:spPr>
        <p:txBody>
          <a:bodyPr/>
          <a:lstStyle/>
          <a:p>
            <a:endParaRPr lang="en-US"/>
          </a:p>
        </p:txBody>
      </p:sp>
      <p:sp>
        <p:nvSpPr>
          <p:cNvPr id="47" name="Text 45"/>
          <p:cNvSpPr/>
          <p:nvPr/>
        </p:nvSpPr>
        <p:spPr>
          <a:xfrm>
            <a:off x="3739896" y="2944368"/>
            <a:ext cx="315468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Editing, file video, WhatsApp archive, archival footage, storage &amp; categorisation, sound effects &amp; motion capture, budget tracking, colour grade, sound mix, Netflix delivery.</a:t>
            </a:r>
            <a:endParaRPr lang="en-US" sz="850" dirty="0"/>
          </a:p>
        </p:txBody>
      </p:sp>
      <p:sp>
        <p:nvSpPr>
          <p:cNvPr id="48" name="Shape 46"/>
          <p:cNvSpPr/>
          <p:nvPr/>
        </p:nvSpPr>
        <p:spPr>
          <a:xfrm>
            <a:off x="6931152" y="2907792"/>
            <a:ext cx="2011680" cy="402336"/>
          </a:xfrm>
          <a:prstGeom prst="rect">
            <a:avLst/>
          </a:prstGeom>
          <a:solidFill>
            <a:srgbClr val="F3F4F6"/>
          </a:solidFill>
          <a:ln w="12700">
            <a:solidFill>
              <a:srgbClr val="D1D5DB"/>
            </a:solidFill>
            <a:prstDash val="solid"/>
          </a:ln>
        </p:spPr>
        <p:txBody>
          <a:bodyPr/>
          <a:lstStyle/>
          <a:p>
            <a:endParaRPr lang="en-US"/>
          </a:p>
        </p:txBody>
      </p:sp>
      <p:sp>
        <p:nvSpPr>
          <p:cNvPr id="49" name="Text 47"/>
          <p:cNvSpPr/>
          <p:nvPr/>
        </p:nvSpPr>
        <p:spPr>
          <a:xfrm>
            <a:off x="6986016" y="2944368"/>
            <a:ext cx="192024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Shefali &amp; Eddie view and categorise content.</a:t>
            </a:r>
            <a:endParaRPr lang="en-US" sz="850" dirty="0"/>
          </a:p>
        </p:txBody>
      </p:sp>
      <p:sp>
        <p:nvSpPr>
          <p:cNvPr id="50" name="Shape 48"/>
          <p:cNvSpPr/>
          <p:nvPr/>
        </p:nvSpPr>
        <p:spPr>
          <a:xfrm>
            <a:off x="347472" y="3310128"/>
            <a:ext cx="1920240" cy="402336"/>
          </a:xfrm>
          <a:prstGeom prst="rect">
            <a:avLst/>
          </a:prstGeom>
          <a:solidFill>
            <a:srgbClr val="FFFFFF"/>
          </a:solidFill>
          <a:ln w="12700">
            <a:solidFill>
              <a:srgbClr val="D1D5DB"/>
            </a:solidFill>
            <a:prstDash val="solid"/>
          </a:ln>
        </p:spPr>
        <p:txBody>
          <a:bodyPr/>
          <a:lstStyle/>
          <a:p>
            <a:endParaRPr lang="en-US"/>
          </a:p>
        </p:txBody>
      </p:sp>
      <p:sp>
        <p:nvSpPr>
          <p:cNvPr id="51" name="Shape 49"/>
          <p:cNvSpPr/>
          <p:nvPr/>
        </p:nvSpPr>
        <p:spPr>
          <a:xfrm>
            <a:off x="347472" y="3310128"/>
            <a:ext cx="54864" cy="402336"/>
          </a:xfrm>
          <a:prstGeom prst="rect">
            <a:avLst/>
          </a:prstGeom>
          <a:solidFill>
            <a:srgbClr val="1A6B3C"/>
          </a:solidFill>
          <a:ln w="12700">
            <a:solidFill>
              <a:srgbClr val="1A6B3C"/>
            </a:solidFill>
            <a:prstDash val="solid"/>
          </a:ln>
        </p:spPr>
        <p:txBody>
          <a:bodyPr/>
          <a:lstStyle/>
          <a:p>
            <a:endParaRPr lang="en-US"/>
          </a:p>
        </p:txBody>
      </p:sp>
      <p:sp>
        <p:nvSpPr>
          <p:cNvPr id="52" name="Text 50"/>
          <p:cNvSpPr/>
          <p:nvPr/>
        </p:nvSpPr>
        <p:spPr>
          <a:xfrm>
            <a:off x="438912" y="3346704"/>
            <a:ext cx="1792224" cy="347472"/>
          </a:xfrm>
          <a:prstGeom prst="rect">
            <a:avLst/>
          </a:prstGeom>
          <a:noFill/>
          <a:ln/>
        </p:spPr>
        <p:txBody>
          <a:bodyPr wrap="square" lIns="0" tIns="0" rIns="0" bIns="0" rtlCol="0" anchor="ctr"/>
          <a:lstStyle/>
          <a:p>
            <a:pPr marL="0" indent="0">
              <a:buNone/>
            </a:pPr>
            <a:r>
              <a:rPr lang="en-US" sz="900" b="1" dirty="0">
                <a:solidFill>
                  <a:srgbClr val="1A6B3C"/>
                </a:solidFill>
                <a:latin typeface="Calibri" pitchFamily="34" charset="0"/>
                <a:ea typeface="Calibri" pitchFamily="34" charset="-122"/>
                <a:cs typeface="Calibri" pitchFamily="34" charset="-120"/>
              </a:rPr>
              <a:t>Marketing &amp; Content Strategist,</a:t>
            </a:r>
            <a:endParaRPr lang="en-US" sz="900" dirty="0"/>
          </a:p>
          <a:p>
            <a:pPr marL="0" indent="0">
              <a:buNone/>
            </a:pPr>
            <a:r>
              <a:rPr lang="en-US" sz="900" b="1" dirty="0">
                <a:solidFill>
                  <a:srgbClr val="1A6B3C"/>
                </a:solidFill>
                <a:latin typeface="Calibri" pitchFamily="34" charset="0"/>
                <a:ea typeface="Calibri" pitchFamily="34" charset="-122"/>
                <a:cs typeface="Calibri" pitchFamily="34" charset="-120"/>
              </a:rPr>
              <a:t>Music Brief Owner</a:t>
            </a:r>
            <a:endParaRPr lang="en-US" sz="900" dirty="0"/>
          </a:p>
          <a:p>
            <a:pPr marL="0" indent="0">
              <a:buNone/>
            </a:pPr>
            <a:r>
              <a:rPr lang="en-US" sz="900" b="1" dirty="0">
                <a:solidFill>
                  <a:srgbClr val="1A6B3C"/>
                </a:solidFill>
                <a:latin typeface="Calibri" pitchFamily="34" charset="0"/>
                <a:ea typeface="Calibri" pitchFamily="34" charset="-122"/>
                <a:cs typeface="Calibri" pitchFamily="34" charset="-120"/>
              </a:rPr>
              <a:t>(+ Sagar Batra)</a:t>
            </a:r>
            <a:endParaRPr lang="en-US" sz="900" dirty="0"/>
          </a:p>
        </p:txBody>
      </p:sp>
      <p:sp>
        <p:nvSpPr>
          <p:cNvPr id="53" name="Shape 51"/>
          <p:cNvSpPr/>
          <p:nvPr/>
        </p:nvSpPr>
        <p:spPr>
          <a:xfrm>
            <a:off x="2267712" y="3310128"/>
            <a:ext cx="1417320" cy="402336"/>
          </a:xfrm>
          <a:prstGeom prst="rect">
            <a:avLst/>
          </a:prstGeom>
          <a:solidFill>
            <a:srgbClr val="FFFFFF"/>
          </a:solidFill>
          <a:ln w="12700">
            <a:solidFill>
              <a:srgbClr val="D1D5DB"/>
            </a:solidFill>
            <a:prstDash val="solid"/>
          </a:ln>
        </p:spPr>
        <p:txBody>
          <a:bodyPr/>
          <a:lstStyle/>
          <a:p>
            <a:endParaRPr lang="en-US"/>
          </a:p>
        </p:txBody>
      </p:sp>
      <p:sp>
        <p:nvSpPr>
          <p:cNvPr id="54" name="Text 52"/>
          <p:cNvSpPr/>
          <p:nvPr/>
        </p:nvSpPr>
        <p:spPr>
          <a:xfrm>
            <a:off x="2322576" y="3346704"/>
            <a:ext cx="132588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Yash Javeri</a:t>
            </a:r>
            <a:endParaRPr lang="en-US" sz="850" dirty="0"/>
          </a:p>
        </p:txBody>
      </p:sp>
      <p:sp>
        <p:nvSpPr>
          <p:cNvPr id="55" name="Shape 53"/>
          <p:cNvSpPr/>
          <p:nvPr/>
        </p:nvSpPr>
        <p:spPr>
          <a:xfrm>
            <a:off x="3685032" y="3310128"/>
            <a:ext cx="3246120" cy="402336"/>
          </a:xfrm>
          <a:prstGeom prst="rect">
            <a:avLst/>
          </a:prstGeom>
          <a:solidFill>
            <a:srgbClr val="FFFFFF"/>
          </a:solidFill>
          <a:ln w="12700">
            <a:solidFill>
              <a:srgbClr val="D1D5DB"/>
            </a:solidFill>
            <a:prstDash val="solid"/>
          </a:ln>
        </p:spPr>
        <p:txBody>
          <a:bodyPr/>
          <a:lstStyle/>
          <a:p>
            <a:endParaRPr lang="en-US"/>
          </a:p>
        </p:txBody>
      </p:sp>
      <p:sp>
        <p:nvSpPr>
          <p:cNvPr id="56" name="Text 54"/>
          <p:cNvSpPr/>
          <p:nvPr/>
        </p:nvSpPr>
        <p:spPr>
          <a:xfrm>
            <a:off x="3739896" y="3346704"/>
            <a:ext cx="315468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Hardware audit of all 30. Screen recording &amp; Zoom setup guide. Social media presence. Content calendar. Weekly publishing M3–M6. Music brief co-owner. Release &amp; distribution strategy co-owner.</a:t>
            </a:r>
            <a:endParaRPr lang="en-US" sz="850" dirty="0"/>
          </a:p>
        </p:txBody>
      </p:sp>
      <p:sp>
        <p:nvSpPr>
          <p:cNvPr id="57" name="Shape 55"/>
          <p:cNvSpPr/>
          <p:nvPr/>
        </p:nvSpPr>
        <p:spPr>
          <a:xfrm>
            <a:off x="6931152" y="3310128"/>
            <a:ext cx="2011680" cy="402336"/>
          </a:xfrm>
          <a:prstGeom prst="rect">
            <a:avLst/>
          </a:prstGeom>
          <a:solidFill>
            <a:srgbClr val="FFFFFF"/>
          </a:solidFill>
          <a:ln w="12700">
            <a:solidFill>
              <a:srgbClr val="D1D5DB"/>
            </a:solidFill>
            <a:prstDash val="solid"/>
          </a:ln>
        </p:spPr>
        <p:txBody>
          <a:bodyPr/>
          <a:lstStyle/>
          <a:p>
            <a:endParaRPr lang="en-US"/>
          </a:p>
        </p:txBody>
      </p:sp>
      <p:sp>
        <p:nvSpPr>
          <p:cNvPr id="58" name="Text 56"/>
          <p:cNvSpPr/>
          <p:nvPr/>
        </p:nvSpPr>
        <p:spPr>
          <a:xfrm>
            <a:off x="6986016" y="3346704"/>
            <a:ext cx="1920240" cy="347472"/>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Hansh provides ingest system. Munish approves all public-facing content.</a:t>
            </a:r>
            <a:endParaRPr lang="en-US" sz="850" dirty="0"/>
          </a:p>
        </p:txBody>
      </p:sp>
      <p:sp>
        <p:nvSpPr>
          <p:cNvPr id="59" name="Shape 57"/>
          <p:cNvSpPr/>
          <p:nvPr/>
        </p:nvSpPr>
        <p:spPr>
          <a:xfrm>
            <a:off x="347472" y="3712464"/>
            <a:ext cx="1920240" cy="274320"/>
          </a:xfrm>
          <a:prstGeom prst="rect">
            <a:avLst/>
          </a:prstGeom>
          <a:solidFill>
            <a:srgbClr val="F3F4F6"/>
          </a:solidFill>
          <a:ln w="12700">
            <a:solidFill>
              <a:srgbClr val="D1D5DB"/>
            </a:solidFill>
            <a:prstDash val="solid"/>
          </a:ln>
        </p:spPr>
        <p:txBody>
          <a:bodyPr/>
          <a:lstStyle/>
          <a:p>
            <a:endParaRPr lang="en-US"/>
          </a:p>
        </p:txBody>
      </p:sp>
      <p:sp>
        <p:nvSpPr>
          <p:cNvPr id="60" name="Shape 58"/>
          <p:cNvSpPr/>
          <p:nvPr/>
        </p:nvSpPr>
        <p:spPr>
          <a:xfrm>
            <a:off x="347472" y="3712464"/>
            <a:ext cx="54864" cy="274320"/>
          </a:xfrm>
          <a:prstGeom prst="rect">
            <a:avLst/>
          </a:prstGeom>
          <a:solidFill>
            <a:srgbClr val="9CA3AF"/>
          </a:solidFill>
          <a:ln w="12700">
            <a:solidFill>
              <a:srgbClr val="9CA3AF"/>
            </a:solidFill>
            <a:prstDash val="solid"/>
          </a:ln>
        </p:spPr>
        <p:txBody>
          <a:bodyPr/>
          <a:lstStyle/>
          <a:p>
            <a:endParaRPr lang="en-US"/>
          </a:p>
        </p:txBody>
      </p:sp>
      <p:sp>
        <p:nvSpPr>
          <p:cNvPr id="61" name="Text 59"/>
          <p:cNvSpPr/>
          <p:nvPr/>
        </p:nvSpPr>
        <p:spPr>
          <a:xfrm>
            <a:off x="438912" y="3749040"/>
            <a:ext cx="1792224" cy="219456"/>
          </a:xfrm>
          <a:prstGeom prst="rect">
            <a:avLst/>
          </a:prstGeom>
          <a:noFill/>
          <a:ln/>
        </p:spPr>
        <p:txBody>
          <a:bodyPr wrap="square" lIns="0" tIns="0" rIns="0" bIns="0" rtlCol="0" anchor="ctr"/>
          <a:lstStyle/>
          <a:p>
            <a:pPr marL="0" indent="0">
              <a:buNone/>
            </a:pPr>
            <a:r>
              <a:rPr lang="en-US" sz="900" b="1" dirty="0">
                <a:solidFill>
                  <a:srgbClr val="9CA3AF"/>
                </a:solidFill>
                <a:latin typeface="Calibri" pitchFamily="34" charset="0"/>
                <a:ea typeface="Calibri" pitchFamily="34" charset="-122"/>
                <a:cs typeface="Calibri" pitchFamily="34" charset="-120"/>
              </a:rPr>
              <a:t>Exec/Producer</a:t>
            </a:r>
            <a:endParaRPr lang="en-US" sz="900" dirty="0"/>
          </a:p>
        </p:txBody>
      </p:sp>
      <p:sp>
        <p:nvSpPr>
          <p:cNvPr id="62" name="Shape 60"/>
          <p:cNvSpPr/>
          <p:nvPr/>
        </p:nvSpPr>
        <p:spPr>
          <a:xfrm>
            <a:off x="2267712" y="3712464"/>
            <a:ext cx="1417320" cy="274320"/>
          </a:xfrm>
          <a:prstGeom prst="rect">
            <a:avLst/>
          </a:prstGeom>
          <a:solidFill>
            <a:srgbClr val="F3F4F6"/>
          </a:solidFill>
          <a:ln w="12700">
            <a:solidFill>
              <a:srgbClr val="D1D5DB"/>
            </a:solidFill>
            <a:prstDash val="solid"/>
          </a:ln>
        </p:spPr>
        <p:txBody>
          <a:bodyPr/>
          <a:lstStyle/>
          <a:p>
            <a:endParaRPr lang="en-US"/>
          </a:p>
        </p:txBody>
      </p:sp>
      <p:sp>
        <p:nvSpPr>
          <p:cNvPr id="63" name="Text 61"/>
          <p:cNvSpPr/>
          <p:nvPr/>
        </p:nvSpPr>
        <p:spPr>
          <a:xfrm>
            <a:off x="2322576" y="3749040"/>
            <a:ext cx="13258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TBD</a:t>
            </a:r>
            <a:endParaRPr lang="en-US" sz="850" dirty="0"/>
          </a:p>
        </p:txBody>
      </p:sp>
      <p:sp>
        <p:nvSpPr>
          <p:cNvPr id="64" name="Shape 62"/>
          <p:cNvSpPr/>
          <p:nvPr/>
        </p:nvSpPr>
        <p:spPr>
          <a:xfrm>
            <a:off x="3685032" y="3712464"/>
            <a:ext cx="3246120" cy="274320"/>
          </a:xfrm>
          <a:prstGeom prst="rect">
            <a:avLst/>
          </a:prstGeom>
          <a:solidFill>
            <a:srgbClr val="F3F4F6"/>
          </a:solidFill>
          <a:ln w="12700">
            <a:solidFill>
              <a:srgbClr val="D1D5DB"/>
            </a:solidFill>
            <a:prstDash val="solid"/>
          </a:ln>
        </p:spPr>
        <p:txBody>
          <a:bodyPr/>
          <a:lstStyle/>
          <a:p>
            <a:endParaRPr lang="en-US"/>
          </a:p>
        </p:txBody>
      </p:sp>
      <p:sp>
        <p:nvSpPr>
          <p:cNvPr id="65" name="Text 63"/>
          <p:cNvSpPr/>
          <p:nvPr/>
        </p:nvSpPr>
        <p:spPr>
          <a:xfrm>
            <a:off x="3739896" y="3749040"/>
            <a:ext cx="31546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Budget. Face of documentary pitches. (Needs more clarity around this role definition.)</a:t>
            </a:r>
            <a:endParaRPr lang="en-US" sz="850" dirty="0"/>
          </a:p>
        </p:txBody>
      </p:sp>
      <p:sp>
        <p:nvSpPr>
          <p:cNvPr id="66" name="Shape 64"/>
          <p:cNvSpPr/>
          <p:nvPr/>
        </p:nvSpPr>
        <p:spPr>
          <a:xfrm>
            <a:off x="6931152" y="3712464"/>
            <a:ext cx="2011680" cy="274320"/>
          </a:xfrm>
          <a:prstGeom prst="rect">
            <a:avLst/>
          </a:prstGeom>
          <a:solidFill>
            <a:srgbClr val="F3F4F6"/>
          </a:solidFill>
          <a:ln w="12700">
            <a:solidFill>
              <a:srgbClr val="D1D5DB"/>
            </a:solidFill>
            <a:prstDash val="solid"/>
          </a:ln>
        </p:spPr>
        <p:txBody>
          <a:bodyPr/>
          <a:lstStyle/>
          <a:p>
            <a:endParaRPr lang="en-US"/>
          </a:p>
        </p:txBody>
      </p:sp>
      <p:sp>
        <p:nvSpPr>
          <p:cNvPr id="67" name="Text 65"/>
          <p:cNvSpPr/>
          <p:nvPr/>
        </p:nvSpPr>
        <p:spPr>
          <a:xfrm>
            <a:off x="6986016" y="3749040"/>
            <a:ext cx="192024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a:t>
            </a:r>
            <a:endParaRPr lang="en-US" sz="850" dirty="0"/>
          </a:p>
        </p:txBody>
      </p:sp>
      <p:sp>
        <p:nvSpPr>
          <p:cNvPr id="68" name="Shape 66"/>
          <p:cNvSpPr/>
          <p:nvPr/>
        </p:nvSpPr>
        <p:spPr>
          <a:xfrm>
            <a:off x="347472" y="3986784"/>
            <a:ext cx="1920240" cy="274320"/>
          </a:xfrm>
          <a:prstGeom prst="rect">
            <a:avLst/>
          </a:prstGeom>
          <a:solidFill>
            <a:srgbClr val="FFFFFF"/>
          </a:solidFill>
          <a:ln w="12700">
            <a:solidFill>
              <a:srgbClr val="D1D5DB"/>
            </a:solidFill>
            <a:prstDash val="solid"/>
          </a:ln>
        </p:spPr>
        <p:txBody>
          <a:bodyPr/>
          <a:lstStyle/>
          <a:p>
            <a:endParaRPr lang="en-US"/>
          </a:p>
        </p:txBody>
      </p:sp>
      <p:sp>
        <p:nvSpPr>
          <p:cNvPr id="69" name="Shape 67"/>
          <p:cNvSpPr/>
          <p:nvPr/>
        </p:nvSpPr>
        <p:spPr>
          <a:xfrm>
            <a:off x="347472" y="3986784"/>
            <a:ext cx="54864" cy="274320"/>
          </a:xfrm>
          <a:prstGeom prst="rect">
            <a:avLst/>
          </a:prstGeom>
          <a:solidFill>
            <a:srgbClr val="9CA3AF"/>
          </a:solidFill>
          <a:ln w="12700">
            <a:solidFill>
              <a:srgbClr val="9CA3AF"/>
            </a:solidFill>
            <a:prstDash val="solid"/>
          </a:ln>
        </p:spPr>
        <p:txBody>
          <a:bodyPr/>
          <a:lstStyle/>
          <a:p>
            <a:endParaRPr lang="en-US"/>
          </a:p>
        </p:txBody>
      </p:sp>
      <p:sp>
        <p:nvSpPr>
          <p:cNvPr id="70" name="Text 68"/>
          <p:cNvSpPr/>
          <p:nvPr/>
        </p:nvSpPr>
        <p:spPr>
          <a:xfrm>
            <a:off x="438912" y="4023360"/>
            <a:ext cx="1792224" cy="219456"/>
          </a:xfrm>
          <a:prstGeom prst="rect">
            <a:avLst/>
          </a:prstGeom>
          <a:noFill/>
          <a:ln/>
        </p:spPr>
        <p:txBody>
          <a:bodyPr wrap="square" lIns="0" tIns="0" rIns="0" bIns="0" rtlCol="0" anchor="ctr"/>
          <a:lstStyle/>
          <a:p>
            <a:pPr marL="0" indent="0">
              <a:buNone/>
            </a:pPr>
            <a:r>
              <a:rPr lang="en-US" sz="900" b="1" dirty="0">
                <a:solidFill>
                  <a:srgbClr val="9CA3AF"/>
                </a:solidFill>
                <a:latin typeface="Calibri" pitchFamily="34" charset="0"/>
                <a:ea typeface="Calibri" pitchFamily="34" charset="-122"/>
                <a:cs typeface="Calibri" pitchFamily="34" charset="-120"/>
              </a:rPr>
              <a:t>Music / Audio Design</a:t>
            </a:r>
            <a:endParaRPr lang="en-US" sz="900" dirty="0"/>
          </a:p>
        </p:txBody>
      </p:sp>
      <p:sp>
        <p:nvSpPr>
          <p:cNvPr id="71" name="Shape 69"/>
          <p:cNvSpPr/>
          <p:nvPr/>
        </p:nvSpPr>
        <p:spPr>
          <a:xfrm>
            <a:off x="2267712" y="3986784"/>
            <a:ext cx="1417320" cy="274320"/>
          </a:xfrm>
          <a:prstGeom prst="rect">
            <a:avLst/>
          </a:prstGeom>
          <a:solidFill>
            <a:srgbClr val="FFFFFF"/>
          </a:solidFill>
          <a:ln w="12700">
            <a:solidFill>
              <a:srgbClr val="D1D5DB"/>
            </a:solidFill>
            <a:prstDash val="solid"/>
          </a:ln>
        </p:spPr>
        <p:txBody>
          <a:bodyPr/>
          <a:lstStyle/>
          <a:p>
            <a:endParaRPr lang="en-US"/>
          </a:p>
        </p:txBody>
      </p:sp>
      <p:sp>
        <p:nvSpPr>
          <p:cNvPr id="72" name="Text 70"/>
          <p:cNvSpPr/>
          <p:nvPr/>
        </p:nvSpPr>
        <p:spPr>
          <a:xfrm>
            <a:off x="2322576" y="4023360"/>
            <a:ext cx="13258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TBD</a:t>
            </a:r>
            <a:endParaRPr lang="en-US" sz="850" dirty="0"/>
          </a:p>
        </p:txBody>
      </p:sp>
      <p:sp>
        <p:nvSpPr>
          <p:cNvPr id="73" name="Shape 71"/>
          <p:cNvSpPr/>
          <p:nvPr/>
        </p:nvSpPr>
        <p:spPr>
          <a:xfrm>
            <a:off x="3685032" y="3986784"/>
            <a:ext cx="3246120" cy="274320"/>
          </a:xfrm>
          <a:prstGeom prst="rect">
            <a:avLst/>
          </a:prstGeom>
          <a:solidFill>
            <a:srgbClr val="FFFFFF"/>
          </a:solidFill>
          <a:ln w="12700">
            <a:solidFill>
              <a:srgbClr val="D1D5DB"/>
            </a:solidFill>
            <a:prstDash val="solid"/>
          </a:ln>
        </p:spPr>
        <p:txBody>
          <a:bodyPr/>
          <a:lstStyle/>
          <a:p>
            <a:endParaRPr lang="en-US"/>
          </a:p>
        </p:txBody>
      </p:sp>
      <p:sp>
        <p:nvSpPr>
          <p:cNvPr id="74" name="Text 72"/>
          <p:cNvSpPr/>
          <p:nvPr/>
        </p:nvSpPr>
        <p:spPr>
          <a:xfrm>
            <a:off x="3739896" y="4023360"/>
            <a:ext cx="31546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Final say on sound of documentary. B-tracks. Scale. Sound effects. Ambient music. Must resolve before M5 (Aug–Sep).</a:t>
            </a:r>
            <a:endParaRPr lang="en-US" sz="850" dirty="0"/>
          </a:p>
        </p:txBody>
      </p:sp>
      <p:sp>
        <p:nvSpPr>
          <p:cNvPr id="75" name="Shape 73"/>
          <p:cNvSpPr/>
          <p:nvPr/>
        </p:nvSpPr>
        <p:spPr>
          <a:xfrm>
            <a:off x="6931152" y="3986784"/>
            <a:ext cx="2011680" cy="274320"/>
          </a:xfrm>
          <a:prstGeom prst="rect">
            <a:avLst/>
          </a:prstGeom>
          <a:solidFill>
            <a:srgbClr val="FFFFFF"/>
          </a:solidFill>
          <a:ln w="12700">
            <a:solidFill>
              <a:srgbClr val="D1D5DB"/>
            </a:solidFill>
            <a:prstDash val="solid"/>
          </a:ln>
        </p:spPr>
        <p:txBody>
          <a:bodyPr/>
          <a:lstStyle/>
          <a:p>
            <a:endParaRPr lang="en-US"/>
          </a:p>
        </p:txBody>
      </p:sp>
      <p:sp>
        <p:nvSpPr>
          <p:cNvPr id="76" name="Text 74"/>
          <p:cNvSpPr/>
          <p:nvPr/>
        </p:nvSpPr>
        <p:spPr>
          <a:xfrm>
            <a:off x="6986016" y="4023360"/>
            <a:ext cx="192024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a:t>
            </a:r>
            <a:endParaRPr lang="en-US" sz="850" dirty="0"/>
          </a:p>
        </p:txBody>
      </p:sp>
      <p:sp>
        <p:nvSpPr>
          <p:cNvPr id="77" name="Shape 75"/>
          <p:cNvSpPr/>
          <p:nvPr/>
        </p:nvSpPr>
        <p:spPr>
          <a:xfrm>
            <a:off x="347472" y="4261104"/>
            <a:ext cx="1920240" cy="274320"/>
          </a:xfrm>
          <a:prstGeom prst="rect">
            <a:avLst/>
          </a:prstGeom>
          <a:solidFill>
            <a:srgbClr val="F3F4F6"/>
          </a:solidFill>
          <a:ln w="12700">
            <a:solidFill>
              <a:srgbClr val="D1D5DB"/>
            </a:solidFill>
            <a:prstDash val="solid"/>
          </a:ln>
        </p:spPr>
        <p:txBody>
          <a:bodyPr/>
          <a:lstStyle/>
          <a:p>
            <a:endParaRPr lang="en-US"/>
          </a:p>
        </p:txBody>
      </p:sp>
      <p:sp>
        <p:nvSpPr>
          <p:cNvPr id="78" name="Shape 76"/>
          <p:cNvSpPr/>
          <p:nvPr/>
        </p:nvSpPr>
        <p:spPr>
          <a:xfrm>
            <a:off x="347472" y="4261104"/>
            <a:ext cx="54864" cy="274320"/>
          </a:xfrm>
          <a:prstGeom prst="rect">
            <a:avLst/>
          </a:prstGeom>
          <a:solidFill>
            <a:srgbClr val="9CA3AF"/>
          </a:solidFill>
          <a:ln w="12700">
            <a:solidFill>
              <a:srgbClr val="9CA3AF"/>
            </a:solidFill>
            <a:prstDash val="solid"/>
          </a:ln>
        </p:spPr>
        <p:txBody>
          <a:bodyPr/>
          <a:lstStyle/>
          <a:p>
            <a:endParaRPr lang="en-US"/>
          </a:p>
        </p:txBody>
      </p:sp>
      <p:sp>
        <p:nvSpPr>
          <p:cNvPr id="79" name="Text 77"/>
          <p:cNvSpPr/>
          <p:nvPr/>
        </p:nvSpPr>
        <p:spPr>
          <a:xfrm>
            <a:off x="438912" y="4297680"/>
            <a:ext cx="1792224" cy="219456"/>
          </a:xfrm>
          <a:prstGeom prst="rect">
            <a:avLst/>
          </a:prstGeom>
          <a:noFill/>
          <a:ln/>
        </p:spPr>
        <p:txBody>
          <a:bodyPr wrap="square" lIns="0" tIns="0" rIns="0" bIns="0" rtlCol="0" anchor="ctr"/>
          <a:lstStyle/>
          <a:p>
            <a:pPr marL="0" indent="0">
              <a:buNone/>
            </a:pPr>
            <a:r>
              <a:rPr lang="en-US" sz="900" b="1" dirty="0">
                <a:solidFill>
                  <a:srgbClr val="9CA3AF"/>
                </a:solidFill>
                <a:latin typeface="Calibri" pitchFamily="34" charset="0"/>
                <a:ea typeface="Calibri" pitchFamily="34" charset="-122"/>
                <a:cs typeface="Calibri" pitchFamily="34" charset="-120"/>
              </a:rPr>
              <a:t>Budget</a:t>
            </a:r>
            <a:endParaRPr lang="en-US" sz="900" dirty="0"/>
          </a:p>
        </p:txBody>
      </p:sp>
      <p:sp>
        <p:nvSpPr>
          <p:cNvPr id="80" name="Shape 78"/>
          <p:cNvSpPr/>
          <p:nvPr/>
        </p:nvSpPr>
        <p:spPr>
          <a:xfrm>
            <a:off x="2267712" y="4261104"/>
            <a:ext cx="1417320" cy="274320"/>
          </a:xfrm>
          <a:prstGeom prst="rect">
            <a:avLst/>
          </a:prstGeom>
          <a:solidFill>
            <a:srgbClr val="F3F4F6"/>
          </a:solidFill>
          <a:ln w="12700">
            <a:solidFill>
              <a:srgbClr val="D1D5DB"/>
            </a:solidFill>
            <a:prstDash val="solid"/>
          </a:ln>
        </p:spPr>
        <p:txBody>
          <a:bodyPr/>
          <a:lstStyle/>
          <a:p>
            <a:endParaRPr lang="en-US"/>
          </a:p>
        </p:txBody>
      </p:sp>
      <p:sp>
        <p:nvSpPr>
          <p:cNvPr id="81" name="Text 79"/>
          <p:cNvSpPr/>
          <p:nvPr/>
        </p:nvSpPr>
        <p:spPr>
          <a:xfrm>
            <a:off x="2322576" y="4297680"/>
            <a:ext cx="13258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TBD</a:t>
            </a:r>
            <a:endParaRPr lang="en-US" sz="850" dirty="0"/>
          </a:p>
        </p:txBody>
      </p:sp>
      <p:sp>
        <p:nvSpPr>
          <p:cNvPr id="82" name="Shape 80"/>
          <p:cNvSpPr/>
          <p:nvPr/>
        </p:nvSpPr>
        <p:spPr>
          <a:xfrm>
            <a:off x="3685032" y="4261104"/>
            <a:ext cx="3246120" cy="274320"/>
          </a:xfrm>
          <a:prstGeom prst="rect">
            <a:avLst/>
          </a:prstGeom>
          <a:solidFill>
            <a:srgbClr val="F3F4F6"/>
          </a:solidFill>
          <a:ln w="12700">
            <a:solidFill>
              <a:srgbClr val="D1D5DB"/>
            </a:solidFill>
            <a:prstDash val="solid"/>
          </a:ln>
        </p:spPr>
        <p:txBody>
          <a:bodyPr/>
          <a:lstStyle/>
          <a:p>
            <a:endParaRPr lang="en-US"/>
          </a:p>
        </p:txBody>
      </p:sp>
      <p:sp>
        <p:nvSpPr>
          <p:cNvPr id="83" name="Text 81"/>
          <p:cNvSpPr/>
          <p:nvPr/>
        </p:nvSpPr>
        <p:spPr>
          <a:xfrm>
            <a:off x="3739896" y="4297680"/>
            <a:ext cx="31546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Legal advisor coordination. Financial tracking.</a:t>
            </a:r>
            <a:endParaRPr lang="en-US" sz="850" dirty="0"/>
          </a:p>
        </p:txBody>
      </p:sp>
      <p:sp>
        <p:nvSpPr>
          <p:cNvPr id="84" name="Shape 82"/>
          <p:cNvSpPr/>
          <p:nvPr/>
        </p:nvSpPr>
        <p:spPr>
          <a:xfrm>
            <a:off x="6931152" y="4261104"/>
            <a:ext cx="2011680" cy="274320"/>
          </a:xfrm>
          <a:prstGeom prst="rect">
            <a:avLst/>
          </a:prstGeom>
          <a:solidFill>
            <a:srgbClr val="F3F4F6"/>
          </a:solidFill>
          <a:ln w="12700">
            <a:solidFill>
              <a:srgbClr val="D1D5DB"/>
            </a:solidFill>
            <a:prstDash val="solid"/>
          </a:ln>
        </p:spPr>
        <p:txBody>
          <a:bodyPr/>
          <a:lstStyle/>
          <a:p>
            <a:endParaRPr lang="en-US"/>
          </a:p>
        </p:txBody>
      </p:sp>
      <p:sp>
        <p:nvSpPr>
          <p:cNvPr id="85" name="Text 83"/>
          <p:cNvSpPr/>
          <p:nvPr/>
        </p:nvSpPr>
        <p:spPr>
          <a:xfrm>
            <a:off x="6986016" y="4297680"/>
            <a:ext cx="192024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a:t>
            </a:r>
            <a:endParaRPr lang="en-US" sz="850" dirty="0"/>
          </a:p>
        </p:txBody>
      </p:sp>
      <p:sp>
        <p:nvSpPr>
          <p:cNvPr id="86" name="Shape 84"/>
          <p:cNvSpPr/>
          <p:nvPr/>
        </p:nvSpPr>
        <p:spPr>
          <a:xfrm>
            <a:off x="347472" y="4535424"/>
            <a:ext cx="1920240" cy="274320"/>
          </a:xfrm>
          <a:prstGeom prst="rect">
            <a:avLst/>
          </a:prstGeom>
          <a:solidFill>
            <a:srgbClr val="FFFFFF"/>
          </a:solidFill>
          <a:ln w="12700">
            <a:solidFill>
              <a:srgbClr val="D1D5DB"/>
            </a:solidFill>
            <a:prstDash val="solid"/>
          </a:ln>
        </p:spPr>
        <p:txBody>
          <a:bodyPr/>
          <a:lstStyle/>
          <a:p>
            <a:endParaRPr lang="en-US"/>
          </a:p>
        </p:txBody>
      </p:sp>
      <p:sp>
        <p:nvSpPr>
          <p:cNvPr id="87" name="Shape 85"/>
          <p:cNvSpPr/>
          <p:nvPr/>
        </p:nvSpPr>
        <p:spPr>
          <a:xfrm>
            <a:off x="347472" y="4535424"/>
            <a:ext cx="54864" cy="274320"/>
          </a:xfrm>
          <a:prstGeom prst="rect">
            <a:avLst/>
          </a:prstGeom>
          <a:solidFill>
            <a:srgbClr val="9CA3AF"/>
          </a:solidFill>
          <a:ln w="12700">
            <a:solidFill>
              <a:srgbClr val="9CA3AF"/>
            </a:solidFill>
            <a:prstDash val="solid"/>
          </a:ln>
        </p:spPr>
        <p:txBody>
          <a:bodyPr/>
          <a:lstStyle/>
          <a:p>
            <a:endParaRPr lang="en-US"/>
          </a:p>
        </p:txBody>
      </p:sp>
      <p:sp>
        <p:nvSpPr>
          <p:cNvPr id="88" name="Text 86"/>
          <p:cNvSpPr/>
          <p:nvPr/>
        </p:nvSpPr>
        <p:spPr>
          <a:xfrm>
            <a:off x="438912" y="4572000"/>
            <a:ext cx="1792224" cy="219456"/>
          </a:xfrm>
          <a:prstGeom prst="rect">
            <a:avLst/>
          </a:prstGeom>
          <a:noFill/>
          <a:ln/>
        </p:spPr>
        <p:txBody>
          <a:bodyPr wrap="square" lIns="0" tIns="0" rIns="0" bIns="0" rtlCol="0" anchor="ctr"/>
          <a:lstStyle/>
          <a:p>
            <a:pPr marL="0" indent="0">
              <a:buNone/>
            </a:pPr>
            <a:r>
              <a:rPr lang="en-US" sz="900" b="1" dirty="0">
                <a:solidFill>
                  <a:srgbClr val="9CA3AF"/>
                </a:solidFill>
                <a:latin typeface="Calibri" pitchFamily="34" charset="0"/>
                <a:ea typeface="Calibri" pitchFamily="34" charset="-122"/>
                <a:cs typeface="Calibri" pitchFamily="34" charset="-120"/>
              </a:rPr>
              <a:t>Legal</a:t>
            </a:r>
            <a:endParaRPr lang="en-US" sz="900" dirty="0"/>
          </a:p>
        </p:txBody>
      </p:sp>
      <p:sp>
        <p:nvSpPr>
          <p:cNvPr id="89" name="Shape 87"/>
          <p:cNvSpPr/>
          <p:nvPr/>
        </p:nvSpPr>
        <p:spPr>
          <a:xfrm>
            <a:off x="2267712" y="4535424"/>
            <a:ext cx="1417320" cy="274320"/>
          </a:xfrm>
          <a:prstGeom prst="rect">
            <a:avLst/>
          </a:prstGeom>
          <a:solidFill>
            <a:srgbClr val="FFFFFF"/>
          </a:solidFill>
          <a:ln w="12700">
            <a:solidFill>
              <a:srgbClr val="D1D5DB"/>
            </a:solidFill>
            <a:prstDash val="solid"/>
          </a:ln>
        </p:spPr>
        <p:txBody>
          <a:bodyPr/>
          <a:lstStyle/>
          <a:p>
            <a:endParaRPr lang="en-US"/>
          </a:p>
        </p:txBody>
      </p:sp>
      <p:sp>
        <p:nvSpPr>
          <p:cNvPr id="90" name="Text 88"/>
          <p:cNvSpPr/>
          <p:nvPr/>
        </p:nvSpPr>
        <p:spPr>
          <a:xfrm>
            <a:off x="2322576" y="4572000"/>
            <a:ext cx="13258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TBD</a:t>
            </a:r>
            <a:endParaRPr lang="en-US" sz="850" dirty="0"/>
          </a:p>
        </p:txBody>
      </p:sp>
      <p:sp>
        <p:nvSpPr>
          <p:cNvPr id="91" name="Shape 89"/>
          <p:cNvSpPr/>
          <p:nvPr/>
        </p:nvSpPr>
        <p:spPr>
          <a:xfrm>
            <a:off x="3685032" y="4535424"/>
            <a:ext cx="3246120" cy="274320"/>
          </a:xfrm>
          <a:prstGeom prst="rect">
            <a:avLst/>
          </a:prstGeom>
          <a:solidFill>
            <a:srgbClr val="FFFFFF"/>
          </a:solidFill>
          <a:ln w="12700">
            <a:solidFill>
              <a:srgbClr val="D1D5DB"/>
            </a:solidFill>
            <a:prstDash val="solid"/>
          </a:ln>
        </p:spPr>
        <p:txBody>
          <a:bodyPr/>
          <a:lstStyle/>
          <a:p>
            <a:endParaRPr lang="en-US"/>
          </a:p>
        </p:txBody>
      </p:sp>
      <p:sp>
        <p:nvSpPr>
          <p:cNvPr id="92" name="Text 90"/>
          <p:cNvSpPr/>
          <p:nvPr/>
        </p:nvSpPr>
        <p:spPr>
          <a:xfrm>
            <a:off x="3739896" y="4572000"/>
            <a:ext cx="315468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Indian entertainment lawyer or advisor. Not needed until M3 (August).</a:t>
            </a:r>
            <a:endParaRPr lang="en-US" sz="850" dirty="0"/>
          </a:p>
        </p:txBody>
      </p:sp>
      <p:sp>
        <p:nvSpPr>
          <p:cNvPr id="93" name="Shape 91"/>
          <p:cNvSpPr/>
          <p:nvPr/>
        </p:nvSpPr>
        <p:spPr>
          <a:xfrm>
            <a:off x="6931152" y="4535424"/>
            <a:ext cx="2011680" cy="274320"/>
          </a:xfrm>
          <a:prstGeom prst="rect">
            <a:avLst/>
          </a:prstGeom>
          <a:solidFill>
            <a:srgbClr val="FFFFFF"/>
          </a:solidFill>
          <a:ln w="12700">
            <a:solidFill>
              <a:srgbClr val="D1D5DB"/>
            </a:solidFill>
            <a:prstDash val="solid"/>
          </a:ln>
        </p:spPr>
        <p:txBody>
          <a:bodyPr/>
          <a:lstStyle/>
          <a:p>
            <a:endParaRPr lang="en-US"/>
          </a:p>
        </p:txBody>
      </p:sp>
      <p:sp>
        <p:nvSpPr>
          <p:cNvPr id="94" name="Text 92"/>
          <p:cNvSpPr/>
          <p:nvPr/>
        </p:nvSpPr>
        <p:spPr>
          <a:xfrm>
            <a:off x="6986016" y="4572000"/>
            <a:ext cx="1920240" cy="219456"/>
          </a:xfrm>
          <a:prstGeom prst="rect">
            <a:avLst/>
          </a:prstGeom>
          <a:noFill/>
          <a:ln/>
        </p:spPr>
        <p:txBody>
          <a:bodyPr wrap="square" lIns="0" tIns="0" rIns="0" bIns="0" rtlCol="0" anchor="ctr"/>
          <a:lstStyle/>
          <a:p>
            <a:pPr marL="0" indent="0">
              <a:buNone/>
            </a:pPr>
            <a:r>
              <a:rPr lang="en-US" sz="850" dirty="0">
                <a:solidFill>
                  <a:srgbClr val="111111"/>
                </a:solidFill>
                <a:latin typeface="Calibri" pitchFamily="34" charset="0"/>
                <a:ea typeface="Calibri" pitchFamily="34" charset="-122"/>
                <a:cs typeface="Calibri" pitchFamily="34" charset="-120"/>
              </a:rPr>
              <a:t>—</a:t>
            </a:r>
            <a:endParaRPr lang="en-US" sz="850" dirty="0"/>
          </a:p>
        </p:txBody>
      </p:sp>
      <p:sp>
        <p:nvSpPr>
          <p:cNvPr id="96" name="Shape 94"/>
          <p:cNvSpPr/>
          <p:nvPr/>
        </p:nvSpPr>
        <p:spPr>
          <a:xfrm>
            <a:off x="347472" y="4864608"/>
            <a:ext cx="8430768" cy="237744"/>
          </a:xfrm>
          <a:prstGeom prst="roundRect">
            <a:avLst>
              <a:gd name="adj" fmla="val 23077"/>
            </a:avLst>
          </a:prstGeom>
          <a:solidFill>
            <a:srgbClr val="E8EDF4"/>
          </a:solidFill>
          <a:ln w="12700">
            <a:solidFill>
              <a:srgbClr val="E8EDF4"/>
            </a:solidFill>
            <a:prstDash val="solid"/>
          </a:ln>
        </p:spPr>
        <p:txBody>
          <a:bodyPr/>
          <a:lstStyle/>
          <a:p>
            <a:endParaRPr lang="en-US"/>
          </a:p>
        </p:txBody>
      </p:sp>
      <p:sp>
        <p:nvSpPr>
          <p:cNvPr id="97" name="Shape 95"/>
          <p:cNvSpPr/>
          <p:nvPr/>
        </p:nvSpPr>
        <p:spPr>
          <a:xfrm>
            <a:off x="374904" y="4974336"/>
            <a:ext cx="8430768" cy="128016"/>
          </a:xfrm>
          <a:prstGeom prst="rect">
            <a:avLst/>
          </a:prstGeom>
          <a:solidFill>
            <a:srgbClr val="E8EDF4"/>
          </a:solidFill>
          <a:ln w="12700">
            <a:solidFill>
              <a:srgbClr val="E8EDF4"/>
            </a:solidFill>
            <a:prstDash val="solid"/>
          </a:ln>
        </p:spPr>
        <p:txBody>
          <a:bodyPr/>
          <a:lstStyle/>
          <a:p>
            <a:endParaRPr lang="en-US"/>
          </a:p>
        </p:txBody>
      </p:sp>
      <p:sp>
        <p:nvSpPr>
          <p:cNvPr id="98" name="Text 96"/>
          <p:cNvSpPr/>
          <p:nvPr/>
        </p:nvSpPr>
        <p:spPr>
          <a:xfrm>
            <a:off x="475488" y="4892040"/>
            <a:ext cx="8229600" cy="201168"/>
          </a:xfrm>
          <a:prstGeom prst="rect">
            <a:avLst/>
          </a:prstGeom>
          <a:noFill/>
          <a:ln/>
        </p:spPr>
        <p:txBody>
          <a:bodyPr wrap="square" lIns="0" tIns="0" rIns="0" bIns="0" rtlCol="0" anchor="ctr"/>
          <a:lstStyle/>
          <a:p>
            <a:pPr marL="0" indent="0">
              <a:buNone/>
            </a:pPr>
            <a:r>
              <a:rPr lang="en-US" sz="1000" b="1" dirty="0">
                <a:solidFill>
                  <a:srgbClr val="1A2B4A"/>
                </a:solidFill>
                <a:latin typeface="Calibri" pitchFamily="34" charset="0"/>
                <a:ea typeface="Calibri" pitchFamily="34" charset="-122"/>
                <a:cs typeface="Calibri" pitchFamily="34" charset="-120"/>
              </a:rPr>
              <a:t>⚠  STILL UNRESOLVED — needs owner before production begins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TEAM CADENCE RECOMMENDATION</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Team Cadence Recommendation</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Replacing Chapter 24. The team wants async — here's how to make it work.</a:t>
            </a:r>
            <a:endParaRPr lang="en-US" sz="1100" dirty="0"/>
          </a:p>
        </p:txBody>
      </p:sp>
      <p:sp>
        <p:nvSpPr>
          <p:cNvPr id="6" name="Shape 4"/>
          <p:cNvSpPr/>
          <p:nvPr/>
        </p:nvSpPr>
        <p:spPr>
          <a:xfrm>
            <a:off x="347472" y="1316736"/>
            <a:ext cx="2697480" cy="3639312"/>
          </a:xfrm>
          <a:prstGeom prst="roundRect">
            <a:avLst>
              <a:gd name="adj" fmla="val 3390"/>
            </a:avLst>
          </a:prstGeom>
          <a:solidFill>
            <a:srgbClr val="FFFFFF"/>
          </a:solidFill>
          <a:ln w="12700">
            <a:solidFill>
              <a:srgbClr val="6B7280"/>
            </a:solidFill>
            <a:prstDash val="solid"/>
          </a:ln>
          <a:effectLst>
            <a:outerShdw blurRad="76200" dist="25400" dir="2700000" algn="bl" rotWithShape="0">
              <a:srgbClr val="000000">
                <a:alpha val="8000"/>
              </a:srgbClr>
            </a:outerShdw>
          </a:effectLst>
        </p:spPr>
        <p:txBody>
          <a:bodyPr/>
          <a:lstStyle/>
          <a:p>
            <a:endParaRPr lang="en-US"/>
          </a:p>
        </p:txBody>
      </p:sp>
      <p:sp>
        <p:nvSpPr>
          <p:cNvPr id="7" name="Shape 5"/>
          <p:cNvSpPr/>
          <p:nvPr/>
        </p:nvSpPr>
        <p:spPr>
          <a:xfrm>
            <a:off x="347472" y="1316736"/>
            <a:ext cx="2697480" cy="566928"/>
          </a:xfrm>
          <a:prstGeom prst="roundRect">
            <a:avLst>
              <a:gd name="adj" fmla="val 16129"/>
            </a:avLst>
          </a:prstGeom>
          <a:solidFill>
            <a:srgbClr val="F3F4F6"/>
          </a:solidFill>
          <a:ln w="12700">
            <a:solidFill>
              <a:srgbClr val="F3F4F6"/>
            </a:solidFill>
            <a:prstDash val="solid"/>
          </a:ln>
        </p:spPr>
        <p:txBody>
          <a:bodyPr/>
          <a:lstStyle/>
          <a:p>
            <a:endParaRPr lang="en-US"/>
          </a:p>
        </p:txBody>
      </p:sp>
      <p:sp>
        <p:nvSpPr>
          <p:cNvPr id="8" name="Shape 6"/>
          <p:cNvSpPr/>
          <p:nvPr/>
        </p:nvSpPr>
        <p:spPr>
          <a:xfrm>
            <a:off x="347472" y="1700784"/>
            <a:ext cx="2697480" cy="182880"/>
          </a:xfrm>
          <a:prstGeom prst="rect">
            <a:avLst/>
          </a:prstGeom>
          <a:solidFill>
            <a:srgbClr val="F3F4F6"/>
          </a:solidFill>
          <a:ln w="12700">
            <a:solidFill>
              <a:srgbClr val="F3F4F6"/>
            </a:solidFill>
            <a:prstDash val="solid"/>
          </a:ln>
        </p:spPr>
        <p:txBody>
          <a:bodyPr/>
          <a:lstStyle/>
          <a:p>
            <a:endParaRPr lang="en-US"/>
          </a:p>
        </p:txBody>
      </p:sp>
      <p:sp>
        <p:nvSpPr>
          <p:cNvPr id="9" name="Text 7"/>
          <p:cNvSpPr/>
          <p:nvPr/>
        </p:nvSpPr>
        <p:spPr>
          <a:xfrm>
            <a:off x="457200" y="1408176"/>
            <a:ext cx="2478024" cy="274320"/>
          </a:xfrm>
          <a:prstGeom prst="rect">
            <a:avLst/>
          </a:prstGeom>
          <a:noFill/>
          <a:ln/>
        </p:spPr>
        <p:txBody>
          <a:bodyPr wrap="square" lIns="0" tIns="0" rIns="0" bIns="0" rtlCol="0" anchor="ctr"/>
          <a:lstStyle/>
          <a:p>
            <a:pPr marL="0" indent="0">
              <a:buNone/>
            </a:pPr>
            <a:r>
              <a:rPr lang="en-US" sz="1300" b="1" dirty="0">
                <a:solidFill>
                  <a:srgbClr val="1A2B4A"/>
                </a:solidFill>
                <a:latin typeface="Cambria" pitchFamily="34" charset="0"/>
                <a:ea typeface="Cambria" pitchFamily="34" charset="-122"/>
                <a:cs typeface="Cambria" pitchFamily="34" charset="-120"/>
              </a:rPr>
              <a:t>Fully Async</a:t>
            </a:r>
            <a:endParaRPr lang="en-US" sz="1300" dirty="0"/>
          </a:p>
        </p:txBody>
      </p:sp>
      <p:sp>
        <p:nvSpPr>
          <p:cNvPr id="10" name="Text 8"/>
          <p:cNvSpPr/>
          <p:nvPr/>
        </p:nvSpPr>
        <p:spPr>
          <a:xfrm>
            <a:off x="457200" y="1700784"/>
            <a:ext cx="2478024" cy="201168"/>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GitHub + WhatsApp only</a:t>
            </a:r>
            <a:endParaRPr lang="en-US" sz="950" dirty="0"/>
          </a:p>
        </p:txBody>
      </p:sp>
      <p:sp>
        <p:nvSpPr>
          <p:cNvPr id="11" name="Text 9"/>
          <p:cNvSpPr/>
          <p:nvPr/>
        </p:nvSpPr>
        <p:spPr>
          <a:xfrm>
            <a:off x="457200" y="1975104"/>
            <a:ext cx="2478024" cy="219456"/>
          </a:xfrm>
          <a:prstGeom prst="rect">
            <a:avLst/>
          </a:prstGeom>
          <a:noFill/>
          <a:ln/>
        </p:spPr>
        <p:txBody>
          <a:bodyPr wrap="square" lIns="0" tIns="0" rIns="0" bIns="0" rtlCol="0" anchor="ctr"/>
          <a:lstStyle/>
          <a:p>
            <a:pPr marL="0" indent="0">
              <a:buNone/>
            </a:pPr>
            <a:r>
              <a:rPr lang="en-US" sz="1000" b="1" dirty="0">
                <a:solidFill>
                  <a:srgbClr val="1A6B3C"/>
                </a:solidFill>
                <a:latin typeface="Calibri" pitchFamily="34" charset="0"/>
                <a:ea typeface="Calibri" pitchFamily="34" charset="-122"/>
                <a:cs typeface="Calibri" pitchFamily="34" charset="-120"/>
              </a:rPr>
              <a:t>Pros</a:t>
            </a:r>
            <a:endParaRPr lang="en-US" sz="1000" dirty="0"/>
          </a:p>
        </p:txBody>
      </p:sp>
      <p:sp>
        <p:nvSpPr>
          <p:cNvPr id="12" name="Text 10"/>
          <p:cNvSpPr/>
          <p:nvPr/>
        </p:nvSpPr>
        <p:spPr>
          <a:xfrm>
            <a:off x="457200" y="2194560"/>
            <a:ext cx="2478024" cy="123444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Fits distributed volunteer team</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No scheduling stress</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Lower overwhelm</a:t>
            </a:r>
            <a:endParaRPr lang="en-US" sz="950" dirty="0"/>
          </a:p>
        </p:txBody>
      </p:sp>
      <p:sp>
        <p:nvSpPr>
          <p:cNvPr id="13" name="Shape 11"/>
          <p:cNvSpPr/>
          <p:nvPr/>
        </p:nvSpPr>
        <p:spPr>
          <a:xfrm>
            <a:off x="457200" y="3474720"/>
            <a:ext cx="2478024" cy="0"/>
          </a:xfrm>
          <a:prstGeom prst="line">
            <a:avLst/>
          </a:prstGeom>
          <a:noFill/>
          <a:ln w="12700">
            <a:solidFill>
              <a:srgbClr val="D1D5DB"/>
            </a:solidFill>
            <a:prstDash val="solid"/>
          </a:ln>
        </p:spPr>
        <p:txBody>
          <a:bodyPr/>
          <a:lstStyle/>
          <a:p>
            <a:endParaRPr lang="en-US"/>
          </a:p>
        </p:txBody>
      </p:sp>
      <p:sp>
        <p:nvSpPr>
          <p:cNvPr id="14" name="Text 12"/>
          <p:cNvSpPr/>
          <p:nvPr/>
        </p:nvSpPr>
        <p:spPr>
          <a:xfrm>
            <a:off x="457200" y="3547872"/>
            <a:ext cx="2478024" cy="219456"/>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Cons</a:t>
            </a:r>
            <a:endParaRPr lang="en-US" sz="1000" dirty="0"/>
          </a:p>
        </p:txBody>
      </p:sp>
      <p:sp>
        <p:nvSpPr>
          <p:cNvPr id="15" name="Text 13"/>
          <p:cNvSpPr/>
          <p:nvPr/>
        </p:nvSpPr>
        <p:spPr>
          <a:xfrm>
            <a:off x="457200" y="3785616"/>
            <a:ext cx="2478024" cy="109728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Decisions go cold fast</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Munish's creative direction at risk</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People Operations PM load increases</a:t>
            </a:r>
            <a:endParaRPr lang="en-US" sz="950" dirty="0"/>
          </a:p>
        </p:txBody>
      </p:sp>
      <p:sp>
        <p:nvSpPr>
          <p:cNvPr id="16" name="Shape 14"/>
          <p:cNvSpPr/>
          <p:nvPr/>
        </p:nvSpPr>
        <p:spPr>
          <a:xfrm>
            <a:off x="3182112" y="1316736"/>
            <a:ext cx="2697480" cy="3639312"/>
          </a:xfrm>
          <a:prstGeom prst="roundRect">
            <a:avLst>
              <a:gd name="adj" fmla="val 3390"/>
            </a:avLst>
          </a:prstGeom>
          <a:solidFill>
            <a:srgbClr val="FFFFFF"/>
          </a:solidFill>
          <a:ln w="12700">
            <a:solidFill>
              <a:srgbClr val="6B7280"/>
            </a:solidFill>
            <a:prstDash val="solid"/>
          </a:ln>
          <a:effectLst>
            <a:outerShdw blurRad="76200" dist="25400" dir="2700000" algn="bl" rotWithShape="0">
              <a:srgbClr val="000000">
                <a:alpha val="8000"/>
              </a:srgbClr>
            </a:outerShdw>
          </a:effectLst>
        </p:spPr>
        <p:txBody>
          <a:bodyPr/>
          <a:lstStyle/>
          <a:p>
            <a:endParaRPr lang="en-US"/>
          </a:p>
        </p:txBody>
      </p:sp>
      <p:sp>
        <p:nvSpPr>
          <p:cNvPr id="17" name="Shape 15"/>
          <p:cNvSpPr/>
          <p:nvPr/>
        </p:nvSpPr>
        <p:spPr>
          <a:xfrm>
            <a:off x="3182112" y="1316736"/>
            <a:ext cx="2697480" cy="566928"/>
          </a:xfrm>
          <a:prstGeom prst="roundRect">
            <a:avLst>
              <a:gd name="adj" fmla="val 16129"/>
            </a:avLst>
          </a:prstGeom>
          <a:solidFill>
            <a:srgbClr val="F3F4F6"/>
          </a:solidFill>
          <a:ln w="12700">
            <a:solidFill>
              <a:srgbClr val="F3F4F6"/>
            </a:solidFill>
            <a:prstDash val="solid"/>
          </a:ln>
        </p:spPr>
        <p:txBody>
          <a:bodyPr/>
          <a:lstStyle/>
          <a:p>
            <a:endParaRPr lang="en-US"/>
          </a:p>
        </p:txBody>
      </p:sp>
      <p:sp>
        <p:nvSpPr>
          <p:cNvPr id="18" name="Shape 16"/>
          <p:cNvSpPr/>
          <p:nvPr/>
        </p:nvSpPr>
        <p:spPr>
          <a:xfrm>
            <a:off x="3182112" y="1700784"/>
            <a:ext cx="2697480" cy="182880"/>
          </a:xfrm>
          <a:prstGeom prst="rect">
            <a:avLst/>
          </a:prstGeom>
          <a:solidFill>
            <a:srgbClr val="F3F4F6"/>
          </a:solidFill>
          <a:ln w="12700">
            <a:solidFill>
              <a:srgbClr val="F3F4F6"/>
            </a:solidFill>
            <a:prstDash val="solid"/>
          </a:ln>
        </p:spPr>
        <p:txBody>
          <a:bodyPr/>
          <a:lstStyle/>
          <a:p>
            <a:endParaRPr lang="en-US"/>
          </a:p>
        </p:txBody>
      </p:sp>
      <p:sp>
        <p:nvSpPr>
          <p:cNvPr id="19" name="Text 17"/>
          <p:cNvSpPr/>
          <p:nvPr/>
        </p:nvSpPr>
        <p:spPr>
          <a:xfrm>
            <a:off x="3291840" y="1408176"/>
            <a:ext cx="2478024" cy="274320"/>
          </a:xfrm>
          <a:prstGeom prst="rect">
            <a:avLst/>
          </a:prstGeom>
          <a:noFill/>
          <a:ln/>
        </p:spPr>
        <p:txBody>
          <a:bodyPr wrap="square" lIns="0" tIns="0" rIns="0" bIns="0" rtlCol="0" anchor="ctr"/>
          <a:lstStyle/>
          <a:p>
            <a:pPr marL="0" indent="0">
              <a:buNone/>
            </a:pPr>
            <a:r>
              <a:rPr lang="en-US" sz="1300" b="1" dirty="0">
                <a:solidFill>
                  <a:srgbClr val="1A2B4A"/>
                </a:solidFill>
                <a:latin typeface="Cambria" pitchFamily="34" charset="0"/>
                <a:ea typeface="Cambria" pitchFamily="34" charset="-122"/>
                <a:cs typeface="Cambria" pitchFamily="34" charset="-120"/>
              </a:rPr>
              <a:t>Weekly Sync</a:t>
            </a:r>
            <a:endParaRPr lang="en-US" sz="1300" dirty="0"/>
          </a:p>
        </p:txBody>
      </p:sp>
      <p:sp>
        <p:nvSpPr>
          <p:cNvPr id="20" name="Text 18"/>
          <p:cNvSpPr/>
          <p:nvPr/>
        </p:nvSpPr>
        <p:spPr>
          <a:xfrm>
            <a:off x="3291840" y="1700784"/>
            <a:ext cx="2478024" cy="201168"/>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Current Playbook (Ch. 24)</a:t>
            </a:r>
            <a:endParaRPr lang="en-US" sz="950" dirty="0"/>
          </a:p>
        </p:txBody>
      </p:sp>
      <p:sp>
        <p:nvSpPr>
          <p:cNvPr id="21" name="Text 19"/>
          <p:cNvSpPr/>
          <p:nvPr/>
        </p:nvSpPr>
        <p:spPr>
          <a:xfrm>
            <a:off x="3291840" y="1975104"/>
            <a:ext cx="2478024" cy="219456"/>
          </a:xfrm>
          <a:prstGeom prst="rect">
            <a:avLst/>
          </a:prstGeom>
          <a:noFill/>
          <a:ln/>
        </p:spPr>
        <p:txBody>
          <a:bodyPr wrap="square" lIns="0" tIns="0" rIns="0" bIns="0" rtlCol="0" anchor="ctr"/>
          <a:lstStyle/>
          <a:p>
            <a:pPr marL="0" indent="0">
              <a:buNone/>
            </a:pPr>
            <a:r>
              <a:rPr lang="en-US" sz="1000" b="1" dirty="0">
                <a:solidFill>
                  <a:srgbClr val="1A6B3C"/>
                </a:solidFill>
                <a:latin typeface="Calibri" pitchFamily="34" charset="0"/>
                <a:ea typeface="Calibri" pitchFamily="34" charset="-122"/>
                <a:cs typeface="Calibri" pitchFamily="34" charset="-120"/>
              </a:rPr>
              <a:t>Pros</a:t>
            </a:r>
            <a:endParaRPr lang="en-US" sz="1000" dirty="0"/>
          </a:p>
        </p:txBody>
      </p:sp>
      <p:sp>
        <p:nvSpPr>
          <p:cNvPr id="22" name="Text 20"/>
          <p:cNvSpPr/>
          <p:nvPr/>
        </p:nvSpPr>
        <p:spPr>
          <a:xfrm>
            <a:off x="3291840" y="2194560"/>
            <a:ext cx="2478024" cy="123444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Decisions made fast</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Creative direction protected</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Single alignment point</a:t>
            </a:r>
            <a:endParaRPr lang="en-US" sz="950" dirty="0"/>
          </a:p>
        </p:txBody>
      </p:sp>
      <p:sp>
        <p:nvSpPr>
          <p:cNvPr id="23" name="Shape 21"/>
          <p:cNvSpPr/>
          <p:nvPr/>
        </p:nvSpPr>
        <p:spPr>
          <a:xfrm>
            <a:off x="3291840" y="3474720"/>
            <a:ext cx="2478024" cy="0"/>
          </a:xfrm>
          <a:prstGeom prst="line">
            <a:avLst/>
          </a:prstGeom>
          <a:noFill/>
          <a:ln w="12700">
            <a:solidFill>
              <a:srgbClr val="D1D5DB"/>
            </a:solidFill>
            <a:prstDash val="solid"/>
          </a:ln>
        </p:spPr>
        <p:txBody>
          <a:bodyPr/>
          <a:lstStyle/>
          <a:p>
            <a:endParaRPr lang="en-US"/>
          </a:p>
        </p:txBody>
      </p:sp>
      <p:sp>
        <p:nvSpPr>
          <p:cNvPr id="24" name="Text 22"/>
          <p:cNvSpPr/>
          <p:nvPr/>
        </p:nvSpPr>
        <p:spPr>
          <a:xfrm>
            <a:off x="3291840" y="3547872"/>
            <a:ext cx="2478024" cy="219456"/>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Cons</a:t>
            </a:r>
            <a:endParaRPr lang="en-US" sz="1000" dirty="0"/>
          </a:p>
        </p:txBody>
      </p:sp>
      <p:sp>
        <p:nvSpPr>
          <p:cNvPr id="25" name="Text 23"/>
          <p:cNvSpPr/>
          <p:nvPr/>
        </p:nvSpPr>
        <p:spPr>
          <a:xfrm>
            <a:off x="3291840" y="3785616"/>
            <a:ext cx="2478024" cy="109728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Hard to schedule across time zones</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Volunteer team resists it</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Team called it overwhelming</a:t>
            </a:r>
            <a:endParaRPr lang="en-US" sz="950" dirty="0"/>
          </a:p>
        </p:txBody>
      </p:sp>
      <p:sp>
        <p:nvSpPr>
          <p:cNvPr id="26" name="Shape 24"/>
          <p:cNvSpPr/>
          <p:nvPr/>
        </p:nvSpPr>
        <p:spPr>
          <a:xfrm>
            <a:off x="6016752" y="1316736"/>
            <a:ext cx="2697480" cy="3639312"/>
          </a:xfrm>
          <a:prstGeom prst="roundRect">
            <a:avLst>
              <a:gd name="adj" fmla="val 3390"/>
            </a:avLst>
          </a:prstGeom>
          <a:solidFill>
            <a:srgbClr val="FFFFFF"/>
          </a:solidFill>
          <a:ln w="12700">
            <a:solidFill>
              <a:srgbClr val="1A6B3C"/>
            </a:solidFill>
            <a:prstDash val="solid"/>
          </a:ln>
          <a:effectLst>
            <a:outerShdw blurRad="76200" dist="25400" dir="2700000" algn="bl" rotWithShape="0">
              <a:srgbClr val="000000">
                <a:alpha val="8000"/>
              </a:srgbClr>
            </a:outerShdw>
          </a:effectLst>
        </p:spPr>
        <p:txBody>
          <a:bodyPr/>
          <a:lstStyle/>
          <a:p>
            <a:endParaRPr lang="en-US"/>
          </a:p>
        </p:txBody>
      </p:sp>
      <p:sp>
        <p:nvSpPr>
          <p:cNvPr id="27" name="Shape 25"/>
          <p:cNvSpPr/>
          <p:nvPr/>
        </p:nvSpPr>
        <p:spPr>
          <a:xfrm>
            <a:off x="6016752" y="1316736"/>
            <a:ext cx="2697480" cy="566928"/>
          </a:xfrm>
          <a:prstGeom prst="roundRect">
            <a:avLst>
              <a:gd name="adj" fmla="val 16129"/>
            </a:avLst>
          </a:prstGeom>
          <a:solidFill>
            <a:srgbClr val="E6F4ED"/>
          </a:solidFill>
          <a:ln w="12700">
            <a:solidFill>
              <a:srgbClr val="E6F4ED"/>
            </a:solidFill>
            <a:prstDash val="solid"/>
          </a:ln>
        </p:spPr>
        <p:txBody>
          <a:bodyPr/>
          <a:lstStyle/>
          <a:p>
            <a:endParaRPr lang="en-US"/>
          </a:p>
        </p:txBody>
      </p:sp>
      <p:sp>
        <p:nvSpPr>
          <p:cNvPr id="28" name="Shape 26"/>
          <p:cNvSpPr/>
          <p:nvPr/>
        </p:nvSpPr>
        <p:spPr>
          <a:xfrm>
            <a:off x="6016752" y="1700784"/>
            <a:ext cx="2697480" cy="182880"/>
          </a:xfrm>
          <a:prstGeom prst="rect">
            <a:avLst/>
          </a:prstGeom>
          <a:solidFill>
            <a:srgbClr val="E6F4ED"/>
          </a:solidFill>
          <a:ln w="12700">
            <a:solidFill>
              <a:srgbClr val="E6F4ED"/>
            </a:solidFill>
            <a:prstDash val="solid"/>
          </a:ln>
        </p:spPr>
        <p:txBody>
          <a:bodyPr/>
          <a:lstStyle/>
          <a:p>
            <a:endParaRPr lang="en-US"/>
          </a:p>
        </p:txBody>
      </p:sp>
      <p:sp>
        <p:nvSpPr>
          <p:cNvPr id="29" name="Text 27"/>
          <p:cNvSpPr/>
          <p:nvPr/>
        </p:nvSpPr>
        <p:spPr>
          <a:xfrm>
            <a:off x="6126480" y="1408176"/>
            <a:ext cx="2478024" cy="274320"/>
          </a:xfrm>
          <a:prstGeom prst="rect">
            <a:avLst/>
          </a:prstGeom>
          <a:noFill/>
          <a:ln/>
        </p:spPr>
        <p:txBody>
          <a:bodyPr wrap="square" lIns="0" tIns="0" rIns="0" bIns="0" rtlCol="0" anchor="ctr"/>
          <a:lstStyle/>
          <a:p>
            <a:pPr marL="0" indent="0">
              <a:buNone/>
            </a:pPr>
            <a:r>
              <a:rPr lang="en-US" sz="1300" b="1" dirty="0">
                <a:solidFill>
                  <a:srgbClr val="1A6B3C"/>
                </a:solidFill>
                <a:latin typeface="Cambria" pitchFamily="34" charset="0"/>
                <a:ea typeface="Cambria" pitchFamily="34" charset="-122"/>
                <a:cs typeface="Cambria" pitchFamily="34" charset="-120"/>
              </a:rPr>
              <a:t>✓  Recommended</a:t>
            </a:r>
            <a:endParaRPr lang="en-US" sz="1300" dirty="0"/>
          </a:p>
        </p:txBody>
      </p:sp>
      <p:sp>
        <p:nvSpPr>
          <p:cNvPr id="30" name="Text 28"/>
          <p:cNvSpPr/>
          <p:nvPr/>
        </p:nvSpPr>
        <p:spPr>
          <a:xfrm>
            <a:off x="6126480" y="1700784"/>
            <a:ext cx="2478024" cy="201168"/>
          </a:xfrm>
          <a:prstGeom prst="rect">
            <a:avLst/>
          </a:prstGeom>
          <a:noFill/>
          <a:ln/>
        </p:spPr>
        <p:txBody>
          <a:bodyPr wrap="square" lIns="0" tIns="0" rIns="0" bIns="0" rtlCol="0" anchor="ctr"/>
          <a:lstStyle/>
          <a:p>
            <a:pPr marL="0" indent="0">
              <a:buNone/>
            </a:pPr>
            <a:r>
              <a:rPr lang="en-US" sz="950" i="1" dirty="0">
                <a:solidFill>
                  <a:srgbClr val="6B7280"/>
                </a:solidFill>
                <a:latin typeface="Calibri" pitchFamily="34" charset="0"/>
                <a:ea typeface="Calibri" pitchFamily="34" charset="-122"/>
                <a:cs typeface="Calibri" pitchFamily="34" charset="-120"/>
              </a:rPr>
              <a:t>Async-first + Bi-weekly Check-in</a:t>
            </a:r>
            <a:endParaRPr lang="en-US" sz="950" dirty="0"/>
          </a:p>
        </p:txBody>
      </p:sp>
      <p:sp>
        <p:nvSpPr>
          <p:cNvPr id="31" name="Text 29"/>
          <p:cNvSpPr/>
          <p:nvPr/>
        </p:nvSpPr>
        <p:spPr>
          <a:xfrm>
            <a:off x="6126480" y="1975104"/>
            <a:ext cx="2478024" cy="219456"/>
          </a:xfrm>
          <a:prstGeom prst="rect">
            <a:avLst/>
          </a:prstGeom>
          <a:noFill/>
          <a:ln/>
        </p:spPr>
        <p:txBody>
          <a:bodyPr wrap="square" lIns="0" tIns="0" rIns="0" bIns="0" rtlCol="0" anchor="ctr"/>
          <a:lstStyle/>
          <a:p>
            <a:pPr marL="0" indent="0">
              <a:buNone/>
            </a:pPr>
            <a:r>
              <a:rPr lang="en-US" sz="1000" b="1" dirty="0">
                <a:solidFill>
                  <a:srgbClr val="1A6B3C"/>
                </a:solidFill>
                <a:latin typeface="Calibri" pitchFamily="34" charset="0"/>
                <a:ea typeface="Calibri" pitchFamily="34" charset="-122"/>
                <a:cs typeface="Calibri" pitchFamily="34" charset="-120"/>
              </a:rPr>
              <a:t>Pros</a:t>
            </a:r>
            <a:endParaRPr lang="en-US" sz="1000" dirty="0"/>
          </a:p>
        </p:txBody>
      </p:sp>
      <p:sp>
        <p:nvSpPr>
          <p:cNvPr id="32" name="Text 30"/>
          <p:cNvSpPr/>
          <p:nvPr/>
        </p:nvSpPr>
        <p:spPr>
          <a:xfrm>
            <a:off x="6126480" y="2194560"/>
            <a:ext cx="2478024" cy="123444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No weekly sync</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Bi-weekly 30-min check-in / stand-up (Munish chairs)</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Weekly async README update by each workstream owner</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WhatsApp for urgent decisions only</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Bilateral Zoom if thread exceeds 5 messages</a:t>
            </a:r>
            <a:endParaRPr lang="en-US" sz="950" dirty="0"/>
          </a:p>
        </p:txBody>
      </p:sp>
      <p:sp>
        <p:nvSpPr>
          <p:cNvPr id="33" name="Shape 31"/>
          <p:cNvSpPr/>
          <p:nvPr/>
        </p:nvSpPr>
        <p:spPr>
          <a:xfrm>
            <a:off x="6126480" y="3474720"/>
            <a:ext cx="2478024" cy="0"/>
          </a:xfrm>
          <a:prstGeom prst="line">
            <a:avLst/>
          </a:prstGeom>
          <a:noFill/>
          <a:ln w="12700">
            <a:solidFill>
              <a:srgbClr val="D1D5DB"/>
            </a:solidFill>
            <a:prstDash val="solid"/>
          </a:ln>
        </p:spPr>
        <p:txBody>
          <a:bodyPr/>
          <a:lstStyle/>
          <a:p>
            <a:endParaRPr lang="en-US"/>
          </a:p>
        </p:txBody>
      </p:sp>
      <p:sp>
        <p:nvSpPr>
          <p:cNvPr id="34" name="Text 32"/>
          <p:cNvSpPr/>
          <p:nvPr/>
        </p:nvSpPr>
        <p:spPr>
          <a:xfrm>
            <a:off x="6126480" y="3547872"/>
            <a:ext cx="2478024" cy="219456"/>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Cons</a:t>
            </a:r>
            <a:endParaRPr lang="en-US" sz="1000" dirty="0"/>
          </a:p>
        </p:txBody>
      </p:sp>
      <p:sp>
        <p:nvSpPr>
          <p:cNvPr id="35" name="Text 33"/>
          <p:cNvSpPr/>
          <p:nvPr/>
        </p:nvSpPr>
        <p:spPr>
          <a:xfrm>
            <a:off x="6126480" y="3785616"/>
            <a:ext cx="2478024" cy="1097280"/>
          </a:xfrm>
          <a:prstGeom prst="rect">
            <a:avLst/>
          </a:prstGeom>
          <a:noFill/>
          <a:ln/>
        </p:spPr>
        <p:txBody>
          <a:bodyPr wrap="square" lIns="0" tIns="0" rIns="0" bIns="0" rtlCol="0" anchor="ctr"/>
          <a:lstStyle/>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Requires discipline on README updates</a:t>
            </a:r>
            <a:endParaRPr lang="en-US" sz="950" dirty="0"/>
          </a:p>
          <a:p>
            <a:pPr marL="342900" indent="-342900">
              <a:spcAft>
                <a:spcPts val="200"/>
              </a:spcAft>
              <a:buSzPct val="100000"/>
              <a:buChar char="•"/>
            </a:pPr>
            <a:r>
              <a:rPr lang="en-US" sz="950" dirty="0">
                <a:solidFill>
                  <a:srgbClr val="111111"/>
                </a:solidFill>
                <a:latin typeface="Calibri" pitchFamily="34" charset="0"/>
                <a:ea typeface="Calibri" pitchFamily="34" charset="-122"/>
                <a:cs typeface="Calibri" pitchFamily="34" charset="-120"/>
              </a:rPr>
              <a:t>Bi-weekly check-in is a hard commitment — no skipping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SUB-TEAM MEMBER SELECTION RUBRIC</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Sub-Team Member Selection Rubric</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Skills, not just enthusiasm. Use when any workstream lead recruits — Om Maheshwari, Sagar Batra, or anyone else.</a:t>
            </a:r>
            <a:endParaRPr lang="en-US" sz="1100" dirty="0"/>
          </a:p>
        </p:txBody>
      </p:sp>
      <p:sp>
        <p:nvSpPr>
          <p:cNvPr id="6" name="Shape 4"/>
          <p:cNvSpPr/>
          <p:nvPr/>
        </p:nvSpPr>
        <p:spPr>
          <a:xfrm>
            <a:off x="347472" y="1316736"/>
            <a:ext cx="8430768" cy="594360"/>
          </a:xfrm>
          <a:prstGeom prst="roundRect">
            <a:avLst>
              <a:gd name="adj" fmla="val 9231"/>
            </a:avLst>
          </a:prstGeom>
          <a:solidFill>
            <a:srgbClr val="FFFFFF"/>
          </a:solidFill>
          <a:ln w="12700">
            <a:solidFill>
              <a:srgbClr val="D1D5DB"/>
            </a:solidFill>
            <a:prstDash val="solid"/>
          </a:ln>
        </p:spPr>
        <p:txBody>
          <a:bodyPr/>
          <a:lstStyle/>
          <a:p>
            <a:endParaRPr lang="en-US"/>
          </a:p>
        </p:txBody>
      </p:sp>
      <p:sp>
        <p:nvSpPr>
          <p:cNvPr id="7" name="Text 5"/>
          <p:cNvSpPr/>
          <p:nvPr/>
        </p:nvSpPr>
        <p:spPr>
          <a:xfrm>
            <a:off x="493776" y="1389888"/>
            <a:ext cx="2011680" cy="219456"/>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1. Relevant Skill</a:t>
            </a:r>
            <a:endParaRPr lang="en-US" sz="1100" dirty="0"/>
          </a:p>
        </p:txBody>
      </p:sp>
      <p:sp>
        <p:nvSpPr>
          <p:cNvPr id="8" name="Text 6"/>
          <p:cNvSpPr/>
          <p:nvPr/>
        </p:nvSpPr>
        <p:spPr>
          <a:xfrm>
            <a:off x="493776" y="1636776"/>
            <a:ext cx="7132320" cy="201168"/>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Does this person have a demonstrable skill the workstream actually needs? Not 'I've always wanted to try editing' — evidence of actual capability. Ask for examples or work samples.</a:t>
            </a:r>
            <a:endParaRPr lang="en-US" sz="950" dirty="0"/>
          </a:p>
        </p:txBody>
      </p:sp>
      <p:sp>
        <p:nvSpPr>
          <p:cNvPr id="9" name="Shape 7"/>
          <p:cNvSpPr/>
          <p:nvPr/>
        </p:nvSpPr>
        <p:spPr>
          <a:xfrm>
            <a:off x="8092440" y="1444752"/>
            <a:ext cx="594360" cy="310896"/>
          </a:xfrm>
          <a:prstGeom prst="roundRect">
            <a:avLst>
              <a:gd name="adj" fmla="val 14706"/>
            </a:avLst>
          </a:prstGeom>
          <a:solidFill>
            <a:srgbClr val="FFFFFF"/>
          </a:solidFill>
          <a:ln w="12700">
            <a:solidFill>
              <a:srgbClr val="1A2B4A"/>
            </a:solidFill>
            <a:prstDash val="solid"/>
          </a:ln>
        </p:spPr>
        <p:txBody>
          <a:bodyPr/>
          <a:lstStyle/>
          <a:p>
            <a:endParaRPr lang="en-US"/>
          </a:p>
        </p:txBody>
      </p:sp>
      <p:sp>
        <p:nvSpPr>
          <p:cNvPr id="10" name="Text 8"/>
          <p:cNvSpPr/>
          <p:nvPr/>
        </p:nvSpPr>
        <p:spPr>
          <a:xfrm>
            <a:off x="8092440" y="1481328"/>
            <a:ext cx="594360" cy="201168"/>
          </a:xfrm>
          <a:prstGeom prst="rect">
            <a:avLst/>
          </a:prstGeom>
          <a:noFill/>
          <a:ln/>
        </p:spPr>
        <p:txBody>
          <a:bodyPr wrap="square" lIns="0" tIns="0" rIns="0" bIns="0" rtlCol="0" anchor="ctr"/>
          <a:lstStyle/>
          <a:p>
            <a:pPr marL="0" indent="0" algn="ctr">
              <a:buNone/>
            </a:pPr>
            <a:r>
              <a:rPr lang="en-US" sz="1000" b="1" dirty="0">
                <a:solidFill>
                  <a:srgbClr val="1A2B4A"/>
                </a:solidFill>
                <a:latin typeface="Calibri" pitchFamily="34" charset="0"/>
                <a:ea typeface="Calibri" pitchFamily="34" charset="-122"/>
                <a:cs typeface="Calibri" pitchFamily="34" charset="-120"/>
              </a:rPr>
              <a:t>0–5</a:t>
            </a:r>
            <a:endParaRPr lang="en-US" sz="1000" dirty="0"/>
          </a:p>
        </p:txBody>
      </p:sp>
      <p:sp>
        <p:nvSpPr>
          <p:cNvPr id="11" name="Shape 9"/>
          <p:cNvSpPr/>
          <p:nvPr/>
        </p:nvSpPr>
        <p:spPr>
          <a:xfrm>
            <a:off x="347472" y="1975104"/>
            <a:ext cx="8430768" cy="594360"/>
          </a:xfrm>
          <a:prstGeom prst="roundRect">
            <a:avLst>
              <a:gd name="adj" fmla="val 9231"/>
            </a:avLst>
          </a:prstGeom>
          <a:solidFill>
            <a:srgbClr val="F3F4F6"/>
          </a:solidFill>
          <a:ln w="12700">
            <a:solidFill>
              <a:srgbClr val="D1D5DB"/>
            </a:solidFill>
            <a:prstDash val="solid"/>
          </a:ln>
        </p:spPr>
        <p:txBody>
          <a:bodyPr/>
          <a:lstStyle/>
          <a:p>
            <a:endParaRPr lang="en-US"/>
          </a:p>
        </p:txBody>
      </p:sp>
      <p:sp>
        <p:nvSpPr>
          <p:cNvPr id="12" name="Text 10"/>
          <p:cNvSpPr/>
          <p:nvPr/>
        </p:nvSpPr>
        <p:spPr>
          <a:xfrm>
            <a:off x="493776" y="2048256"/>
            <a:ext cx="2011680" cy="219456"/>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2. Availability</a:t>
            </a:r>
            <a:endParaRPr lang="en-US" sz="1100" dirty="0"/>
          </a:p>
        </p:txBody>
      </p:sp>
      <p:sp>
        <p:nvSpPr>
          <p:cNvPr id="13" name="Text 11"/>
          <p:cNvSpPr/>
          <p:nvPr/>
        </p:nvSpPr>
        <p:spPr>
          <a:xfrm>
            <a:off x="493776" y="2295144"/>
            <a:ext cx="7132320" cy="201168"/>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Can they genuinely commit to async deliverables each week? Volunteer enthusiasm fades. Probe actual weekly hours available, not aspirational ones.</a:t>
            </a:r>
            <a:endParaRPr lang="en-US" sz="950" dirty="0"/>
          </a:p>
        </p:txBody>
      </p:sp>
      <p:sp>
        <p:nvSpPr>
          <p:cNvPr id="14" name="Shape 12"/>
          <p:cNvSpPr/>
          <p:nvPr/>
        </p:nvSpPr>
        <p:spPr>
          <a:xfrm>
            <a:off x="8092440" y="2103120"/>
            <a:ext cx="594360" cy="310896"/>
          </a:xfrm>
          <a:prstGeom prst="roundRect">
            <a:avLst>
              <a:gd name="adj" fmla="val 14706"/>
            </a:avLst>
          </a:prstGeom>
          <a:solidFill>
            <a:srgbClr val="FFFFFF"/>
          </a:solidFill>
          <a:ln w="12700">
            <a:solidFill>
              <a:srgbClr val="1A2B4A"/>
            </a:solidFill>
            <a:prstDash val="solid"/>
          </a:ln>
        </p:spPr>
        <p:txBody>
          <a:bodyPr/>
          <a:lstStyle/>
          <a:p>
            <a:endParaRPr lang="en-US"/>
          </a:p>
        </p:txBody>
      </p:sp>
      <p:sp>
        <p:nvSpPr>
          <p:cNvPr id="15" name="Text 13"/>
          <p:cNvSpPr/>
          <p:nvPr/>
        </p:nvSpPr>
        <p:spPr>
          <a:xfrm>
            <a:off x="8092440" y="2139696"/>
            <a:ext cx="594360" cy="201168"/>
          </a:xfrm>
          <a:prstGeom prst="rect">
            <a:avLst/>
          </a:prstGeom>
          <a:noFill/>
          <a:ln/>
        </p:spPr>
        <p:txBody>
          <a:bodyPr wrap="square" lIns="0" tIns="0" rIns="0" bIns="0" rtlCol="0" anchor="ctr"/>
          <a:lstStyle/>
          <a:p>
            <a:pPr marL="0" indent="0" algn="ctr">
              <a:buNone/>
            </a:pPr>
            <a:r>
              <a:rPr lang="en-US" sz="1000" b="1" dirty="0">
                <a:solidFill>
                  <a:srgbClr val="1A2B4A"/>
                </a:solidFill>
                <a:latin typeface="Calibri" pitchFamily="34" charset="0"/>
                <a:ea typeface="Calibri" pitchFamily="34" charset="-122"/>
                <a:cs typeface="Calibri" pitchFamily="34" charset="-120"/>
              </a:rPr>
              <a:t>0–5</a:t>
            </a:r>
            <a:endParaRPr lang="en-US" sz="1000" dirty="0"/>
          </a:p>
        </p:txBody>
      </p:sp>
      <p:sp>
        <p:nvSpPr>
          <p:cNvPr id="16" name="Shape 14"/>
          <p:cNvSpPr/>
          <p:nvPr/>
        </p:nvSpPr>
        <p:spPr>
          <a:xfrm>
            <a:off x="347472" y="2633472"/>
            <a:ext cx="8430768" cy="594360"/>
          </a:xfrm>
          <a:prstGeom prst="roundRect">
            <a:avLst>
              <a:gd name="adj" fmla="val 9231"/>
            </a:avLst>
          </a:prstGeom>
          <a:solidFill>
            <a:srgbClr val="FFFFFF"/>
          </a:solidFill>
          <a:ln w="12700">
            <a:solidFill>
              <a:srgbClr val="D1D5DB"/>
            </a:solidFill>
            <a:prstDash val="solid"/>
          </a:ln>
        </p:spPr>
        <p:txBody>
          <a:bodyPr/>
          <a:lstStyle/>
          <a:p>
            <a:endParaRPr lang="en-US"/>
          </a:p>
        </p:txBody>
      </p:sp>
      <p:sp>
        <p:nvSpPr>
          <p:cNvPr id="17" name="Text 15"/>
          <p:cNvSpPr/>
          <p:nvPr/>
        </p:nvSpPr>
        <p:spPr>
          <a:xfrm>
            <a:off x="493776" y="2706624"/>
            <a:ext cx="2011680" cy="219456"/>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3. Async Discipline</a:t>
            </a:r>
            <a:endParaRPr lang="en-US" sz="1100" dirty="0"/>
          </a:p>
        </p:txBody>
      </p:sp>
      <p:sp>
        <p:nvSpPr>
          <p:cNvPr id="18" name="Text 16"/>
          <p:cNvSpPr/>
          <p:nvPr/>
        </p:nvSpPr>
        <p:spPr>
          <a:xfrm>
            <a:off x="493776" y="2953512"/>
            <a:ext cx="7132320" cy="201168"/>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Do they respond to messages? Do they follow through without being chased? One data point: have they delivered on anything in the cohort so far?</a:t>
            </a:r>
            <a:endParaRPr lang="en-US" sz="950" dirty="0"/>
          </a:p>
        </p:txBody>
      </p:sp>
      <p:sp>
        <p:nvSpPr>
          <p:cNvPr id="19" name="Shape 17"/>
          <p:cNvSpPr/>
          <p:nvPr/>
        </p:nvSpPr>
        <p:spPr>
          <a:xfrm>
            <a:off x="8092440" y="2761488"/>
            <a:ext cx="594360" cy="310896"/>
          </a:xfrm>
          <a:prstGeom prst="roundRect">
            <a:avLst>
              <a:gd name="adj" fmla="val 14706"/>
            </a:avLst>
          </a:prstGeom>
          <a:solidFill>
            <a:srgbClr val="FFFFFF"/>
          </a:solidFill>
          <a:ln w="12700">
            <a:solidFill>
              <a:srgbClr val="1A2B4A"/>
            </a:solidFill>
            <a:prstDash val="solid"/>
          </a:ln>
        </p:spPr>
        <p:txBody>
          <a:bodyPr/>
          <a:lstStyle/>
          <a:p>
            <a:endParaRPr lang="en-US"/>
          </a:p>
        </p:txBody>
      </p:sp>
      <p:sp>
        <p:nvSpPr>
          <p:cNvPr id="20" name="Text 18"/>
          <p:cNvSpPr/>
          <p:nvPr/>
        </p:nvSpPr>
        <p:spPr>
          <a:xfrm>
            <a:off x="8092440" y="2798064"/>
            <a:ext cx="594360" cy="201168"/>
          </a:xfrm>
          <a:prstGeom prst="rect">
            <a:avLst/>
          </a:prstGeom>
          <a:noFill/>
          <a:ln/>
        </p:spPr>
        <p:txBody>
          <a:bodyPr wrap="square" lIns="0" tIns="0" rIns="0" bIns="0" rtlCol="0" anchor="ctr"/>
          <a:lstStyle/>
          <a:p>
            <a:pPr marL="0" indent="0" algn="ctr">
              <a:buNone/>
            </a:pPr>
            <a:r>
              <a:rPr lang="en-US" sz="1000" b="1" dirty="0">
                <a:solidFill>
                  <a:srgbClr val="1A2B4A"/>
                </a:solidFill>
                <a:latin typeface="Calibri" pitchFamily="34" charset="0"/>
                <a:ea typeface="Calibri" pitchFamily="34" charset="-122"/>
                <a:cs typeface="Calibri" pitchFamily="34" charset="-120"/>
              </a:rPr>
              <a:t>0–5</a:t>
            </a:r>
            <a:endParaRPr lang="en-US" sz="1000" dirty="0"/>
          </a:p>
        </p:txBody>
      </p:sp>
      <p:sp>
        <p:nvSpPr>
          <p:cNvPr id="21" name="Shape 19"/>
          <p:cNvSpPr/>
          <p:nvPr/>
        </p:nvSpPr>
        <p:spPr>
          <a:xfrm>
            <a:off x="347472" y="3291840"/>
            <a:ext cx="8430768" cy="594360"/>
          </a:xfrm>
          <a:prstGeom prst="roundRect">
            <a:avLst>
              <a:gd name="adj" fmla="val 9231"/>
            </a:avLst>
          </a:prstGeom>
          <a:solidFill>
            <a:srgbClr val="F3F4F6"/>
          </a:solidFill>
          <a:ln w="12700">
            <a:solidFill>
              <a:srgbClr val="D1D5DB"/>
            </a:solidFill>
            <a:prstDash val="solid"/>
          </a:ln>
        </p:spPr>
        <p:txBody>
          <a:bodyPr/>
          <a:lstStyle/>
          <a:p>
            <a:endParaRPr lang="en-US"/>
          </a:p>
        </p:txBody>
      </p:sp>
      <p:sp>
        <p:nvSpPr>
          <p:cNvPr id="22" name="Text 20"/>
          <p:cNvSpPr/>
          <p:nvPr/>
        </p:nvSpPr>
        <p:spPr>
          <a:xfrm>
            <a:off x="493776" y="3364992"/>
            <a:ext cx="2011680" cy="219456"/>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4. Alignment with Tone</a:t>
            </a:r>
            <a:endParaRPr lang="en-US" sz="1100" dirty="0"/>
          </a:p>
        </p:txBody>
      </p:sp>
      <p:sp>
        <p:nvSpPr>
          <p:cNvPr id="23" name="Text 21"/>
          <p:cNvSpPr/>
          <p:nvPr/>
        </p:nvSpPr>
        <p:spPr>
          <a:xfrm>
            <a:off x="493776" y="3611880"/>
            <a:ext cx="7132320" cy="201168"/>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Do they understand this is a real documentary, not a side project? Do they respect the participants' stories? Check for seriousness of intent.</a:t>
            </a:r>
            <a:endParaRPr lang="en-US" sz="950" dirty="0"/>
          </a:p>
        </p:txBody>
      </p:sp>
      <p:sp>
        <p:nvSpPr>
          <p:cNvPr id="24" name="Shape 22"/>
          <p:cNvSpPr/>
          <p:nvPr/>
        </p:nvSpPr>
        <p:spPr>
          <a:xfrm>
            <a:off x="8092440" y="3419856"/>
            <a:ext cx="594360" cy="310896"/>
          </a:xfrm>
          <a:prstGeom prst="roundRect">
            <a:avLst>
              <a:gd name="adj" fmla="val 14706"/>
            </a:avLst>
          </a:prstGeom>
          <a:solidFill>
            <a:srgbClr val="FFFFFF"/>
          </a:solidFill>
          <a:ln w="12700">
            <a:solidFill>
              <a:srgbClr val="1A2B4A"/>
            </a:solidFill>
            <a:prstDash val="solid"/>
          </a:ln>
        </p:spPr>
        <p:txBody>
          <a:bodyPr/>
          <a:lstStyle/>
          <a:p>
            <a:endParaRPr lang="en-US"/>
          </a:p>
        </p:txBody>
      </p:sp>
      <p:sp>
        <p:nvSpPr>
          <p:cNvPr id="25" name="Text 23"/>
          <p:cNvSpPr/>
          <p:nvPr/>
        </p:nvSpPr>
        <p:spPr>
          <a:xfrm>
            <a:off x="8092440" y="3456432"/>
            <a:ext cx="594360" cy="201168"/>
          </a:xfrm>
          <a:prstGeom prst="rect">
            <a:avLst/>
          </a:prstGeom>
          <a:noFill/>
          <a:ln/>
        </p:spPr>
        <p:txBody>
          <a:bodyPr wrap="square" lIns="0" tIns="0" rIns="0" bIns="0" rtlCol="0" anchor="ctr"/>
          <a:lstStyle/>
          <a:p>
            <a:pPr marL="0" indent="0" algn="ctr">
              <a:buNone/>
            </a:pPr>
            <a:r>
              <a:rPr lang="en-US" sz="1000" b="1" dirty="0">
                <a:solidFill>
                  <a:srgbClr val="1A2B4A"/>
                </a:solidFill>
                <a:latin typeface="Calibri" pitchFamily="34" charset="0"/>
                <a:ea typeface="Calibri" pitchFamily="34" charset="-122"/>
                <a:cs typeface="Calibri" pitchFamily="34" charset="-120"/>
              </a:rPr>
              <a:t>0–5</a:t>
            </a:r>
            <a:endParaRPr lang="en-US" sz="1000" dirty="0"/>
          </a:p>
        </p:txBody>
      </p:sp>
      <p:sp>
        <p:nvSpPr>
          <p:cNvPr id="26" name="Shape 24"/>
          <p:cNvSpPr/>
          <p:nvPr/>
        </p:nvSpPr>
        <p:spPr>
          <a:xfrm>
            <a:off x="347472" y="3950208"/>
            <a:ext cx="8430768" cy="594360"/>
          </a:xfrm>
          <a:prstGeom prst="roundRect">
            <a:avLst>
              <a:gd name="adj" fmla="val 9231"/>
            </a:avLst>
          </a:prstGeom>
          <a:solidFill>
            <a:srgbClr val="FFFFFF"/>
          </a:solidFill>
          <a:ln w="12700">
            <a:solidFill>
              <a:srgbClr val="D1D5DB"/>
            </a:solidFill>
            <a:prstDash val="solid"/>
          </a:ln>
        </p:spPr>
        <p:txBody>
          <a:bodyPr/>
          <a:lstStyle/>
          <a:p>
            <a:endParaRPr lang="en-US"/>
          </a:p>
        </p:txBody>
      </p:sp>
      <p:sp>
        <p:nvSpPr>
          <p:cNvPr id="27" name="Text 25"/>
          <p:cNvSpPr/>
          <p:nvPr/>
        </p:nvSpPr>
        <p:spPr>
          <a:xfrm>
            <a:off x="493776" y="4023360"/>
            <a:ext cx="2011680" cy="219456"/>
          </a:xfrm>
          <a:prstGeom prst="rect">
            <a:avLst/>
          </a:prstGeom>
          <a:noFill/>
          <a:ln/>
        </p:spPr>
        <p:txBody>
          <a:bodyPr wrap="square" lIns="0" tIns="0" rIns="0" bIns="0" rtlCol="0" anchor="ctr"/>
          <a:lstStyle/>
          <a:p>
            <a:pPr marL="0" indent="0">
              <a:buNone/>
            </a:pPr>
            <a:r>
              <a:rPr lang="en-US" sz="1100" b="1" dirty="0">
                <a:solidFill>
                  <a:srgbClr val="1A2B4A"/>
                </a:solidFill>
                <a:latin typeface="Calibri" pitchFamily="34" charset="0"/>
                <a:ea typeface="Calibri" pitchFamily="34" charset="-122"/>
                <a:cs typeface="Calibri" pitchFamily="34" charset="-120"/>
              </a:rPr>
              <a:t>5. Workstream Fit</a:t>
            </a:r>
            <a:endParaRPr lang="en-US" sz="1100" dirty="0"/>
          </a:p>
        </p:txBody>
      </p:sp>
      <p:sp>
        <p:nvSpPr>
          <p:cNvPr id="28" name="Text 26"/>
          <p:cNvSpPr/>
          <p:nvPr/>
        </p:nvSpPr>
        <p:spPr>
          <a:xfrm>
            <a:off x="493776" y="4270248"/>
            <a:ext cx="7132320" cy="201168"/>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Does their skill fill a specific gap in the workstream? Score higher if they complement (not duplicate) what the lead already does.</a:t>
            </a:r>
            <a:endParaRPr lang="en-US" sz="950" dirty="0"/>
          </a:p>
        </p:txBody>
      </p:sp>
      <p:sp>
        <p:nvSpPr>
          <p:cNvPr id="29" name="Shape 27"/>
          <p:cNvSpPr/>
          <p:nvPr/>
        </p:nvSpPr>
        <p:spPr>
          <a:xfrm>
            <a:off x="8092440" y="4078224"/>
            <a:ext cx="594360" cy="310896"/>
          </a:xfrm>
          <a:prstGeom prst="roundRect">
            <a:avLst>
              <a:gd name="adj" fmla="val 14706"/>
            </a:avLst>
          </a:prstGeom>
          <a:solidFill>
            <a:srgbClr val="FFFFFF"/>
          </a:solidFill>
          <a:ln w="12700">
            <a:solidFill>
              <a:srgbClr val="1A2B4A"/>
            </a:solidFill>
            <a:prstDash val="solid"/>
          </a:ln>
        </p:spPr>
        <p:txBody>
          <a:bodyPr/>
          <a:lstStyle/>
          <a:p>
            <a:endParaRPr lang="en-US"/>
          </a:p>
        </p:txBody>
      </p:sp>
      <p:sp>
        <p:nvSpPr>
          <p:cNvPr id="30" name="Text 28"/>
          <p:cNvSpPr/>
          <p:nvPr/>
        </p:nvSpPr>
        <p:spPr>
          <a:xfrm>
            <a:off x="8092440" y="4114800"/>
            <a:ext cx="594360" cy="201168"/>
          </a:xfrm>
          <a:prstGeom prst="rect">
            <a:avLst/>
          </a:prstGeom>
          <a:noFill/>
          <a:ln/>
        </p:spPr>
        <p:txBody>
          <a:bodyPr wrap="square" lIns="0" tIns="0" rIns="0" bIns="0" rtlCol="0" anchor="ctr"/>
          <a:lstStyle/>
          <a:p>
            <a:pPr marL="0" indent="0" algn="ctr">
              <a:buNone/>
            </a:pPr>
            <a:r>
              <a:rPr lang="en-US" sz="1000" b="1" dirty="0">
                <a:solidFill>
                  <a:srgbClr val="1A2B4A"/>
                </a:solidFill>
                <a:latin typeface="Calibri" pitchFamily="34" charset="0"/>
                <a:ea typeface="Calibri" pitchFamily="34" charset="-122"/>
                <a:cs typeface="Calibri" pitchFamily="34" charset="-120"/>
              </a:rPr>
              <a:t>0–5</a:t>
            </a:r>
            <a:endParaRPr lang="en-US" sz="1000" dirty="0"/>
          </a:p>
        </p:txBody>
      </p:sp>
      <p:sp>
        <p:nvSpPr>
          <p:cNvPr id="31" name="Shape 29"/>
          <p:cNvSpPr/>
          <p:nvPr/>
        </p:nvSpPr>
        <p:spPr>
          <a:xfrm>
            <a:off x="347472" y="4718304"/>
            <a:ext cx="8430768" cy="329184"/>
          </a:xfrm>
          <a:prstGeom prst="roundRect">
            <a:avLst>
              <a:gd name="adj" fmla="val 16667"/>
            </a:avLst>
          </a:prstGeom>
          <a:solidFill>
            <a:srgbClr val="1A2B4A"/>
          </a:solidFill>
          <a:ln w="12700">
            <a:solidFill>
              <a:srgbClr val="1A2B4A"/>
            </a:solidFill>
            <a:prstDash val="solid"/>
          </a:ln>
        </p:spPr>
        <p:txBody>
          <a:bodyPr/>
          <a:lstStyle/>
          <a:p>
            <a:endParaRPr lang="en-US"/>
          </a:p>
        </p:txBody>
      </p:sp>
      <p:sp>
        <p:nvSpPr>
          <p:cNvPr id="32" name="Text 30"/>
          <p:cNvSpPr/>
          <p:nvPr/>
        </p:nvSpPr>
        <p:spPr>
          <a:xfrm>
            <a:off x="493776" y="4773168"/>
            <a:ext cx="8229600" cy="21945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Shortlist anyone scoring 18+   ·   Pass at 12 or below   ·   Discuss 13–17 with Munish before deciding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M1 PROCESS FLOW — JUNE 2025</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M1 Process Flow — June 2025</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The sequence within Month 1. Each step is a dependency for the next. Colour = person responsible.</a:t>
            </a:r>
            <a:endParaRPr lang="en-US" sz="1100" dirty="0"/>
          </a:p>
        </p:txBody>
      </p:sp>
      <p:sp>
        <p:nvSpPr>
          <p:cNvPr id="6" name="Shape 4"/>
          <p:cNvSpPr/>
          <p:nvPr/>
        </p:nvSpPr>
        <p:spPr>
          <a:xfrm>
            <a:off x="1399032" y="1316736"/>
            <a:ext cx="1517904" cy="658368"/>
          </a:xfrm>
          <a:prstGeom prst="roundRect">
            <a:avLst>
              <a:gd name="adj" fmla="val 11111"/>
            </a:avLst>
          </a:prstGeom>
          <a:solidFill>
            <a:srgbClr val="F3E8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7" name="Shape 5"/>
          <p:cNvSpPr/>
          <p:nvPr/>
        </p:nvSpPr>
        <p:spPr>
          <a:xfrm>
            <a:off x="2020824" y="1380744"/>
            <a:ext cx="274320" cy="219456"/>
          </a:xfrm>
          <a:prstGeom prst="ellipse">
            <a:avLst/>
          </a:prstGeom>
          <a:solidFill>
            <a:srgbClr val="6B21A8"/>
          </a:solidFill>
          <a:ln w="12700">
            <a:solidFill>
              <a:srgbClr val="6B21A8"/>
            </a:solidFill>
            <a:prstDash val="solid"/>
          </a:ln>
        </p:spPr>
        <p:txBody>
          <a:bodyPr/>
          <a:lstStyle/>
          <a:p>
            <a:endParaRPr lang="en-US"/>
          </a:p>
        </p:txBody>
      </p:sp>
      <p:sp>
        <p:nvSpPr>
          <p:cNvPr id="8" name="Text 6"/>
          <p:cNvSpPr/>
          <p:nvPr/>
        </p:nvSpPr>
        <p:spPr>
          <a:xfrm>
            <a:off x="2020824" y="1399032"/>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9" name="Text 7"/>
          <p:cNvSpPr/>
          <p:nvPr/>
        </p:nvSpPr>
        <p:spPr>
          <a:xfrm>
            <a:off x="1453896" y="1636776"/>
            <a:ext cx="1408176" cy="164592"/>
          </a:xfrm>
          <a:prstGeom prst="rect">
            <a:avLst/>
          </a:prstGeom>
          <a:noFill/>
          <a:ln/>
        </p:spPr>
        <p:txBody>
          <a:bodyPr wrap="square" lIns="0" tIns="0" rIns="0" bIns="0" rtlCol="0" anchor="ctr"/>
          <a:lstStyle/>
          <a:p>
            <a:pPr marL="0" indent="0" algn="ctr">
              <a:buNone/>
            </a:pPr>
            <a:r>
              <a:rPr lang="en-US" sz="900" b="1" dirty="0">
                <a:solidFill>
                  <a:srgbClr val="6B21A8"/>
                </a:solidFill>
                <a:latin typeface="Calibri" pitchFamily="34" charset="0"/>
                <a:ea typeface="Calibri" pitchFamily="34" charset="-122"/>
                <a:cs typeface="Calibri" pitchFamily="34" charset="-120"/>
              </a:rPr>
              <a:t>Welcome Email</a:t>
            </a:r>
            <a:endParaRPr lang="en-US" sz="900" dirty="0"/>
          </a:p>
        </p:txBody>
      </p:sp>
      <p:sp>
        <p:nvSpPr>
          <p:cNvPr id="10" name="Text 8"/>
          <p:cNvSpPr/>
          <p:nvPr/>
        </p:nvSpPr>
        <p:spPr>
          <a:xfrm>
            <a:off x="1453896" y="1792224"/>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sent to all 30</a:t>
            </a:r>
            <a:endParaRPr lang="en-US" sz="750" dirty="0"/>
          </a:p>
        </p:txBody>
      </p:sp>
      <p:sp>
        <p:nvSpPr>
          <p:cNvPr id="11" name="Shape 9"/>
          <p:cNvSpPr/>
          <p:nvPr/>
        </p:nvSpPr>
        <p:spPr>
          <a:xfrm>
            <a:off x="2916936" y="1645920"/>
            <a:ext cx="54864" cy="0"/>
          </a:xfrm>
          <a:prstGeom prst="line">
            <a:avLst/>
          </a:prstGeom>
          <a:noFill/>
          <a:ln w="12700">
            <a:solidFill>
              <a:srgbClr val="1A2B4A"/>
            </a:solidFill>
            <a:prstDash val="solid"/>
          </a:ln>
        </p:spPr>
        <p:txBody>
          <a:bodyPr/>
          <a:lstStyle/>
          <a:p>
            <a:endParaRPr lang="en-US"/>
          </a:p>
        </p:txBody>
      </p:sp>
      <p:sp>
        <p:nvSpPr>
          <p:cNvPr id="12" name="Shape 10"/>
          <p:cNvSpPr/>
          <p:nvPr/>
        </p:nvSpPr>
        <p:spPr>
          <a:xfrm>
            <a:off x="2969057" y="1581912"/>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13" name="Shape 11"/>
          <p:cNvSpPr/>
          <p:nvPr/>
        </p:nvSpPr>
        <p:spPr>
          <a:xfrm>
            <a:off x="3008376" y="1316736"/>
            <a:ext cx="1517904" cy="658368"/>
          </a:xfrm>
          <a:prstGeom prst="roundRect">
            <a:avLst>
              <a:gd name="adj" fmla="val 11111"/>
            </a:avLst>
          </a:prstGeom>
          <a:solidFill>
            <a:srgbClr val="F3E8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14" name="Shape 12"/>
          <p:cNvSpPr/>
          <p:nvPr/>
        </p:nvSpPr>
        <p:spPr>
          <a:xfrm>
            <a:off x="3630168" y="1380744"/>
            <a:ext cx="274320" cy="219456"/>
          </a:xfrm>
          <a:prstGeom prst="ellipse">
            <a:avLst/>
          </a:prstGeom>
          <a:solidFill>
            <a:srgbClr val="6B21A8"/>
          </a:solidFill>
          <a:ln w="12700">
            <a:solidFill>
              <a:srgbClr val="6B21A8"/>
            </a:solidFill>
            <a:prstDash val="solid"/>
          </a:ln>
        </p:spPr>
        <p:txBody>
          <a:bodyPr/>
          <a:lstStyle/>
          <a:p>
            <a:endParaRPr lang="en-US"/>
          </a:p>
        </p:txBody>
      </p:sp>
      <p:sp>
        <p:nvSpPr>
          <p:cNvPr id="15" name="Text 13"/>
          <p:cNvSpPr/>
          <p:nvPr/>
        </p:nvSpPr>
        <p:spPr>
          <a:xfrm>
            <a:off x="3630168" y="1399032"/>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6" name="Text 14"/>
          <p:cNvSpPr/>
          <p:nvPr/>
        </p:nvSpPr>
        <p:spPr>
          <a:xfrm>
            <a:off x="3063240" y="1636776"/>
            <a:ext cx="1408176" cy="164592"/>
          </a:xfrm>
          <a:prstGeom prst="rect">
            <a:avLst/>
          </a:prstGeom>
          <a:noFill/>
          <a:ln/>
        </p:spPr>
        <p:txBody>
          <a:bodyPr wrap="square" lIns="0" tIns="0" rIns="0" bIns="0" rtlCol="0" anchor="ctr"/>
          <a:lstStyle/>
          <a:p>
            <a:pPr marL="0" indent="0" algn="ctr">
              <a:buNone/>
            </a:pPr>
            <a:r>
              <a:rPr lang="en-US" sz="900" b="1" dirty="0">
                <a:solidFill>
                  <a:srgbClr val="6B21A8"/>
                </a:solidFill>
                <a:latin typeface="Calibri" pitchFamily="34" charset="0"/>
                <a:ea typeface="Calibri" pitchFamily="34" charset="-122"/>
                <a:cs typeface="Calibri" pitchFamily="34" charset="-120"/>
              </a:rPr>
              <a:t>Questionnaire</a:t>
            </a:r>
            <a:endParaRPr lang="en-US" sz="900" dirty="0"/>
          </a:p>
        </p:txBody>
      </p:sp>
      <p:sp>
        <p:nvSpPr>
          <p:cNvPr id="17" name="Text 15"/>
          <p:cNvSpPr/>
          <p:nvPr/>
        </p:nvSpPr>
        <p:spPr>
          <a:xfrm>
            <a:off x="3063240" y="1792224"/>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to all 30 ACES</a:t>
            </a:r>
            <a:endParaRPr lang="en-US" sz="750" dirty="0"/>
          </a:p>
        </p:txBody>
      </p:sp>
      <p:sp>
        <p:nvSpPr>
          <p:cNvPr id="18" name="Shape 16"/>
          <p:cNvSpPr/>
          <p:nvPr/>
        </p:nvSpPr>
        <p:spPr>
          <a:xfrm>
            <a:off x="4526280" y="1645920"/>
            <a:ext cx="54864" cy="0"/>
          </a:xfrm>
          <a:prstGeom prst="line">
            <a:avLst/>
          </a:prstGeom>
          <a:noFill/>
          <a:ln w="12700">
            <a:solidFill>
              <a:srgbClr val="1A2B4A"/>
            </a:solidFill>
            <a:prstDash val="solid"/>
          </a:ln>
        </p:spPr>
        <p:txBody>
          <a:bodyPr/>
          <a:lstStyle/>
          <a:p>
            <a:endParaRPr lang="en-US"/>
          </a:p>
        </p:txBody>
      </p:sp>
      <p:sp>
        <p:nvSpPr>
          <p:cNvPr id="19" name="Shape 17"/>
          <p:cNvSpPr/>
          <p:nvPr/>
        </p:nvSpPr>
        <p:spPr>
          <a:xfrm>
            <a:off x="4578401" y="1581912"/>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20" name="Shape 18"/>
          <p:cNvSpPr/>
          <p:nvPr/>
        </p:nvSpPr>
        <p:spPr>
          <a:xfrm>
            <a:off x="4617720" y="1316736"/>
            <a:ext cx="1517904" cy="658368"/>
          </a:xfrm>
          <a:prstGeom prst="roundRect">
            <a:avLst>
              <a:gd name="adj" fmla="val 11111"/>
            </a:avLst>
          </a:prstGeom>
          <a:solidFill>
            <a:srgbClr val="D6F0F1"/>
          </a:solidFill>
          <a:ln w="12700">
            <a:solidFill>
              <a:srgbClr val="0D7377"/>
            </a:solidFill>
            <a:prstDash val="solid"/>
          </a:ln>
          <a:effectLst>
            <a:outerShdw blurRad="76200" dist="25400" dir="2700000" algn="bl" rotWithShape="0">
              <a:srgbClr val="000000">
                <a:alpha val="8000"/>
              </a:srgbClr>
            </a:outerShdw>
          </a:effectLst>
        </p:spPr>
        <p:txBody>
          <a:bodyPr/>
          <a:lstStyle/>
          <a:p>
            <a:endParaRPr lang="en-US"/>
          </a:p>
        </p:txBody>
      </p:sp>
      <p:sp>
        <p:nvSpPr>
          <p:cNvPr id="21" name="Shape 19"/>
          <p:cNvSpPr/>
          <p:nvPr/>
        </p:nvSpPr>
        <p:spPr>
          <a:xfrm>
            <a:off x="5239512" y="1380744"/>
            <a:ext cx="274320" cy="219456"/>
          </a:xfrm>
          <a:prstGeom prst="ellipse">
            <a:avLst/>
          </a:prstGeom>
          <a:solidFill>
            <a:srgbClr val="0D7377"/>
          </a:solidFill>
          <a:ln w="12700">
            <a:solidFill>
              <a:srgbClr val="0D7377"/>
            </a:solidFill>
            <a:prstDash val="solid"/>
          </a:ln>
        </p:spPr>
        <p:txBody>
          <a:bodyPr/>
          <a:lstStyle/>
          <a:p>
            <a:endParaRPr lang="en-US"/>
          </a:p>
        </p:txBody>
      </p:sp>
      <p:sp>
        <p:nvSpPr>
          <p:cNvPr id="22" name="Text 20"/>
          <p:cNvSpPr/>
          <p:nvPr/>
        </p:nvSpPr>
        <p:spPr>
          <a:xfrm>
            <a:off x="5239512" y="1399032"/>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23" name="Text 21"/>
          <p:cNvSpPr/>
          <p:nvPr/>
        </p:nvSpPr>
        <p:spPr>
          <a:xfrm>
            <a:off x="4672584" y="1636776"/>
            <a:ext cx="1408176" cy="164592"/>
          </a:xfrm>
          <a:prstGeom prst="rect">
            <a:avLst/>
          </a:prstGeom>
          <a:noFill/>
          <a:ln/>
        </p:spPr>
        <p:txBody>
          <a:bodyPr wrap="square" lIns="0" tIns="0" rIns="0" bIns="0" rtlCol="0" anchor="ctr"/>
          <a:lstStyle/>
          <a:p>
            <a:pPr marL="0" indent="0" algn="ctr">
              <a:buNone/>
            </a:pPr>
            <a:r>
              <a:rPr lang="en-US" sz="900" b="1" dirty="0">
                <a:solidFill>
                  <a:srgbClr val="0D7377"/>
                </a:solidFill>
                <a:latin typeface="Calibri" pitchFamily="34" charset="0"/>
                <a:ea typeface="Calibri" pitchFamily="34" charset="-122"/>
                <a:cs typeface="Calibri" pitchFamily="34" charset="-120"/>
              </a:rPr>
              <a:t>GitHub repo</a:t>
            </a:r>
            <a:endParaRPr lang="en-US" sz="900" dirty="0"/>
          </a:p>
        </p:txBody>
      </p:sp>
      <p:sp>
        <p:nvSpPr>
          <p:cNvPr id="24" name="Text 22"/>
          <p:cNvSpPr/>
          <p:nvPr/>
        </p:nvSpPr>
        <p:spPr>
          <a:xfrm>
            <a:off x="4672584" y="1792224"/>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set up + live</a:t>
            </a:r>
            <a:endParaRPr lang="en-US" sz="750" dirty="0"/>
          </a:p>
        </p:txBody>
      </p:sp>
      <p:sp>
        <p:nvSpPr>
          <p:cNvPr id="25" name="Shape 23"/>
          <p:cNvSpPr/>
          <p:nvPr/>
        </p:nvSpPr>
        <p:spPr>
          <a:xfrm>
            <a:off x="6135624" y="1645920"/>
            <a:ext cx="54864" cy="0"/>
          </a:xfrm>
          <a:prstGeom prst="line">
            <a:avLst/>
          </a:prstGeom>
          <a:noFill/>
          <a:ln w="12700">
            <a:solidFill>
              <a:srgbClr val="1A2B4A"/>
            </a:solidFill>
            <a:prstDash val="solid"/>
          </a:ln>
        </p:spPr>
        <p:txBody>
          <a:bodyPr/>
          <a:lstStyle/>
          <a:p>
            <a:endParaRPr lang="en-US"/>
          </a:p>
        </p:txBody>
      </p:sp>
      <p:sp>
        <p:nvSpPr>
          <p:cNvPr id="26" name="Shape 24"/>
          <p:cNvSpPr/>
          <p:nvPr/>
        </p:nvSpPr>
        <p:spPr>
          <a:xfrm>
            <a:off x="6187745" y="1581912"/>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27" name="Shape 25"/>
          <p:cNvSpPr/>
          <p:nvPr/>
        </p:nvSpPr>
        <p:spPr>
          <a:xfrm>
            <a:off x="6227064" y="1316736"/>
            <a:ext cx="1517904" cy="658368"/>
          </a:xfrm>
          <a:prstGeom prst="roundRect">
            <a:avLst>
              <a:gd name="adj" fmla="val 11111"/>
            </a:avLst>
          </a:prstGeom>
          <a:solidFill>
            <a:srgbClr val="E8EDF4"/>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28" name="Shape 26"/>
          <p:cNvSpPr/>
          <p:nvPr/>
        </p:nvSpPr>
        <p:spPr>
          <a:xfrm>
            <a:off x="6874916" y="1380744"/>
            <a:ext cx="274320" cy="219456"/>
          </a:xfrm>
          <a:prstGeom prst="ellipse">
            <a:avLst/>
          </a:prstGeom>
          <a:solidFill>
            <a:srgbClr val="1A2B4A"/>
          </a:solidFill>
          <a:ln w="12700">
            <a:solidFill>
              <a:srgbClr val="1A2B4A"/>
            </a:solidFill>
            <a:prstDash val="solid"/>
          </a:ln>
        </p:spPr>
        <p:txBody>
          <a:bodyPr/>
          <a:lstStyle/>
          <a:p>
            <a:endParaRPr lang="en-US"/>
          </a:p>
        </p:txBody>
      </p:sp>
      <p:sp>
        <p:nvSpPr>
          <p:cNvPr id="29" name="Text 27"/>
          <p:cNvSpPr/>
          <p:nvPr/>
        </p:nvSpPr>
        <p:spPr>
          <a:xfrm>
            <a:off x="6874916" y="1399032"/>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30" name="Text 28"/>
          <p:cNvSpPr/>
          <p:nvPr/>
        </p:nvSpPr>
        <p:spPr>
          <a:xfrm>
            <a:off x="6281928" y="1636776"/>
            <a:ext cx="1408176" cy="164592"/>
          </a:xfrm>
          <a:prstGeom prst="rect">
            <a:avLst/>
          </a:prstGeom>
          <a:noFill/>
          <a:ln/>
        </p:spPr>
        <p:txBody>
          <a:bodyPr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Responses</a:t>
            </a:r>
            <a:endParaRPr lang="en-US" sz="900" dirty="0"/>
          </a:p>
        </p:txBody>
      </p:sp>
      <p:sp>
        <p:nvSpPr>
          <p:cNvPr id="31" name="Text 29"/>
          <p:cNvSpPr/>
          <p:nvPr/>
        </p:nvSpPr>
        <p:spPr>
          <a:xfrm>
            <a:off x="6281928" y="1792224"/>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reviewed + shortlist</a:t>
            </a:r>
            <a:endParaRPr lang="en-US" sz="750" dirty="0"/>
          </a:p>
        </p:txBody>
      </p:sp>
      <p:sp>
        <p:nvSpPr>
          <p:cNvPr id="32" name="Shape 30"/>
          <p:cNvSpPr/>
          <p:nvPr/>
        </p:nvSpPr>
        <p:spPr>
          <a:xfrm>
            <a:off x="6986016" y="1975104"/>
            <a:ext cx="0" cy="73152"/>
          </a:xfrm>
          <a:prstGeom prst="line">
            <a:avLst/>
          </a:prstGeom>
          <a:noFill/>
          <a:ln w="12700">
            <a:solidFill>
              <a:srgbClr val="1A2B4A"/>
            </a:solidFill>
            <a:prstDash val="solid"/>
          </a:ln>
        </p:spPr>
        <p:txBody>
          <a:bodyPr/>
          <a:lstStyle/>
          <a:p>
            <a:endParaRPr lang="en-US"/>
          </a:p>
        </p:txBody>
      </p:sp>
      <p:sp>
        <p:nvSpPr>
          <p:cNvPr id="33" name="Shape 31"/>
          <p:cNvSpPr/>
          <p:nvPr/>
        </p:nvSpPr>
        <p:spPr>
          <a:xfrm>
            <a:off x="2157984" y="2048256"/>
            <a:ext cx="4828032" cy="0"/>
          </a:xfrm>
          <a:prstGeom prst="line">
            <a:avLst/>
          </a:prstGeom>
          <a:noFill/>
          <a:ln w="12700">
            <a:solidFill>
              <a:srgbClr val="1A2B4A"/>
            </a:solidFill>
            <a:prstDash val="solid"/>
          </a:ln>
        </p:spPr>
        <p:txBody>
          <a:bodyPr/>
          <a:lstStyle/>
          <a:p>
            <a:endParaRPr lang="en-US"/>
          </a:p>
        </p:txBody>
      </p:sp>
      <p:sp>
        <p:nvSpPr>
          <p:cNvPr id="34" name="Shape 32"/>
          <p:cNvSpPr/>
          <p:nvPr/>
        </p:nvSpPr>
        <p:spPr>
          <a:xfrm>
            <a:off x="2157984" y="2048256"/>
            <a:ext cx="0" cy="438912"/>
          </a:xfrm>
          <a:prstGeom prst="line">
            <a:avLst/>
          </a:prstGeom>
          <a:noFill/>
          <a:ln w="12700">
            <a:solidFill>
              <a:srgbClr val="1A2B4A"/>
            </a:solidFill>
            <a:prstDash val="solid"/>
          </a:ln>
        </p:spPr>
        <p:txBody>
          <a:bodyPr/>
          <a:lstStyle/>
          <a:p>
            <a:endParaRPr lang="en-US"/>
          </a:p>
        </p:txBody>
      </p:sp>
      <p:sp>
        <p:nvSpPr>
          <p:cNvPr id="35" name="Shape 33"/>
          <p:cNvSpPr/>
          <p:nvPr/>
        </p:nvSpPr>
        <p:spPr>
          <a:xfrm>
            <a:off x="2103120" y="2404872"/>
            <a:ext cx="109728" cy="82296"/>
          </a:xfrm>
          <a:prstGeom prst="roundRect">
            <a:avLst>
              <a:gd name="adj" fmla="val 11111"/>
            </a:avLst>
          </a:prstGeom>
          <a:solidFill>
            <a:srgbClr val="1A2B4A"/>
          </a:solidFill>
          <a:ln w="12700">
            <a:solidFill>
              <a:srgbClr val="1A2B4A"/>
            </a:solidFill>
            <a:prstDash val="solid"/>
          </a:ln>
        </p:spPr>
        <p:txBody>
          <a:bodyPr/>
          <a:lstStyle/>
          <a:p>
            <a:endParaRPr lang="en-US"/>
          </a:p>
        </p:txBody>
      </p:sp>
      <p:sp>
        <p:nvSpPr>
          <p:cNvPr id="36" name="Shape 34"/>
          <p:cNvSpPr/>
          <p:nvPr/>
        </p:nvSpPr>
        <p:spPr>
          <a:xfrm>
            <a:off x="1399032" y="2487168"/>
            <a:ext cx="1517904" cy="658368"/>
          </a:xfrm>
          <a:prstGeom prst="roundRect">
            <a:avLst>
              <a:gd name="adj" fmla="val 11111"/>
            </a:avLst>
          </a:prstGeom>
          <a:solidFill>
            <a:srgbClr val="E8EDF4"/>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37" name="Shape 35"/>
          <p:cNvSpPr/>
          <p:nvPr/>
        </p:nvSpPr>
        <p:spPr>
          <a:xfrm>
            <a:off x="2020824" y="2551176"/>
            <a:ext cx="274320" cy="219456"/>
          </a:xfrm>
          <a:prstGeom prst="ellipse">
            <a:avLst/>
          </a:prstGeom>
          <a:solidFill>
            <a:srgbClr val="1A2B4A"/>
          </a:solidFill>
          <a:ln w="12700">
            <a:solidFill>
              <a:srgbClr val="1A2B4A"/>
            </a:solidFill>
            <a:prstDash val="solid"/>
          </a:ln>
        </p:spPr>
        <p:txBody>
          <a:bodyPr/>
          <a:lstStyle/>
          <a:p>
            <a:endParaRPr lang="en-US"/>
          </a:p>
        </p:txBody>
      </p:sp>
      <p:sp>
        <p:nvSpPr>
          <p:cNvPr id="38" name="Text 36"/>
          <p:cNvSpPr/>
          <p:nvPr/>
        </p:nvSpPr>
        <p:spPr>
          <a:xfrm>
            <a:off x="2020824" y="2569464"/>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39" name="Text 37"/>
          <p:cNvSpPr/>
          <p:nvPr/>
        </p:nvSpPr>
        <p:spPr>
          <a:xfrm>
            <a:off x="1453896" y="2807208"/>
            <a:ext cx="1408176" cy="164592"/>
          </a:xfrm>
          <a:prstGeom prst="rect">
            <a:avLst/>
          </a:prstGeom>
          <a:noFill/>
          <a:ln/>
        </p:spPr>
        <p:txBody>
          <a:bodyPr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5 protagonists</a:t>
            </a:r>
            <a:endParaRPr lang="en-US" sz="900" dirty="0"/>
          </a:p>
        </p:txBody>
      </p:sp>
      <p:sp>
        <p:nvSpPr>
          <p:cNvPr id="40" name="Text 38"/>
          <p:cNvSpPr/>
          <p:nvPr/>
        </p:nvSpPr>
        <p:spPr>
          <a:xfrm>
            <a:off x="1453896" y="2962656"/>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selected</a:t>
            </a:r>
            <a:endParaRPr lang="en-US" sz="750" dirty="0"/>
          </a:p>
        </p:txBody>
      </p:sp>
      <p:sp>
        <p:nvSpPr>
          <p:cNvPr id="41" name="Shape 39"/>
          <p:cNvSpPr/>
          <p:nvPr/>
        </p:nvSpPr>
        <p:spPr>
          <a:xfrm>
            <a:off x="2916936" y="2816352"/>
            <a:ext cx="54864" cy="0"/>
          </a:xfrm>
          <a:prstGeom prst="line">
            <a:avLst/>
          </a:prstGeom>
          <a:noFill/>
          <a:ln w="12700">
            <a:solidFill>
              <a:srgbClr val="1A2B4A"/>
            </a:solidFill>
            <a:prstDash val="solid"/>
          </a:ln>
        </p:spPr>
        <p:txBody>
          <a:bodyPr/>
          <a:lstStyle/>
          <a:p>
            <a:endParaRPr lang="en-US"/>
          </a:p>
        </p:txBody>
      </p:sp>
      <p:sp>
        <p:nvSpPr>
          <p:cNvPr id="42" name="Shape 40"/>
          <p:cNvSpPr/>
          <p:nvPr/>
        </p:nvSpPr>
        <p:spPr>
          <a:xfrm>
            <a:off x="2969057" y="2752344"/>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43" name="Shape 41"/>
          <p:cNvSpPr/>
          <p:nvPr/>
        </p:nvSpPr>
        <p:spPr>
          <a:xfrm>
            <a:off x="3008376" y="2487168"/>
            <a:ext cx="1517904" cy="658368"/>
          </a:xfrm>
          <a:prstGeom prst="roundRect">
            <a:avLst>
              <a:gd name="adj" fmla="val 11111"/>
            </a:avLst>
          </a:prstGeom>
          <a:solidFill>
            <a:srgbClr val="F3E8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44" name="Shape 42"/>
          <p:cNvSpPr/>
          <p:nvPr/>
        </p:nvSpPr>
        <p:spPr>
          <a:xfrm>
            <a:off x="3630168" y="2551176"/>
            <a:ext cx="274320" cy="219456"/>
          </a:xfrm>
          <a:prstGeom prst="ellipse">
            <a:avLst/>
          </a:prstGeom>
          <a:solidFill>
            <a:srgbClr val="6B21A8"/>
          </a:solidFill>
          <a:ln w="12700">
            <a:solidFill>
              <a:srgbClr val="6B21A8"/>
            </a:solidFill>
            <a:prstDash val="solid"/>
          </a:ln>
        </p:spPr>
        <p:txBody>
          <a:bodyPr/>
          <a:lstStyle/>
          <a:p>
            <a:endParaRPr lang="en-US"/>
          </a:p>
        </p:txBody>
      </p:sp>
      <p:sp>
        <p:nvSpPr>
          <p:cNvPr id="45" name="Text 43"/>
          <p:cNvSpPr/>
          <p:nvPr/>
        </p:nvSpPr>
        <p:spPr>
          <a:xfrm>
            <a:off x="3630168" y="2569464"/>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a:t>
            </a:r>
            <a:endParaRPr lang="en-US" sz="850" dirty="0"/>
          </a:p>
        </p:txBody>
      </p:sp>
      <p:sp>
        <p:nvSpPr>
          <p:cNvPr id="46" name="Text 44"/>
          <p:cNvSpPr/>
          <p:nvPr/>
        </p:nvSpPr>
        <p:spPr>
          <a:xfrm>
            <a:off x="3063240" y="2807208"/>
            <a:ext cx="1408176" cy="164592"/>
          </a:xfrm>
          <a:prstGeom prst="rect">
            <a:avLst/>
          </a:prstGeom>
          <a:noFill/>
          <a:ln/>
        </p:spPr>
        <p:txBody>
          <a:bodyPr wrap="square" lIns="0" tIns="0" rIns="0" bIns="0" rtlCol="0" anchor="ctr"/>
          <a:lstStyle/>
          <a:p>
            <a:pPr marL="0" indent="0" algn="ctr">
              <a:buNone/>
            </a:pPr>
            <a:r>
              <a:rPr lang="en-US" sz="900" b="1" dirty="0">
                <a:solidFill>
                  <a:srgbClr val="6B21A8"/>
                </a:solidFill>
                <a:latin typeface="Calibri" pitchFamily="34" charset="0"/>
                <a:ea typeface="Calibri" pitchFamily="34" charset="-122"/>
                <a:cs typeface="Calibri" pitchFamily="34" charset="-120"/>
              </a:rPr>
              <a:t>Consent forms</a:t>
            </a:r>
            <a:endParaRPr lang="en-US" sz="900" dirty="0"/>
          </a:p>
        </p:txBody>
      </p:sp>
      <p:sp>
        <p:nvSpPr>
          <p:cNvPr id="47" name="Text 45"/>
          <p:cNvSpPr/>
          <p:nvPr/>
        </p:nvSpPr>
        <p:spPr>
          <a:xfrm>
            <a:off x="3063240" y="2962656"/>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signed (5 only)</a:t>
            </a:r>
            <a:endParaRPr lang="en-US" sz="750" dirty="0"/>
          </a:p>
        </p:txBody>
      </p:sp>
      <p:sp>
        <p:nvSpPr>
          <p:cNvPr id="48" name="Shape 46"/>
          <p:cNvSpPr/>
          <p:nvPr/>
        </p:nvSpPr>
        <p:spPr>
          <a:xfrm>
            <a:off x="4526280" y="2816352"/>
            <a:ext cx="54864" cy="0"/>
          </a:xfrm>
          <a:prstGeom prst="line">
            <a:avLst/>
          </a:prstGeom>
          <a:noFill/>
          <a:ln w="12700">
            <a:solidFill>
              <a:srgbClr val="1A2B4A"/>
            </a:solidFill>
            <a:prstDash val="solid"/>
          </a:ln>
        </p:spPr>
        <p:txBody>
          <a:bodyPr/>
          <a:lstStyle/>
          <a:p>
            <a:endParaRPr lang="en-US"/>
          </a:p>
        </p:txBody>
      </p:sp>
      <p:sp>
        <p:nvSpPr>
          <p:cNvPr id="49" name="Shape 47"/>
          <p:cNvSpPr/>
          <p:nvPr/>
        </p:nvSpPr>
        <p:spPr>
          <a:xfrm>
            <a:off x="4578401" y="2752344"/>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50" name="Shape 48"/>
          <p:cNvSpPr/>
          <p:nvPr/>
        </p:nvSpPr>
        <p:spPr>
          <a:xfrm>
            <a:off x="4617720" y="2487168"/>
            <a:ext cx="1517904" cy="658368"/>
          </a:xfrm>
          <a:prstGeom prst="roundRect">
            <a:avLst>
              <a:gd name="adj" fmla="val 11111"/>
            </a:avLst>
          </a:prstGeom>
          <a:solidFill>
            <a:srgbClr val="F3E8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51" name="Shape 49"/>
          <p:cNvSpPr/>
          <p:nvPr/>
        </p:nvSpPr>
        <p:spPr>
          <a:xfrm>
            <a:off x="5239512" y="2551176"/>
            <a:ext cx="274320" cy="219456"/>
          </a:xfrm>
          <a:prstGeom prst="ellipse">
            <a:avLst/>
          </a:prstGeom>
          <a:solidFill>
            <a:srgbClr val="6B21A8"/>
          </a:solidFill>
          <a:ln w="12700">
            <a:solidFill>
              <a:srgbClr val="6B21A8"/>
            </a:solidFill>
            <a:prstDash val="solid"/>
          </a:ln>
        </p:spPr>
        <p:txBody>
          <a:bodyPr/>
          <a:lstStyle/>
          <a:p>
            <a:endParaRPr lang="en-US"/>
          </a:p>
        </p:txBody>
      </p:sp>
      <p:sp>
        <p:nvSpPr>
          <p:cNvPr id="52" name="Text 50"/>
          <p:cNvSpPr/>
          <p:nvPr/>
        </p:nvSpPr>
        <p:spPr>
          <a:xfrm>
            <a:off x="5239512" y="2569464"/>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a:t>
            </a:r>
            <a:endParaRPr lang="en-US" sz="850" dirty="0"/>
          </a:p>
        </p:txBody>
      </p:sp>
      <p:sp>
        <p:nvSpPr>
          <p:cNvPr id="53" name="Text 51"/>
          <p:cNvSpPr/>
          <p:nvPr/>
        </p:nvSpPr>
        <p:spPr>
          <a:xfrm>
            <a:off x="4672584" y="2807208"/>
            <a:ext cx="1408176" cy="164592"/>
          </a:xfrm>
          <a:prstGeom prst="rect">
            <a:avLst/>
          </a:prstGeom>
          <a:noFill/>
          <a:ln/>
        </p:spPr>
        <p:txBody>
          <a:bodyPr wrap="square" lIns="0" tIns="0" rIns="0" bIns="0" rtlCol="0" anchor="ctr"/>
          <a:lstStyle/>
          <a:p>
            <a:pPr marL="0" indent="0" algn="ctr">
              <a:buNone/>
            </a:pPr>
            <a:r>
              <a:rPr lang="en-US" sz="900" b="1" dirty="0">
                <a:solidFill>
                  <a:srgbClr val="6B21A8"/>
                </a:solidFill>
                <a:latin typeface="Calibri" pitchFamily="34" charset="0"/>
                <a:ea typeface="Calibri" pitchFamily="34" charset="-122"/>
                <a:cs typeface="Calibri" pitchFamily="34" charset="-120"/>
              </a:rPr>
              <a:t>Protagonist</a:t>
            </a:r>
            <a:endParaRPr lang="en-US" sz="900" dirty="0"/>
          </a:p>
        </p:txBody>
      </p:sp>
      <p:sp>
        <p:nvSpPr>
          <p:cNvPr id="54" name="Text 52"/>
          <p:cNvSpPr/>
          <p:nvPr/>
        </p:nvSpPr>
        <p:spPr>
          <a:xfrm>
            <a:off x="4672584" y="2962656"/>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onboarding</a:t>
            </a:r>
            <a:endParaRPr lang="en-US" sz="750" dirty="0"/>
          </a:p>
        </p:txBody>
      </p:sp>
      <p:sp>
        <p:nvSpPr>
          <p:cNvPr id="55" name="Shape 53"/>
          <p:cNvSpPr/>
          <p:nvPr/>
        </p:nvSpPr>
        <p:spPr>
          <a:xfrm>
            <a:off x="6135624" y="2816352"/>
            <a:ext cx="54864" cy="0"/>
          </a:xfrm>
          <a:prstGeom prst="line">
            <a:avLst/>
          </a:prstGeom>
          <a:noFill/>
          <a:ln w="12700">
            <a:solidFill>
              <a:srgbClr val="1A2B4A"/>
            </a:solidFill>
            <a:prstDash val="solid"/>
          </a:ln>
        </p:spPr>
        <p:txBody>
          <a:bodyPr/>
          <a:lstStyle/>
          <a:p>
            <a:endParaRPr lang="en-US"/>
          </a:p>
        </p:txBody>
      </p:sp>
      <p:sp>
        <p:nvSpPr>
          <p:cNvPr id="56" name="Shape 54"/>
          <p:cNvSpPr/>
          <p:nvPr/>
        </p:nvSpPr>
        <p:spPr>
          <a:xfrm>
            <a:off x="6187745" y="2752344"/>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57" name="Shape 55"/>
          <p:cNvSpPr/>
          <p:nvPr/>
        </p:nvSpPr>
        <p:spPr>
          <a:xfrm>
            <a:off x="6227064" y="2487168"/>
            <a:ext cx="1517904" cy="658368"/>
          </a:xfrm>
          <a:prstGeom prst="roundRect">
            <a:avLst>
              <a:gd name="adj" fmla="val 11111"/>
            </a:avLst>
          </a:prstGeom>
          <a:solidFill>
            <a:srgbClr val="FEF0E7"/>
          </a:solidFill>
          <a:ln w="12700">
            <a:solidFill>
              <a:srgbClr val="C05621"/>
            </a:solidFill>
            <a:prstDash val="solid"/>
          </a:ln>
          <a:effectLst>
            <a:outerShdw blurRad="76200" dist="25400" dir="2700000" algn="bl" rotWithShape="0">
              <a:srgbClr val="000000">
                <a:alpha val="8000"/>
              </a:srgbClr>
            </a:outerShdw>
          </a:effectLst>
        </p:spPr>
        <p:txBody>
          <a:bodyPr/>
          <a:lstStyle/>
          <a:p>
            <a:endParaRPr lang="en-US"/>
          </a:p>
        </p:txBody>
      </p:sp>
      <p:sp>
        <p:nvSpPr>
          <p:cNvPr id="58" name="Shape 56"/>
          <p:cNvSpPr/>
          <p:nvPr/>
        </p:nvSpPr>
        <p:spPr>
          <a:xfrm>
            <a:off x="6848856" y="2551176"/>
            <a:ext cx="274320" cy="219456"/>
          </a:xfrm>
          <a:prstGeom prst="ellipse">
            <a:avLst/>
          </a:prstGeom>
          <a:solidFill>
            <a:srgbClr val="C05621"/>
          </a:solidFill>
          <a:ln w="12700">
            <a:solidFill>
              <a:srgbClr val="C05621"/>
            </a:solidFill>
            <a:prstDash val="solid"/>
          </a:ln>
        </p:spPr>
        <p:txBody>
          <a:bodyPr/>
          <a:lstStyle/>
          <a:p>
            <a:endParaRPr lang="en-US"/>
          </a:p>
        </p:txBody>
      </p:sp>
      <p:sp>
        <p:nvSpPr>
          <p:cNvPr id="59" name="Text 57"/>
          <p:cNvSpPr/>
          <p:nvPr/>
        </p:nvSpPr>
        <p:spPr>
          <a:xfrm>
            <a:off x="6848856" y="2569464"/>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8</a:t>
            </a:r>
            <a:endParaRPr lang="en-US" sz="850" dirty="0"/>
          </a:p>
        </p:txBody>
      </p:sp>
      <p:sp>
        <p:nvSpPr>
          <p:cNvPr id="60" name="Text 58"/>
          <p:cNvSpPr/>
          <p:nvPr/>
        </p:nvSpPr>
        <p:spPr>
          <a:xfrm>
            <a:off x="6281928" y="2807208"/>
            <a:ext cx="1408176" cy="164592"/>
          </a:xfrm>
          <a:prstGeom prst="rect">
            <a:avLst/>
          </a:prstGeom>
          <a:noFill/>
          <a:ln/>
        </p:spPr>
        <p:txBody>
          <a:bodyPr wrap="square" lIns="0" tIns="0" rIns="0" bIns="0" rtlCol="0" anchor="ctr"/>
          <a:lstStyle/>
          <a:p>
            <a:pPr marL="0" indent="0" algn="ctr">
              <a:buNone/>
            </a:pPr>
            <a:r>
              <a:rPr lang="en-US" sz="900" b="1" dirty="0">
                <a:solidFill>
                  <a:srgbClr val="C05621"/>
                </a:solidFill>
                <a:latin typeface="Calibri" pitchFamily="34" charset="0"/>
                <a:ea typeface="Calibri" pitchFamily="34" charset="-122"/>
                <a:cs typeface="Calibri" pitchFamily="34" charset="-120"/>
              </a:rPr>
              <a:t>DOP calls</a:t>
            </a:r>
            <a:endParaRPr lang="en-US" sz="900" dirty="0"/>
          </a:p>
        </p:txBody>
      </p:sp>
      <p:sp>
        <p:nvSpPr>
          <p:cNvPr id="61" name="Text 59"/>
          <p:cNvSpPr/>
          <p:nvPr/>
        </p:nvSpPr>
        <p:spPr>
          <a:xfrm>
            <a:off x="6281928" y="2962656"/>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each protagonist</a:t>
            </a:r>
            <a:endParaRPr lang="en-US" sz="750" dirty="0"/>
          </a:p>
        </p:txBody>
      </p:sp>
      <p:sp>
        <p:nvSpPr>
          <p:cNvPr id="62" name="Shape 60"/>
          <p:cNvSpPr/>
          <p:nvPr/>
        </p:nvSpPr>
        <p:spPr>
          <a:xfrm>
            <a:off x="6986016" y="3145536"/>
            <a:ext cx="0" cy="73152"/>
          </a:xfrm>
          <a:prstGeom prst="line">
            <a:avLst/>
          </a:prstGeom>
          <a:noFill/>
          <a:ln w="12700">
            <a:solidFill>
              <a:srgbClr val="1A2B4A"/>
            </a:solidFill>
            <a:prstDash val="solid"/>
          </a:ln>
        </p:spPr>
        <p:txBody>
          <a:bodyPr/>
          <a:lstStyle/>
          <a:p>
            <a:endParaRPr lang="en-US"/>
          </a:p>
        </p:txBody>
      </p:sp>
      <p:sp>
        <p:nvSpPr>
          <p:cNvPr id="63" name="Shape 61"/>
          <p:cNvSpPr/>
          <p:nvPr/>
        </p:nvSpPr>
        <p:spPr>
          <a:xfrm>
            <a:off x="2157984" y="3218688"/>
            <a:ext cx="4828032" cy="0"/>
          </a:xfrm>
          <a:prstGeom prst="line">
            <a:avLst/>
          </a:prstGeom>
          <a:noFill/>
          <a:ln w="12700">
            <a:solidFill>
              <a:srgbClr val="1A2B4A"/>
            </a:solidFill>
            <a:prstDash val="solid"/>
          </a:ln>
        </p:spPr>
        <p:txBody>
          <a:bodyPr/>
          <a:lstStyle/>
          <a:p>
            <a:endParaRPr lang="en-US"/>
          </a:p>
        </p:txBody>
      </p:sp>
      <p:sp>
        <p:nvSpPr>
          <p:cNvPr id="64" name="Shape 62"/>
          <p:cNvSpPr/>
          <p:nvPr/>
        </p:nvSpPr>
        <p:spPr>
          <a:xfrm>
            <a:off x="2157984" y="3218688"/>
            <a:ext cx="0" cy="438912"/>
          </a:xfrm>
          <a:prstGeom prst="line">
            <a:avLst/>
          </a:prstGeom>
          <a:noFill/>
          <a:ln w="12700">
            <a:solidFill>
              <a:srgbClr val="1A2B4A"/>
            </a:solidFill>
            <a:prstDash val="solid"/>
          </a:ln>
        </p:spPr>
        <p:txBody>
          <a:bodyPr/>
          <a:lstStyle/>
          <a:p>
            <a:endParaRPr lang="en-US"/>
          </a:p>
        </p:txBody>
      </p:sp>
      <p:sp>
        <p:nvSpPr>
          <p:cNvPr id="65" name="Shape 63"/>
          <p:cNvSpPr/>
          <p:nvPr/>
        </p:nvSpPr>
        <p:spPr>
          <a:xfrm>
            <a:off x="2103120" y="3575304"/>
            <a:ext cx="109728" cy="82296"/>
          </a:xfrm>
          <a:prstGeom prst="roundRect">
            <a:avLst>
              <a:gd name="adj" fmla="val 11111"/>
            </a:avLst>
          </a:prstGeom>
          <a:solidFill>
            <a:srgbClr val="1A2B4A"/>
          </a:solidFill>
          <a:ln w="12700">
            <a:solidFill>
              <a:srgbClr val="1A2B4A"/>
            </a:solidFill>
            <a:prstDash val="solid"/>
          </a:ln>
        </p:spPr>
        <p:txBody>
          <a:bodyPr/>
          <a:lstStyle/>
          <a:p>
            <a:endParaRPr lang="en-US"/>
          </a:p>
        </p:txBody>
      </p:sp>
      <p:sp>
        <p:nvSpPr>
          <p:cNvPr id="66" name="Shape 64"/>
          <p:cNvSpPr/>
          <p:nvPr/>
        </p:nvSpPr>
        <p:spPr>
          <a:xfrm>
            <a:off x="1399032" y="3657600"/>
            <a:ext cx="1517904" cy="658368"/>
          </a:xfrm>
          <a:prstGeom prst="roundRect">
            <a:avLst>
              <a:gd name="adj" fmla="val 11111"/>
            </a:avLst>
          </a:prstGeom>
          <a:solidFill>
            <a:srgbClr val="E8EDF4"/>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67" name="Shape 65"/>
          <p:cNvSpPr/>
          <p:nvPr/>
        </p:nvSpPr>
        <p:spPr>
          <a:xfrm>
            <a:off x="2020824" y="3721608"/>
            <a:ext cx="274320" cy="219456"/>
          </a:xfrm>
          <a:prstGeom prst="ellipse">
            <a:avLst/>
          </a:prstGeom>
          <a:solidFill>
            <a:srgbClr val="1A2B4A"/>
          </a:solidFill>
          <a:ln w="12700">
            <a:solidFill>
              <a:srgbClr val="1A2B4A"/>
            </a:solidFill>
            <a:prstDash val="solid"/>
          </a:ln>
        </p:spPr>
        <p:txBody>
          <a:bodyPr/>
          <a:lstStyle/>
          <a:p>
            <a:endParaRPr lang="en-US"/>
          </a:p>
        </p:txBody>
      </p:sp>
      <p:sp>
        <p:nvSpPr>
          <p:cNvPr id="68" name="Text 66"/>
          <p:cNvSpPr/>
          <p:nvPr/>
        </p:nvSpPr>
        <p:spPr>
          <a:xfrm>
            <a:off x="2020824" y="3739896"/>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9</a:t>
            </a:r>
            <a:endParaRPr lang="en-US" sz="850" dirty="0"/>
          </a:p>
        </p:txBody>
      </p:sp>
      <p:sp>
        <p:nvSpPr>
          <p:cNvPr id="69" name="Text 67"/>
          <p:cNvSpPr/>
          <p:nvPr/>
        </p:nvSpPr>
        <p:spPr>
          <a:xfrm>
            <a:off x="1453896" y="3977640"/>
            <a:ext cx="1408176" cy="164592"/>
          </a:xfrm>
          <a:prstGeom prst="rect">
            <a:avLst/>
          </a:prstGeom>
          <a:noFill/>
          <a:ln/>
        </p:spPr>
        <p:txBody>
          <a:bodyPr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Interview Qs</a:t>
            </a:r>
            <a:endParaRPr lang="en-US" sz="900" dirty="0"/>
          </a:p>
        </p:txBody>
      </p:sp>
      <p:sp>
        <p:nvSpPr>
          <p:cNvPr id="70" name="Text 68"/>
          <p:cNvSpPr/>
          <p:nvPr/>
        </p:nvSpPr>
        <p:spPr>
          <a:xfrm>
            <a:off x="1453896" y="4133088"/>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prepared &amp; approved</a:t>
            </a:r>
            <a:endParaRPr lang="en-US" sz="750" dirty="0"/>
          </a:p>
        </p:txBody>
      </p:sp>
      <p:sp>
        <p:nvSpPr>
          <p:cNvPr id="71" name="Shape 69"/>
          <p:cNvSpPr/>
          <p:nvPr/>
        </p:nvSpPr>
        <p:spPr>
          <a:xfrm>
            <a:off x="2916936" y="3986784"/>
            <a:ext cx="54864" cy="0"/>
          </a:xfrm>
          <a:prstGeom prst="line">
            <a:avLst/>
          </a:prstGeom>
          <a:noFill/>
          <a:ln w="12700">
            <a:solidFill>
              <a:srgbClr val="1A2B4A"/>
            </a:solidFill>
            <a:prstDash val="solid"/>
          </a:ln>
        </p:spPr>
        <p:txBody>
          <a:bodyPr/>
          <a:lstStyle/>
          <a:p>
            <a:endParaRPr lang="en-US"/>
          </a:p>
        </p:txBody>
      </p:sp>
      <p:sp>
        <p:nvSpPr>
          <p:cNvPr id="72" name="Shape 70"/>
          <p:cNvSpPr/>
          <p:nvPr/>
        </p:nvSpPr>
        <p:spPr>
          <a:xfrm>
            <a:off x="2969057" y="3922776"/>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73" name="Shape 71"/>
          <p:cNvSpPr/>
          <p:nvPr/>
        </p:nvSpPr>
        <p:spPr>
          <a:xfrm>
            <a:off x="3008376" y="3657600"/>
            <a:ext cx="1517904" cy="658368"/>
          </a:xfrm>
          <a:prstGeom prst="roundRect">
            <a:avLst>
              <a:gd name="adj" fmla="val 11111"/>
            </a:avLst>
          </a:prstGeom>
          <a:solidFill>
            <a:srgbClr val="F3E8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74" name="Shape 72"/>
          <p:cNvSpPr/>
          <p:nvPr/>
        </p:nvSpPr>
        <p:spPr>
          <a:xfrm>
            <a:off x="3630168" y="3721608"/>
            <a:ext cx="274320" cy="219456"/>
          </a:xfrm>
          <a:prstGeom prst="ellipse">
            <a:avLst/>
          </a:prstGeom>
          <a:solidFill>
            <a:srgbClr val="6B21A8"/>
          </a:solidFill>
          <a:ln w="12700">
            <a:solidFill>
              <a:srgbClr val="6B21A8"/>
            </a:solidFill>
            <a:prstDash val="solid"/>
          </a:ln>
        </p:spPr>
        <p:txBody>
          <a:bodyPr/>
          <a:lstStyle/>
          <a:p>
            <a:endParaRPr lang="en-US"/>
          </a:p>
        </p:txBody>
      </p:sp>
      <p:sp>
        <p:nvSpPr>
          <p:cNvPr id="75" name="Text 73"/>
          <p:cNvSpPr/>
          <p:nvPr/>
        </p:nvSpPr>
        <p:spPr>
          <a:xfrm>
            <a:off x="3630168" y="3739896"/>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10</a:t>
            </a:r>
            <a:endParaRPr lang="en-US" sz="850" dirty="0"/>
          </a:p>
        </p:txBody>
      </p:sp>
      <p:sp>
        <p:nvSpPr>
          <p:cNvPr id="76" name="Text 74"/>
          <p:cNvSpPr/>
          <p:nvPr/>
        </p:nvSpPr>
        <p:spPr>
          <a:xfrm>
            <a:off x="3063240" y="3977640"/>
            <a:ext cx="1408176" cy="164592"/>
          </a:xfrm>
          <a:prstGeom prst="rect">
            <a:avLst/>
          </a:prstGeom>
          <a:noFill/>
          <a:ln/>
        </p:spPr>
        <p:txBody>
          <a:bodyPr wrap="square" lIns="0" tIns="0" rIns="0" bIns="0" rtlCol="0" anchor="ctr"/>
          <a:lstStyle/>
          <a:p>
            <a:pPr marL="0" indent="0" algn="ctr">
              <a:buNone/>
            </a:pPr>
            <a:r>
              <a:rPr lang="en-US" sz="900" b="1" dirty="0">
                <a:solidFill>
                  <a:srgbClr val="6B21A8"/>
                </a:solidFill>
                <a:latin typeface="Calibri" pitchFamily="34" charset="0"/>
                <a:ea typeface="Calibri" pitchFamily="34" charset="-122"/>
                <a:cs typeface="Calibri" pitchFamily="34" charset="-120"/>
              </a:rPr>
              <a:t>Zoom interviews</a:t>
            </a:r>
            <a:endParaRPr lang="en-US" sz="900" dirty="0"/>
          </a:p>
        </p:txBody>
      </p:sp>
      <p:sp>
        <p:nvSpPr>
          <p:cNvPr id="77" name="Text 75"/>
          <p:cNvSpPr/>
          <p:nvPr/>
        </p:nvSpPr>
        <p:spPr>
          <a:xfrm>
            <a:off x="3063240" y="4133088"/>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5 protagonists only</a:t>
            </a:r>
            <a:endParaRPr lang="en-US" sz="750" dirty="0"/>
          </a:p>
        </p:txBody>
      </p:sp>
      <p:sp>
        <p:nvSpPr>
          <p:cNvPr id="78" name="Shape 76"/>
          <p:cNvSpPr/>
          <p:nvPr/>
        </p:nvSpPr>
        <p:spPr>
          <a:xfrm>
            <a:off x="4526280" y="3986784"/>
            <a:ext cx="54864" cy="0"/>
          </a:xfrm>
          <a:prstGeom prst="line">
            <a:avLst/>
          </a:prstGeom>
          <a:noFill/>
          <a:ln w="12700">
            <a:solidFill>
              <a:srgbClr val="1A2B4A"/>
            </a:solidFill>
            <a:prstDash val="solid"/>
          </a:ln>
        </p:spPr>
        <p:txBody>
          <a:bodyPr/>
          <a:lstStyle/>
          <a:p>
            <a:endParaRPr lang="en-US"/>
          </a:p>
        </p:txBody>
      </p:sp>
      <p:sp>
        <p:nvSpPr>
          <p:cNvPr id="79" name="Shape 77"/>
          <p:cNvSpPr/>
          <p:nvPr/>
        </p:nvSpPr>
        <p:spPr>
          <a:xfrm>
            <a:off x="4578401" y="3922776"/>
            <a:ext cx="91440" cy="128016"/>
          </a:xfrm>
          <a:prstGeom prst="roundRect">
            <a:avLst>
              <a:gd name="adj" fmla="val 10000"/>
            </a:avLst>
          </a:prstGeom>
          <a:solidFill>
            <a:srgbClr val="1A2B4A"/>
          </a:solidFill>
          <a:ln w="12700">
            <a:solidFill>
              <a:srgbClr val="1A2B4A"/>
            </a:solidFill>
            <a:prstDash val="solid"/>
          </a:ln>
        </p:spPr>
        <p:txBody>
          <a:bodyPr/>
          <a:lstStyle/>
          <a:p>
            <a:endParaRPr lang="en-US"/>
          </a:p>
        </p:txBody>
      </p:sp>
      <p:sp>
        <p:nvSpPr>
          <p:cNvPr id="80" name="Shape 78"/>
          <p:cNvSpPr/>
          <p:nvPr/>
        </p:nvSpPr>
        <p:spPr>
          <a:xfrm>
            <a:off x="4617720" y="3657600"/>
            <a:ext cx="1517904" cy="658368"/>
          </a:xfrm>
          <a:prstGeom prst="roundRect">
            <a:avLst>
              <a:gd name="adj" fmla="val 11111"/>
            </a:avLst>
          </a:prstGeom>
          <a:solidFill>
            <a:srgbClr val="E8EDF4"/>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81" name="Shape 79"/>
          <p:cNvSpPr/>
          <p:nvPr/>
        </p:nvSpPr>
        <p:spPr>
          <a:xfrm>
            <a:off x="5239512" y="3721608"/>
            <a:ext cx="274320" cy="219456"/>
          </a:xfrm>
          <a:prstGeom prst="ellipse">
            <a:avLst/>
          </a:prstGeom>
          <a:solidFill>
            <a:srgbClr val="1A2B4A"/>
          </a:solidFill>
          <a:ln w="12700">
            <a:solidFill>
              <a:srgbClr val="1A2B4A"/>
            </a:solidFill>
            <a:prstDash val="solid"/>
          </a:ln>
        </p:spPr>
        <p:txBody>
          <a:bodyPr/>
          <a:lstStyle/>
          <a:p>
            <a:endParaRPr lang="en-US"/>
          </a:p>
        </p:txBody>
      </p:sp>
      <p:sp>
        <p:nvSpPr>
          <p:cNvPr id="82" name="Text 80"/>
          <p:cNvSpPr/>
          <p:nvPr/>
        </p:nvSpPr>
        <p:spPr>
          <a:xfrm>
            <a:off x="5239512" y="3739896"/>
            <a:ext cx="274320" cy="18288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11</a:t>
            </a:r>
            <a:endParaRPr lang="en-US" sz="850" dirty="0"/>
          </a:p>
        </p:txBody>
      </p:sp>
      <p:sp>
        <p:nvSpPr>
          <p:cNvPr id="83" name="Text 81"/>
          <p:cNvSpPr/>
          <p:nvPr/>
        </p:nvSpPr>
        <p:spPr>
          <a:xfrm>
            <a:off x="4672584" y="3977640"/>
            <a:ext cx="1408176" cy="164592"/>
          </a:xfrm>
          <a:prstGeom prst="rect">
            <a:avLst/>
          </a:prstGeom>
          <a:noFill/>
          <a:ln/>
        </p:spPr>
        <p:txBody>
          <a:bodyPr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Budget decision</a:t>
            </a:r>
            <a:endParaRPr lang="en-US" sz="900" dirty="0"/>
          </a:p>
        </p:txBody>
      </p:sp>
      <p:sp>
        <p:nvSpPr>
          <p:cNvPr id="84" name="Text 82"/>
          <p:cNvSpPr/>
          <p:nvPr/>
        </p:nvSpPr>
        <p:spPr>
          <a:xfrm>
            <a:off x="4672584" y="4133088"/>
            <a:ext cx="1408176" cy="146304"/>
          </a:xfrm>
          <a:prstGeom prst="rect">
            <a:avLst/>
          </a:prstGeom>
          <a:noFill/>
          <a:ln/>
        </p:spPr>
        <p:txBody>
          <a:bodyPr wrap="square" lIns="0" tIns="0" rIns="0" bIns="0" rtlCol="0" anchor="ctr"/>
          <a:lstStyle/>
          <a:p>
            <a:pPr marL="0" indent="0" algn="ctr">
              <a:buNone/>
            </a:pPr>
            <a:r>
              <a:rPr lang="en-US" sz="750" dirty="0">
                <a:solidFill>
                  <a:srgbClr val="6B7280"/>
                </a:solidFill>
                <a:latin typeface="Calibri" pitchFamily="34" charset="0"/>
                <a:ea typeface="Calibri" pitchFamily="34" charset="-122"/>
                <a:cs typeface="Calibri" pitchFamily="34" charset="-120"/>
              </a:rPr>
              <a:t>owner confirmed</a:t>
            </a:r>
            <a:endParaRPr lang="en-US" sz="750" dirty="0"/>
          </a:p>
        </p:txBody>
      </p:sp>
      <p:sp>
        <p:nvSpPr>
          <p:cNvPr id="85" name="Text 83"/>
          <p:cNvSpPr/>
          <p:nvPr/>
        </p:nvSpPr>
        <p:spPr>
          <a:xfrm>
            <a:off x="1399032" y="1993392"/>
            <a:ext cx="6437376" cy="164592"/>
          </a:xfrm>
          <a:prstGeom prst="rect">
            <a:avLst/>
          </a:prstGeom>
          <a:noFill/>
          <a:ln/>
        </p:spPr>
        <p:txBody>
          <a:bodyPr wrap="square" lIns="0" tIns="0" rIns="0" bIns="0" rtlCol="0" anchor="ctr"/>
          <a:lstStyle/>
          <a:p>
            <a:pPr marL="0" indent="0">
              <a:buNone/>
            </a:pPr>
            <a:r>
              <a:rPr lang="en-US" sz="750" i="1" dirty="0">
                <a:solidFill>
                  <a:srgbClr val="6B7280"/>
                </a:solidFill>
                <a:latin typeface="Calibri" pitchFamily="34" charset="0"/>
                <a:ea typeface="Calibri" pitchFamily="34" charset="-122"/>
                <a:cs typeface="Calibri" pitchFamily="34" charset="-120"/>
              </a:rPr>
              <a:t>← Weeks 1–2 →</a:t>
            </a:r>
            <a:endParaRPr lang="en-US" sz="750" dirty="0"/>
          </a:p>
        </p:txBody>
      </p:sp>
      <p:sp>
        <p:nvSpPr>
          <p:cNvPr id="86" name="Text 84"/>
          <p:cNvSpPr/>
          <p:nvPr/>
        </p:nvSpPr>
        <p:spPr>
          <a:xfrm>
            <a:off x="1399032" y="3163824"/>
            <a:ext cx="6437376" cy="164592"/>
          </a:xfrm>
          <a:prstGeom prst="rect">
            <a:avLst/>
          </a:prstGeom>
          <a:noFill/>
          <a:ln/>
        </p:spPr>
        <p:txBody>
          <a:bodyPr wrap="square" lIns="0" tIns="0" rIns="0" bIns="0" rtlCol="0" anchor="ctr"/>
          <a:lstStyle/>
          <a:p>
            <a:pPr marL="0" indent="0">
              <a:buNone/>
            </a:pPr>
            <a:r>
              <a:rPr lang="en-US" sz="750" i="1" dirty="0">
                <a:solidFill>
                  <a:srgbClr val="6B7280"/>
                </a:solidFill>
                <a:latin typeface="Calibri" pitchFamily="34" charset="0"/>
                <a:ea typeface="Calibri" pitchFamily="34" charset="-122"/>
                <a:cs typeface="Calibri" pitchFamily="34" charset="-120"/>
              </a:rPr>
              <a:t>← Weeks 2–3 →</a:t>
            </a:r>
            <a:endParaRPr lang="en-US" sz="750" dirty="0"/>
          </a:p>
        </p:txBody>
      </p:sp>
      <p:sp>
        <p:nvSpPr>
          <p:cNvPr id="87" name="Text 85"/>
          <p:cNvSpPr/>
          <p:nvPr/>
        </p:nvSpPr>
        <p:spPr>
          <a:xfrm>
            <a:off x="1399032" y="4334256"/>
            <a:ext cx="4828032" cy="164592"/>
          </a:xfrm>
          <a:prstGeom prst="rect">
            <a:avLst/>
          </a:prstGeom>
          <a:noFill/>
          <a:ln/>
        </p:spPr>
        <p:txBody>
          <a:bodyPr wrap="square" lIns="0" tIns="0" rIns="0" bIns="0" rtlCol="0" anchor="ctr"/>
          <a:lstStyle/>
          <a:p>
            <a:pPr marL="0" indent="0">
              <a:buNone/>
            </a:pPr>
            <a:r>
              <a:rPr lang="en-US" sz="750" i="1" dirty="0">
                <a:solidFill>
                  <a:srgbClr val="6B7280"/>
                </a:solidFill>
                <a:latin typeface="Calibri" pitchFamily="34" charset="0"/>
                <a:ea typeface="Calibri" pitchFamily="34" charset="-122"/>
                <a:cs typeface="Calibri" pitchFamily="34" charset="-120"/>
              </a:rPr>
              <a:t>← Week 4 →</a:t>
            </a:r>
            <a:endParaRPr lang="en-US" sz="750" dirty="0"/>
          </a:p>
        </p:txBody>
      </p:sp>
      <p:sp>
        <p:nvSpPr>
          <p:cNvPr id="88" name="Text 5">
            <a:extLst>
              <a:ext uri="{FF2B5EF4-FFF2-40B4-BE49-F238E27FC236}">
                <a16:creationId xmlns:a16="http://schemas.microsoft.com/office/drawing/2014/main" id="{5CA17F94-8D8B-D8AF-390E-62BBEFB457D0}"/>
              </a:ext>
            </a:extLst>
          </p:cNvPr>
          <p:cNvSpPr/>
          <p:nvPr/>
        </p:nvSpPr>
        <p:spPr>
          <a:xfrm>
            <a:off x="457200" y="4647844"/>
            <a:ext cx="1097280" cy="256032"/>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COLOUR KEY:</a:t>
            </a:r>
            <a:endParaRPr lang="en-US" sz="900" dirty="0"/>
          </a:p>
        </p:txBody>
      </p:sp>
      <p:sp>
        <p:nvSpPr>
          <p:cNvPr id="89" name="Shape 6">
            <a:extLst>
              <a:ext uri="{FF2B5EF4-FFF2-40B4-BE49-F238E27FC236}">
                <a16:creationId xmlns:a16="http://schemas.microsoft.com/office/drawing/2014/main" id="{F6125256-4E8E-0737-64C3-F1C420E46FC9}"/>
              </a:ext>
            </a:extLst>
          </p:cNvPr>
          <p:cNvSpPr/>
          <p:nvPr/>
        </p:nvSpPr>
        <p:spPr>
          <a:xfrm>
            <a:off x="1600200" y="4684420"/>
            <a:ext cx="201168" cy="201168"/>
          </a:xfrm>
          <a:prstGeom prst="roundRect">
            <a:avLst>
              <a:gd name="adj" fmla="val 18182"/>
            </a:avLst>
          </a:prstGeom>
          <a:solidFill>
            <a:srgbClr val="1A2B4A"/>
          </a:solidFill>
          <a:ln w="12700">
            <a:solidFill>
              <a:srgbClr val="1A2B4A"/>
            </a:solidFill>
            <a:prstDash val="solid"/>
          </a:ln>
        </p:spPr>
        <p:txBody>
          <a:bodyPr/>
          <a:lstStyle/>
          <a:p>
            <a:endParaRPr lang="en-US"/>
          </a:p>
        </p:txBody>
      </p:sp>
      <p:sp>
        <p:nvSpPr>
          <p:cNvPr id="90" name="Text 7">
            <a:extLst>
              <a:ext uri="{FF2B5EF4-FFF2-40B4-BE49-F238E27FC236}">
                <a16:creationId xmlns:a16="http://schemas.microsoft.com/office/drawing/2014/main" id="{1D1E7189-2178-B22E-8B55-56102A077183}"/>
              </a:ext>
            </a:extLst>
          </p:cNvPr>
          <p:cNvSpPr/>
          <p:nvPr/>
        </p:nvSpPr>
        <p:spPr>
          <a:xfrm>
            <a:off x="1856232" y="4684420"/>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Munish</a:t>
            </a:r>
            <a:endParaRPr lang="en-US" sz="1000" dirty="0"/>
          </a:p>
        </p:txBody>
      </p:sp>
      <p:sp>
        <p:nvSpPr>
          <p:cNvPr id="91" name="Shape 8">
            <a:extLst>
              <a:ext uri="{FF2B5EF4-FFF2-40B4-BE49-F238E27FC236}">
                <a16:creationId xmlns:a16="http://schemas.microsoft.com/office/drawing/2014/main" id="{1D7C98E8-8471-A9CA-3870-7272D76DA147}"/>
              </a:ext>
            </a:extLst>
          </p:cNvPr>
          <p:cNvSpPr/>
          <p:nvPr/>
        </p:nvSpPr>
        <p:spPr>
          <a:xfrm>
            <a:off x="2834640" y="4684420"/>
            <a:ext cx="201168" cy="201168"/>
          </a:xfrm>
          <a:prstGeom prst="roundRect">
            <a:avLst>
              <a:gd name="adj" fmla="val 18182"/>
            </a:avLst>
          </a:prstGeom>
          <a:solidFill>
            <a:srgbClr val="6B21A8"/>
          </a:solidFill>
          <a:ln w="12700">
            <a:solidFill>
              <a:srgbClr val="6B21A8"/>
            </a:solidFill>
            <a:prstDash val="solid"/>
          </a:ln>
        </p:spPr>
        <p:txBody>
          <a:bodyPr/>
          <a:lstStyle/>
          <a:p>
            <a:endParaRPr lang="en-US"/>
          </a:p>
        </p:txBody>
      </p:sp>
      <p:sp>
        <p:nvSpPr>
          <p:cNvPr id="92" name="Text 9">
            <a:extLst>
              <a:ext uri="{FF2B5EF4-FFF2-40B4-BE49-F238E27FC236}">
                <a16:creationId xmlns:a16="http://schemas.microsoft.com/office/drawing/2014/main" id="{62D2C173-4C6F-C814-6363-CDC970ACBB26}"/>
              </a:ext>
            </a:extLst>
          </p:cNvPr>
          <p:cNvSpPr/>
          <p:nvPr/>
        </p:nvSpPr>
        <p:spPr>
          <a:xfrm>
            <a:off x="3090672" y="4684420"/>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Shefali</a:t>
            </a:r>
            <a:endParaRPr lang="en-US" sz="1000" dirty="0"/>
          </a:p>
        </p:txBody>
      </p:sp>
      <p:sp>
        <p:nvSpPr>
          <p:cNvPr id="93" name="Shape 10">
            <a:extLst>
              <a:ext uri="{FF2B5EF4-FFF2-40B4-BE49-F238E27FC236}">
                <a16:creationId xmlns:a16="http://schemas.microsoft.com/office/drawing/2014/main" id="{957FA79D-97F8-1E6C-7598-469D0C9128FB}"/>
              </a:ext>
            </a:extLst>
          </p:cNvPr>
          <p:cNvSpPr/>
          <p:nvPr/>
        </p:nvSpPr>
        <p:spPr>
          <a:xfrm>
            <a:off x="4069080" y="4684420"/>
            <a:ext cx="201168" cy="201168"/>
          </a:xfrm>
          <a:prstGeom prst="roundRect">
            <a:avLst>
              <a:gd name="adj" fmla="val 18182"/>
            </a:avLst>
          </a:prstGeom>
          <a:solidFill>
            <a:srgbClr val="0D7377"/>
          </a:solidFill>
          <a:ln w="12700">
            <a:solidFill>
              <a:srgbClr val="0D7377"/>
            </a:solidFill>
            <a:prstDash val="solid"/>
          </a:ln>
        </p:spPr>
        <p:txBody>
          <a:bodyPr/>
          <a:lstStyle/>
          <a:p>
            <a:endParaRPr lang="en-US"/>
          </a:p>
        </p:txBody>
      </p:sp>
      <p:sp>
        <p:nvSpPr>
          <p:cNvPr id="94" name="Text 11">
            <a:extLst>
              <a:ext uri="{FF2B5EF4-FFF2-40B4-BE49-F238E27FC236}">
                <a16:creationId xmlns:a16="http://schemas.microsoft.com/office/drawing/2014/main" id="{1ED5A557-D71D-C348-305F-1C11A0954F6B}"/>
              </a:ext>
            </a:extLst>
          </p:cNvPr>
          <p:cNvSpPr/>
          <p:nvPr/>
        </p:nvSpPr>
        <p:spPr>
          <a:xfrm>
            <a:off x="4325112" y="4684420"/>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Hansh</a:t>
            </a:r>
            <a:endParaRPr lang="en-US" sz="1000" dirty="0"/>
          </a:p>
        </p:txBody>
      </p:sp>
      <p:sp>
        <p:nvSpPr>
          <p:cNvPr id="95" name="Shape 12">
            <a:extLst>
              <a:ext uri="{FF2B5EF4-FFF2-40B4-BE49-F238E27FC236}">
                <a16:creationId xmlns:a16="http://schemas.microsoft.com/office/drawing/2014/main" id="{89171420-C875-10D7-6EB3-F609E07672AE}"/>
              </a:ext>
            </a:extLst>
          </p:cNvPr>
          <p:cNvSpPr/>
          <p:nvPr/>
        </p:nvSpPr>
        <p:spPr>
          <a:xfrm>
            <a:off x="5303520" y="4684420"/>
            <a:ext cx="201168" cy="201168"/>
          </a:xfrm>
          <a:prstGeom prst="roundRect">
            <a:avLst>
              <a:gd name="adj" fmla="val 18182"/>
            </a:avLst>
          </a:prstGeom>
          <a:solidFill>
            <a:srgbClr val="C05621"/>
          </a:solidFill>
          <a:ln w="12700">
            <a:solidFill>
              <a:srgbClr val="C05621"/>
            </a:solidFill>
            <a:prstDash val="solid"/>
          </a:ln>
        </p:spPr>
        <p:txBody>
          <a:bodyPr/>
          <a:lstStyle/>
          <a:p>
            <a:endParaRPr lang="en-US"/>
          </a:p>
        </p:txBody>
      </p:sp>
      <p:sp>
        <p:nvSpPr>
          <p:cNvPr id="96" name="Text 13">
            <a:extLst>
              <a:ext uri="{FF2B5EF4-FFF2-40B4-BE49-F238E27FC236}">
                <a16:creationId xmlns:a16="http://schemas.microsoft.com/office/drawing/2014/main" id="{33D2F33E-CAB4-2C42-8E98-6DB89716213D}"/>
              </a:ext>
            </a:extLst>
          </p:cNvPr>
          <p:cNvSpPr/>
          <p:nvPr/>
        </p:nvSpPr>
        <p:spPr>
          <a:xfrm>
            <a:off x="5559552" y="4684420"/>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Eddie</a:t>
            </a:r>
            <a:endParaRPr lang="en-US" sz="1000" dirty="0"/>
          </a:p>
        </p:txBody>
      </p:sp>
      <p:sp>
        <p:nvSpPr>
          <p:cNvPr id="97" name="Shape 14">
            <a:extLst>
              <a:ext uri="{FF2B5EF4-FFF2-40B4-BE49-F238E27FC236}">
                <a16:creationId xmlns:a16="http://schemas.microsoft.com/office/drawing/2014/main" id="{3F1BEF79-17B3-D81A-78AA-FB836A4F631C}"/>
              </a:ext>
            </a:extLst>
          </p:cNvPr>
          <p:cNvSpPr/>
          <p:nvPr/>
        </p:nvSpPr>
        <p:spPr>
          <a:xfrm>
            <a:off x="6537960" y="4684420"/>
            <a:ext cx="201168" cy="201168"/>
          </a:xfrm>
          <a:prstGeom prst="roundRect">
            <a:avLst>
              <a:gd name="adj" fmla="val 18182"/>
            </a:avLst>
          </a:prstGeom>
          <a:solidFill>
            <a:srgbClr val="1A6B3C"/>
          </a:solidFill>
          <a:ln w="12700">
            <a:solidFill>
              <a:srgbClr val="1A6B3C"/>
            </a:solidFill>
            <a:prstDash val="solid"/>
          </a:ln>
        </p:spPr>
        <p:txBody>
          <a:bodyPr/>
          <a:lstStyle/>
          <a:p>
            <a:endParaRPr lang="en-US"/>
          </a:p>
        </p:txBody>
      </p:sp>
      <p:sp>
        <p:nvSpPr>
          <p:cNvPr id="98" name="Text 15">
            <a:extLst>
              <a:ext uri="{FF2B5EF4-FFF2-40B4-BE49-F238E27FC236}">
                <a16:creationId xmlns:a16="http://schemas.microsoft.com/office/drawing/2014/main" id="{3BB2ABC2-AD53-EA8D-B48D-5E9FB9302C7E}"/>
              </a:ext>
            </a:extLst>
          </p:cNvPr>
          <p:cNvSpPr/>
          <p:nvPr/>
        </p:nvSpPr>
        <p:spPr>
          <a:xfrm>
            <a:off x="6793992" y="4684420"/>
            <a:ext cx="914400" cy="201168"/>
          </a:xfrm>
          <a:prstGeom prst="rect">
            <a:avLst/>
          </a:prstGeom>
          <a:noFill/>
          <a:ln/>
        </p:spPr>
        <p:txBody>
          <a:bodyPr wrap="square" lIns="0" tIns="0" rIns="0" bIns="0" rtlCol="0" anchor="ctr"/>
          <a:lstStyle/>
          <a:p>
            <a:pPr marL="0" indent="0">
              <a:buNone/>
            </a:pPr>
            <a:r>
              <a:rPr lang="en-US" sz="1000" dirty="0">
                <a:solidFill>
                  <a:srgbClr val="111111"/>
                </a:solidFill>
                <a:latin typeface="Calibri" pitchFamily="34" charset="0"/>
                <a:ea typeface="Calibri" pitchFamily="34" charset="-122"/>
                <a:cs typeface="Calibri" pitchFamily="34" charset="-120"/>
              </a:rPr>
              <a:t>Yash</a:t>
            </a:r>
            <a:endParaRPr lang="en-US" sz="1000" dirty="0"/>
          </a:p>
        </p:txBody>
      </p:sp>
      <p:sp>
        <p:nvSpPr>
          <p:cNvPr id="99" name="Shape 16">
            <a:extLst>
              <a:ext uri="{FF2B5EF4-FFF2-40B4-BE49-F238E27FC236}">
                <a16:creationId xmlns:a16="http://schemas.microsoft.com/office/drawing/2014/main" id="{EF04A8B0-F9C8-FB4D-601B-2DED539BD034}"/>
              </a:ext>
            </a:extLst>
          </p:cNvPr>
          <p:cNvSpPr/>
          <p:nvPr/>
        </p:nvSpPr>
        <p:spPr>
          <a:xfrm>
            <a:off x="7772400" y="4684420"/>
            <a:ext cx="201168" cy="201168"/>
          </a:xfrm>
          <a:prstGeom prst="roundRect">
            <a:avLst>
              <a:gd name="adj" fmla="val 18182"/>
            </a:avLst>
          </a:prstGeom>
          <a:solidFill>
            <a:srgbClr val="9CA3AF"/>
          </a:solidFill>
          <a:ln w="12700">
            <a:solidFill>
              <a:srgbClr val="9CA3AF"/>
            </a:solidFill>
            <a:prstDash val="solid"/>
          </a:ln>
        </p:spPr>
        <p:txBody>
          <a:bodyPr/>
          <a:lstStyle/>
          <a:p>
            <a:endParaRPr lang="en-US"/>
          </a:p>
        </p:txBody>
      </p:sp>
      <p:sp>
        <p:nvSpPr>
          <p:cNvPr id="100" name="Shape 78">
            <a:extLst>
              <a:ext uri="{FF2B5EF4-FFF2-40B4-BE49-F238E27FC236}">
                <a16:creationId xmlns:a16="http://schemas.microsoft.com/office/drawing/2014/main" id="{8507E902-D23E-47DF-412E-F71514714DB7}"/>
              </a:ext>
            </a:extLst>
          </p:cNvPr>
          <p:cNvSpPr/>
          <p:nvPr/>
        </p:nvSpPr>
        <p:spPr>
          <a:xfrm rot="16200000">
            <a:off x="6813733" y="2497765"/>
            <a:ext cx="3014614" cy="658368"/>
          </a:xfrm>
          <a:prstGeom prst="roundRect">
            <a:avLst>
              <a:gd name="adj" fmla="val 11111"/>
            </a:avLst>
          </a:prstGeom>
          <a:solidFill>
            <a:srgbClr val="C2F0D6"/>
          </a:solidFill>
          <a:ln w="12700">
            <a:solidFill>
              <a:srgbClr val="1A6B3C"/>
            </a:solidFill>
            <a:prstDash val="solid"/>
          </a:ln>
          <a:effectLst>
            <a:outerShdw blurRad="76200" dist="25400" dir="2700000" algn="bl" rotWithShape="0">
              <a:srgbClr val="000000">
                <a:alpha val="8000"/>
              </a:srgbClr>
            </a:outerShdw>
          </a:effectLst>
        </p:spPr>
        <p:txBody>
          <a:bodyPr/>
          <a:lstStyle/>
          <a:p>
            <a:endParaRPr lang="en-US"/>
          </a:p>
        </p:txBody>
      </p:sp>
      <p:sp>
        <p:nvSpPr>
          <p:cNvPr id="102" name="Shape 26">
            <a:extLst>
              <a:ext uri="{FF2B5EF4-FFF2-40B4-BE49-F238E27FC236}">
                <a16:creationId xmlns:a16="http://schemas.microsoft.com/office/drawing/2014/main" id="{4CA7C10A-212F-7B72-FFB8-1EE41D2E6FD4}"/>
              </a:ext>
            </a:extLst>
          </p:cNvPr>
          <p:cNvSpPr/>
          <p:nvPr/>
        </p:nvSpPr>
        <p:spPr>
          <a:xfrm>
            <a:off x="8200796" y="1472184"/>
            <a:ext cx="274320" cy="219456"/>
          </a:xfrm>
          <a:prstGeom prst="ellipse">
            <a:avLst/>
          </a:prstGeom>
          <a:solidFill>
            <a:srgbClr val="1A6B3C"/>
          </a:solidFill>
          <a:ln w="12700">
            <a:solidFill>
              <a:srgbClr val="C2F0D6"/>
            </a:solidFill>
            <a:prstDash val="solid"/>
          </a:ln>
        </p:spPr>
        <p:txBody>
          <a:bodyPr/>
          <a:lstStyle/>
          <a:p>
            <a:endParaRPr lang="en-US"/>
          </a:p>
        </p:txBody>
      </p:sp>
      <p:sp>
        <p:nvSpPr>
          <p:cNvPr id="103" name="Text 27">
            <a:extLst>
              <a:ext uri="{FF2B5EF4-FFF2-40B4-BE49-F238E27FC236}">
                <a16:creationId xmlns:a16="http://schemas.microsoft.com/office/drawing/2014/main" id="{2A3B3578-6D29-265E-1907-AF1E85CFCFA9}"/>
              </a:ext>
            </a:extLst>
          </p:cNvPr>
          <p:cNvSpPr/>
          <p:nvPr/>
        </p:nvSpPr>
        <p:spPr>
          <a:xfrm>
            <a:off x="8200796" y="1490472"/>
            <a:ext cx="274320" cy="182880"/>
          </a:xfrm>
          <a:prstGeom prst="rect">
            <a:avLst/>
          </a:prstGeom>
          <a:noFill/>
          <a:ln>
            <a:solidFill>
              <a:srgbClr val="C2F0D6"/>
            </a:solid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a:t>
            </a:r>
            <a:endParaRPr lang="en-US" sz="850" dirty="0"/>
          </a:p>
        </p:txBody>
      </p:sp>
      <p:sp>
        <p:nvSpPr>
          <p:cNvPr id="104" name="Text 28">
            <a:extLst>
              <a:ext uri="{FF2B5EF4-FFF2-40B4-BE49-F238E27FC236}">
                <a16:creationId xmlns:a16="http://schemas.microsoft.com/office/drawing/2014/main" id="{08EF9407-CAC0-9574-D80C-6C5CDA075B9F}"/>
              </a:ext>
            </a:extLst>
          </p:cNvPr>
          <p:cNvSpPr/>
          <p:nvPr/>
        </p:nvSpPr>
        <p:spPr>
          <a:xfrm>
            <a:off x="7610998" y="1886569"/>
            <a:ext cx="1408176" cy="2269377"/>
          </a:xfrm>
          <a:prstGeom prst="rect">
            <a:avLst/>
          </a:prstGeom>
          <a:noFill/>
          <a:ln/>
        </p:spPr>
        <p:txBody>
          <a:bodyPr vert="vert270"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Social Marketing Campaign Plan and Launch</a:t>
            </a:r>
            <a:endParaRPr lang="en-US" sz="900" dirty="0"/>
          </a:p>
        </p:txBody>
      </p:sp>
      <p:sp>
        <p:nvSpPr>
          <p:cNvPr id="105" name="Shape 55">
            <a:extLst>
              <a:ext uri="{FF2B5EF4-FFF2-40B4-BE49-F238E27FC236}">
                <a16:creationId xmlns:a16="http://schemas.microsoft.com/office/drawing/2014/main" id="{325725C0-F80C-5EAD-81D4-3AB9419139C7}"/>
              </a:ext>
            </a:extLst>
          </p:cNvPr>
          <p:cNvSpPr/>
          <p:nvPr/>
        </p:nvSpPr>
        <p:spPr>
          <a:xfrm>
            <a:off x="4069079" y="3657600"/>
            <a:ext cx="467407" cy="338328"/>
          </a:xfrm>
          <a:prstGeom prst="roundRect">
            <a:avLst>
              <a:gd name="adj" fmla="val 11111"/>
            </a:avLst>
          </a:prstGeom>
          <a:solidFill>
            <a:srgbClr val="FEF0E7"/>
          </a:solidFill>
          <a:ln w="12700">
            <a:solidFill>
              <a:srgbClr val="C05621"/>
            </a:solidFill>
            <a:prstDash val="solid"/>
          </a:ln>
          <a:effectLst>
            <a:outerShdw blurRad="76200" dist="25400" dir="2700000" algn="bl" rotWithShape="0">
              <a:srgbClr val="000000">
                <a:alpha val="8000"/>
              </a:srgbClr>
            </a:outerShdw>
          </a:effectLst>
        </p:spPr>
        <p:txBody>
          <a:bodyPr/>
          <a:lstStyle/>
          <a:p>
            <a:r>
              <a:rPr lang="en-US" sz="700" dirty="0"/>
              <a:t>Shefali/ Eddie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M1 (JUNE) TO-DO LIST — SYNTHESISED FROM BOTH MEETINGS  |  DO THESE IN ORDER</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M1 To-Do List — June 2025</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Not a new list — the action items from both meetings, sequenced by dependency. Each item must be done before the next begins.</a:t>
            </a:r>
            <a:endParaRPr lang="en-US" sz="1100" dirty="0"/>
          </a:p>
        </p:txBody>
      </p:sp>
      <p:sp>
        <p:nvSpPr>
          <p:cNvPr id="6" name="Shape 4"/>
          <p:cNvSpPr/>
          <p:nvPr/>
        </p:nvSpPr>
        <p:spPr>
          <a:xfrm>
            <a:off x="347472" y="1280160"/>
            <a:ext cx="8430768" cy="256032"/>
          </a:xfrm>
          <a:prstGeom prst="rect">
            <a:avLst/>
          </a:prstGeom>
          <a:solidFill>
            <a:srgbClr val="1A2B4A"/>
          </a:solidFill>
          <a:ln w="12700">
            <a:solidFill>
              <a:srgbClr val="1A2B4A"/>
            </a:solidFill>
            <a:prstDash val="solid"/>
          </a:ln>
        </p:spPr>
        <p:txBody>
          <a:bodyPr/>
          <a:lstStyle/>
          <a:p>
            <a:endParaRPr lang="en-US"/>
          </a:p>
        </p:txBody>
      </p:sp>
      <p:sp>
        <p:nvSpPr>
          <p:cNvPr id="7" name="Text 5"/>
          <p:cNvSpPr/>
          <p:nvPr/>
        </p:nvSpPr>
        <p:spPr>
          <a:xfrm>
            <a:off x="457200" y="1325880"/>
            <a:ext cx="105156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OWNER</a:t>
            </a:r>
            <a:endParaRPr lang="en-US" sz="800" dirty="0"/>
          </a:p>
        </p:txBody>
      </p:sp>
      <p:sp>
        <p:nvSpPr>
          <p:cNvPr id="8" name="Text 6"/>
          <p:cNvSpPr/>
          <p:nvPr/>
        </p:nvSpPr>
        <p:spPr>
          <a:xfrm>
            <a:off x="1572768" y="1325880"/>
            <a:ext cx="5440680" cy="164592"/>
          </a:xfrm>
          <a:prstGeom prst="rect">
            <a:avLst/>
          </a:prstGeom>
          <a:noFill/>
          <a:ln/>
        </p:spPr>
        <p:txBody>
          <a:bodyPr wrap="square" lIns="0" tIns="0" rIns="0" bIns="0"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ACTION ITEM</a:t>
            </a:r>
            <a:endParaRPr lang="en-US" sz="800" dirty="0"/>
          </a:p>
        </p:txBody>
      </p:sp>
      <p:sp>
        <p:nvSpPr>
          <p:cNvPr id="9" name="Text 7"/>
          <p:cNvSpPr/>
          <p:nvPr/>
        </p:nvSpPr>
        <p:spPr>
          <a:xfrm>
            <a:off x="7077456" y="1325880"/>
            <a:ext cx="68580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WHEN</a:t>
            </a:r>
            <a:endParaRPr lang="en-US" sz="800" dirty="0"/>
          </a:p>
        </p:txBody>
      </p:sp>
      <p:sp>
        <p:nvSpPr>
          <p:cNvPr id="10" name="Text 8"/>
          <p:cNvSpPr/>
          <p:nvPr/>
        </p:nvSpPr>
        <p:spPr>
          <a:xfrm>
            <a:off x="7818120" y="1325880"/>
            <a:ext cx="96012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STATUS</a:t>
            </a:r>
            <a:endParaRPr lang="en-US" sz="800" dirty="0"/>
          </a:p>
        </p:txBody>
      </p:sp>
      <p:sp>
        <p:nvSpPr>
          <p:cNvPr id="11" name="Shape 9"/>
          <p:cNvSpPr/>
          <p:nvPr/>
        </p:nvSpPr>
        <p:spPr>
          <a:xfrm>
            <a:off x="347472" y="1554480"/>
            <a:ext cx="8430768" cy="347472"/>
          </a:xfrm>
          <a:prstGeom prst="rect">
            <a:avLst/>
          </a:prstGeom>
          <a:solidFill>
            <a:srgbClr val="FFFFFF"/>
          </a:solidFill>
          <a:ln w="12700">
            <a:solidFill>
              <a:srgbClr val="D1D5DB"/>
            </a:solidFill>
            <a:prstDash val="solid"/>
          </a:ln>
        </p:spPr>
        <p:txBody>
          <a:bodyPr/>
          <a:lstStyle/>
          <a:p>
            <a:endParaRPr lang="en-US"/>
          </a:p>
        </p:txBody>
      </p:sp>
      <p:sp>
        <p:nvSpPr>
          <p:cNvPr id="12" name="Shape 10"/>
          <p:cNvSpPr/>
          <p:nvPr/>
        </p:nvSpPr>
        <p:spPr>
          <a:xfrm>
            <a:off x="347472" y="1554480"/>
            <a:ext cx="54864" cy="347472"/>
          </a:xfrm>
          <a:prstGeom prst="rect">
            <a:avLst/>
          </a:prstGeom>
          <a:solidFill>
            <a:srgbClr val="6B21A8"/>
          </a:solidFill>
          <a:ln w="12700">
            <a:solidFill>
              <a:srgbClr val="6B21A8"/>
            </a:solidFill>
            <a:prstDash val="solid"/>
          </a:ln>
        </p:spPr>
        <p:txBody>
          <a:bodyPr/>
          <a:lstStyle/>
          <a:p>
            <a:endParaRPr lang="en-US"/>
          </a:p>
        </p:txBody>
      </p:sp>
      <p:sp>
        <p:nvSpPr>
          <p:cNvPr id="13" name="Text 11"/>
          <p:cNvSpPr/>
          <p:nvPr/>
        </p:nvSpPr>
        <p:spPr>
          <a:xfrm>
            <a:off x="457200" y="1618488"/>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14" name="Text 12"/>
          <p:cNvSpPr/>
          <p:nvPr/>
        </p:nvSpPr>
        <p:spPr>
          <a:xfrm>
            <a:off x="1572768" y="1618488"/>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Finalise and send Welcome Email to all 30 ACES members. Include the link to the questionnaire. (Email template on next slide.)</a:t>
            </a:r>
            <a:endParaRPr lang="en-US" sz="950" dirty="0"/>
          </a:p>
        </p:txBody>
      </p:sp>
      <p:sp>
        <p:nvSpPr>
          <p:cNvPr id="15" name="Shape 13"/>
          <p:cNvSpPr/>
          <p:nvPr/>
        </p:nvSpPr>
        <p:spPr>
          <a:xfrm>
            <a:off x="7077456" y="1627632"/>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16" name="Text 14"/>
          <p:cNvSpPr/>
          <p:nvPr/>
        </p:nvSpPr>
        <p:spPr>
          <a:xfrm>
            <a:off x="7077456" y="1645920"/>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1</a:t>
            </a:r>
            <a:endParaRPr lang="en-US" sz="750" dirty="0"/>
          </a:p>
        </p:txBody>
      </p:sp>
      <p:sp>
        <p:nvSpPr>
          <p:cNvPr id="17" name="Shape 15"/>
          <p:cNvSpPr/>
          <p:nvPr/>
        </p:nvSpPr>
        <p:spPr>
          <a:xfrm>
            <a:off x="7818120" y="1627632"/>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18" name="Text 16"/>
          <p:cNvSpPr/>
          <p:nvPr/>
        </p:nvSpPr>
        <p:spPr>
          <a:xfrm>
            <a:off x="7818120" y="1645920"/>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19" name="Shape 17"/>
          <p:cNvSpPr/>
          <p:nvPr/>
        </p:nvSpPr>
        <p:spPr>
          <a:xfrm>
            <a:off x="347472" y="1901952"/>
            <a:ext cx="8430768" cy="347472"/>
          </a:xfrm>
          <a:prstGeom prst="rect">
            <a:avLst/>
          </a:prstGeom>
          <a:solidFill>
            <a:srgbClr val="F3F4F6"/>
          </a:solidFill>
          <a:ln w="12700">
            <a:solidFill>
              <a:srgbClr val="D1D5DB"/>
            </a:solidFill>
            <a:prstDash val="solid"/>
          </a:ln>
        </p:spPr>
        <p:txBody>
          <a:bodyPr/>
          <a:lstStyle/>
          <a:p>
            <a:endParaRPr lang="en-US"/>
          </a:p>
        </p:txBody>
      </p:sp>
      <p:sp>
        <p:nvSpPr>
          <p:cNvPr id="20" name="Shape 18"/>
          <p:cNvSpPr/>
          <p:nvPr/>
        </p:nvSpPr>
        <p:spPr>
          <a:xfrm>
            <a:off x="347472" y="1901952"/>
            <a:ext cx="54864" cy="347472"/>
          </a:xfrm>
          <a:prstGeom prst="rect">
            <a:avLst/>
          </a:prstGeom>
          <a:solidFill>
            <a:srgbClr val="6B21A8"/>
          </a:solidFill>
          <a:ln w="12700">
            <a:solidFill>
              <a:srgbClr val="6B21A8"/>
            </a:solidFill>
            <a:prstDash val="solid"/>
          </a:ln>
        </p:spPr>
        <p:txBody>
          <a:bodyPr/>
          <a:lstStyle/>
          <a:p>
            <a:endParaRPr lang="en-US"/>
          </a:p>
        </p:txBody>
      </p:sp>
      <p:sp>
        <p:nvSpPr>
          <p:cNvPr id="21" name="Text 19"/>
          <p:cNvSpPr/>
          <p:nvPr/>
        </p:nvSpPr>
        <p:spPr>
          <a:xfrm>
            <a:off x="457200" y="1965960"/>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22" name="Text 20"/>
          <p:cNvSpPr/>
          <p:nvPr/>
        </p:nvSpPr>
        <p:spPr>
          <a:xfrm>
            <a:off x="1572768" y="1965960"/>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Send questionnaire to all 30. Participants self-select protagonist interest by ticking a box. Collect all responses.</a:t>
            </a:r>
            <a:endParaRPr lang="en-US" sz="950" dirty="0"/>
          </a:p>
        </p:txBody>
      </p:sp>
      <p:sp>
        <p:nvSpPr>
          <p:cNvPr id="23" name="Shape 21"/>
          <p:cNvSpPr/>
          <p:nvPr/>
        </p:nvSpPr>
        <p:spPr>
          <a:xfrm>
            <a:off x="7077456" y="1975104"/>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24" name="Text 22"/>
          <p:cNvSpPr/>
          <p:nvPr/>
        </p:nvSpPr>
        <p:spPr>
          <a:xfrm>
            <a:off x="7077456" y="1993392"/>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1</a:t>
            </a:r>
            <a:endParaRPr lang="en-US" sz="750" dirty="0"/>
          </a:p>
        </p:txBody>
      </p:sp>
      <p:sp>
        <p:nvSpPr>
          <p:cNvPr id="25" name="Shape 23"/>
          <p:cNvSpPr/>
          <p:nvPr/>
        </p:nvSpPr>
        <p:spPr>
          <a:xfrm>
            <a:off x="7818120" y="1975104"/>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26" name="Text 24"/>
          <p:cNvSpPr/>
          <p:nvPr/>
        </p:nvSpPr>
        <p:spPr>
          <a:xfrm>
            <a:off x="7818120" y="1993392"/>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27" name="Shape 25"/>
          <p:cNvSpPr/>
          <p:nvPr/>
        </p:nvSpPr>
        <p:spPr>
          <a:xfrm>
            <a:off x="347472" y="2249424"/>
            <a:ext cx="8430768" cy="347472"/>
          </a:xfrm>
          <a:prstGeom prst="rect">
            <a:avLst/>
          </a:prstGeom>
          <a:solidFill>
            <a:srgbClr val="FFFFFF"/>
          </a:solidFill>
          <a:ln w="12700">
            <a:solidFill>
              <a:srgbClr val="D1D5DB"/>
            </a:solidFill>
            <a:prstDash val="solid"/>
          </a:ln>
        </p:spPr>
        <p:txBody>
          <a:bodyPr/>
          <a:lstStyle/>
          <a:p>
            <a:endParaRPr lang="en-US"/>
          </a:p>
        </p:txBody>
      </p:sp>
      <p:sp>
        <p:nvSpPr>
          <p:cNvPr id="28" name="Shape 26"/>
          <p:cNvSpPr/>
          <p:nvPr/>
        </p:nvSpPr>
        <p:spPr>
          <a:xfrm>
            <a:off x="347472" y="2249424"/>
            <a:ext cx="54864" cy="347472"/>
          </a:xfrm>
          <a:prstGeom prst="rect">
            <a:avLst/>
          </a:prstGeom>
          <a:solidFill>
            <a:srgbClr val="0D7377"/>
          </a:solidFill>
          <a:ln w="12700">
            <a:solidFill>
              <a:srgbClr val="0D7377"/>
            </a:solidFill>
            <a:prstDash val="solid"/>
          </a:ln>
        </p:spPr>
        <p:txBody>
          <a:bodyPr/>
          <a:lstStyle/>
          <a:p>
            <a:endParaRPr lang="en-US"/>
          </a:p>
        </p:txBody>
      </p:sp>
      <p:sp>
        <p:nvSpPr>
          <p:cNvPr id="29" name="Text 27"/>
          <p:cNvSpPr/>
          <p:nvPr/>
        </p:nvSpPr>
        <p:spPr>
          <a:xfrm>
            <a:off x="457200" y="2313432"/>
            <a:ext cx="1051560" cy="219456"/>
          </a:xfrm>
          <a:prstGeom prst="rect">
            <a:avLst/>
          </a:prstGeom>
          <a:noFill/>
          <a:ln/>
        </p:spPr>
        <p:txBody>
          <a:bodyPr wrap="square" lIns="0" tIns="0" rIns="0" bIns="0" rtlCol="0" anchor="ctr"/>
          <a:lstStyle/>
          <a:p>
            <a:pPr marL="0" indent="0">
              <a:buNone/>
            </a:pPr>
            <a:r>
              <a:rPr lang="en-US" sz="850" b="1" dirty="0">
                <a:solidFill>
                  <a:srgbClr val="0D7377"/>
                </a:solidFill>
                <a:latin typeface="Calibri" pitchFamily="34" charset="0"/>
                <a:ea typeface="Calibri" pitchFamily="34" charset="-122"/>
                <a:cs typeface="Calibri" pitchFamily="34" charset="-120"/>
              </a:rPr>
              <a:t>Hansh</a:t>
            </a:r>
            <a:endParaRPr lang="en-US" sz="850" dirty="0"/>
          </a:p>
        </p:txBody>
      </p:sp>
      <p:sp>
        <p:nvSpPr>
          <p:cNvPr id="30" name="Text 28"/>
          <p:cNvSpPr/>
          <p:nvPr/>
        </p:nvSpPr>
        <p:spPr>
          <a:xfrm>
            <a:off x="1572768" y="2313432"/>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Set up GitHub repository. Create folder structure. Add README with workstream sections and Friday update format. Share access with all 5 team members.</a:t>
            </a:r>
            <a:endParaRPr lang="en-US" sz="950" dirty="0"/>
          </a:p>
        </p:txBody>
      </p:sp>
      <p:sp>
        <p:nvSpPr>
          <p:cNvPr id="31" name="Shape 29"/>
          <p:cNvSpPr/>
          <p:nvPr/>
        </p:nvSpPr>
        <p:spPr>
          <a:xfrm>
            <a:off x="7077456" y="2322576"/>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32" name="Text 30"/>
          <p:cNvSpPr/>
          <p:nvPr/>
        </p:nvSpPr>
        <p:spPr>
          <a:xfrm>
            <a:off x="7077456" y="2340864"/>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1</a:t>
            </a:r>
            <a:endParaRPr lang="en-US" sz="750" dirty="0"/>
          </a:p>
        </p:txBody>
      </p:sp>
      <p:sp>
        <p:nvSpPr>
          <p:cNvPr id="33" name="Shape 31"/>
          <p:cNvSpPr/>
          <p:nvPr/>
        </p:nvSpPr>
        <p:spPr>
          <a:xfrm>
            <a:off x="7818120" y="2322576"/>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34" name="Text 32"/>
          <p:cNvSpPr/>
          <p:nvPr/>
        </p:nvSpPr>
        <p:spPr>
          <a:xfrm>
            <a:off x="7818120" y="2340864"/>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35" name="Shape 33"/>
          <p:cNvSpPr/>
          <p:nvPr/>
        </p:nvSpPr>
        <p:spPr>
          <a:xfrm>
            <a:off x="347472" y="2596896"/>
            <a:ext cx="8430768" cy="347472"/>
          </a:xfrm>
          <a:prstGeom prst="rect">
            <a:avLst/>
          </a:prstGeom>
          <a:solidFill>
            <a:srgbClr val="F3F4F6"/>
          </a:solidFill>
          <a:ln w="12700">
            <a:solidFill>
              <a:srgbClr val="D1D5DB"/>
            </a:solidFill>
            <a:prstDash val="solid"/>
          </a:ln>
        </p:spPr>
        <p:txBody>
          <a:bodyPr/>
          <a:lstStyle/>
          <a:p>
            <a:endParaRPr lang="en-US"/>
          </a:p>
        </p:txBody>
      </p:sp>
      <p:sp>
        <p:nvSpPr>
          <p:cNvPr id="36" name="Shape 34"/>
          <p:cNvSpPr/>
          <p:nvPr/>
        </p:nvSpPr>
        <p:spPr>
          <a:xfrm>
            <a:off x="347472" y="2596896"/>
            <a:ext cx="54864" cy="347472"/>
          </a:xfrm>
          <a:prstGeom prst="rect">
            <a:avLst/>
          </a:prstGeom>
          <a:solidFill>
            <a:srgbClr val="1A2B4A"/>
          </a:solidFill>
          <a:ln w="12700">
            <a:solidFill>
              <a:srgbClr val="1A2B4A"/>
            </a:solidFill>
            <a:prstDash val="solid"/>
          </a:ln>
        </p:spPr>
        <p:txBody>
          <a:bodyPr/>
          <a:lstStyle/>
          <a:p>
            <a:endParaRPr lang="en-US"/>
          </a:p>
        </p:txBody>
      </p:sp>
      <p:sp>
        <p:nvSpPr>
          <p:cNvPr id="37" name="Text 35"/>
          <p:cNvSpPr/>
          <p:nvPr/>
        </p:nvSpPr>
        <p:spPr>
          <a:xfrm>
            <a:off x="457200" y="2660904"/>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 +</a:t>
            </a:r>
            <a:endParaRPr lang="en-US" sz="850" dirty="0"/>
          </a:p>
          <a:p>
            <a:pPr marL="0" indent="0">
              <a:buNone/>
            </a:pPr>
            <a:r>
              <a:rPr lang="en-US" sz="850" b="1" dirty="0">
                <a:solidFill>
                  <a:srgbClr val="1A2B4A"/>
                </a:solidFill>
                <a:latin typeface="Calibri" pitchFamily="34" charset="0"/>
                <a:ea typeface="Calibri" pitchFamily="34" charset="-122"/>
                <a:cs typeface="Calibri" pitchFamily="34" charset="-120"/>
              </a:rPr>
              <a:t>Shefali</a:t>
            </a:r>
            <a:endParaRPr lang="en-US" sz="850" dirty="0"/>
          </a:p>
        </p:txBody>
      </p:sp>
      <p:sp>
        <p:nvSpPr>
          <p:cNvPr id="38" name="Text 36"/>
          <p:cNvSpPr/>
          <p:nvPr/>
        </p:nvSpPr>
        <p:spPr>
          <a:xfrm>
            <a:off x="1572768" y="2660904"/>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Review all questionnaire responses together. Apply the selection rubric. Identify 5 protagonists.</a:t>
            </a:r>
            <a:endParaRPr lang="en-US" sz="950" dirty="0"/>
          </a:p>
        </p:txBody>
      </p:sp>
      <p:sp>
        <p:nvSpPr>
          <p:cNvPr id="39" name="Shape 37"/>
          <p:cNvSpPr/>
          <p:nvPr/>
        </p:nvSpPr>
        <p:spPr>
          <a:xfrm>
            <a:off x="7077456" y="2670048"/>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40" name="Text 38"/>
          <p:cNvSpPr/>
          <p:nvPr/>
        </p:nvSpPr>
        <p:spPr>
          <a:xfrm>
            <a:off x="7077456" y="2688336"/>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2</a:t>
            </a:r>
            <a:endParaRPr lang="en-US" sz="750" dirty="0"/>
          </a:p>
        </p:txBody>
      </p:sp>
      <p:sp>
        <p:nvSpPr>
          <p:cNvPr id="41" name="Shape 39"/>
          <p:cNvSpPr/>
          <p:nvPr/>
        </p:nvSpPr>
        <p:spPr>
          <a:xfrm>
            <a:off x="7818120" y="2670048"/>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42" name="Text 40"/>
          <p:cNvSpPr/>
          <p:nvPr/>
        </p:nvSpPr>
        <p:spPr>
          <a:xfrm>
            <a:off x="7818120" y="2688336"/>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43" name="Shape 41"/>
          <p:cNvSpPr/>
          <p:nvPr/>
        </p:nvSpPr>
        <p:spPr>
          <a:xfrm>
            <a:off x="347472" y="2944368"/>
            <a:ext cx="8430768" cy="347472"/>
          </a:xfrm>
          <a:prstGeom prst="rect">
            <a:avLst/>
          </a:prstGeom>
          <a:solidFill>
            <a:srgbClr val="FFFFFF"/>
          </a:solidFill>
          <a:ln w="12700">
            <a:solidFill>
              <a:srgbClr val="D1D5DB"/>
            </a:solidFill>
            <a:prstDash val="solid"/>
          </a:ln>
        </p:spPr>
        <p:txBody>
          <a:bodyPr/>
          <a:lstStyle/>
          <a:p>
            <a:endParaRPr lang="en-US"/>
          </a:p>
        </p:txBody>
      </p:sp>
      <p:sp>
        <p:nvSpPr>
          <p:cNvPr id="44" name="Shape 42"/>
          <p:cNvSpPr/>
          <p:nvPr/>
        </p:nvSpPr>
        <p:spPr>
          <a:xfrm>
            <a:off x="347472" y="2944368"/>
            <a:ext cx="54864" cy="347472"/>
          </a:xfrm>
          <a:prstGeom prst="rect">
            <a:avLst/>
          </a:prstGeom>
          <a:solidFill>
            <a:srgbClr val="6B21A8"/>
          </a:solidFill>
          <a:ln w="12700">
            <a:solidFill>
              <a:srgbClr val="6B21A8"/>
            </a:solidFill>
            <a:prstDash val="solid"/>
          </a:ln>
        </p:spPr>
        <p:txBody>
          <a:bodyPr/>
          <a:lstStyle/>
          <a:p>
            <a:endParaRPr lang="en-US"/>
          </a:p>
        </p:txBody>
      </p:sp>
      <p:sp>
        <p:nvSpPr>
          <p:cNvPr id="45" name="Text 43"/>
          <p:cNvSpPr/>
          <p:nvPr/>
        </p:nvSpPr>
        <p:spPr>
          <a:xfrm>
            <a:off x="457200" y="3008376"/>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46" name="Text 44"/>
          <p:cNvSpPr/>
          <p:nvPr/>
        </p:nvSpPr>
        <p:spPr>
          <a:xfrm>
            <a:off x="1572768" y="3008376"/>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Send consent forms to the 5 selected protagonists. Simple sign-off only — no legal review needed at this stage.</a:t>
            </a:r>
            <a:endParaRPr lang="en-US" sz="950" dirty="0"/>
          </a:p>
        </p:txBody>
      </p:sp>
      <p:sp>
        <p:nvSpPr>
          <p:cNvPr id="47" name="Shape 45"/>
          <p:cNvSpPr/>
          <p:nvPr/>
        </p:nvSpPr>
        <p:spPr>
          <a:xfrm>
            <a:off x="7077456" y="3017520"/>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48" name="Text 46"/>
          <p:cNvSpPr/>
          <p:nvPr/>
        </p:nvSpPr>
        <p:spPr>
          <a:xfrm>
            <a:off x="7077456" y="3035808"/>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2</a:t>
            </a:r>
            <a:endParaRPr lang="en-US" sz="750" dirty="0"/>
          </a:p>
        </p:txBody>
      </p:sp>
      <p:sp>
        <p:nvSpPr>
          <p:cNvPr id="49" name="Shape 47"/>
          <p:cNvSpPr/>
          <p:nvPr/>
        </p:nvSpPr>
        <p:spPr>
          <a:xfrm>
            <a:off x="7818120" y="3017520"/>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50" name="Text 48"/>
          <p:cNvSpPr/>
          <p:nvPr/>
        </p:nvSpPr>
        <p:spPr>
          <a:xfrm>
            <a:off x="7818120" y="3035808"/>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51" name="Shape 49"/>
          <p:cNvSpPr/>
          <p:nvPr/>
        </p:nvSpPr>
        <p:spPr>
          <a:xfrm>
            <a:off x="347472" y="3291840"/>
            <a:ext cx="8430768" cy="347472"/>
          </a:xfrm>
          <a:prstGeom prst="rect">
            <a:avLst/>
          </a:prstGeom>
          <a:solidFill>
            <a:srgbClr val="F3F4F6"/>
          </a:solidFill>
          <a:ln w="12700">
            <a:solidFill>
              <a:srgbClr val="D1D5DB"/>
            </a:solidFill>
            <a:prstDash val="solid"/>
          </a:ln>
        </p:spPr>
        <p:txBody>
          <a:bodyPr/>
          <a:lstStyle/>
          <a:p>
            <a:endParaRPr lang="en-US"/>
          </a:p>
        </p:txBody>
      </p:sp>
      <p:sp>
        <p:nvSpPr>
          <p:cNvPr id="52" name="Shape 50"/>
          <p:cNvSpPr/>
          <p:nvPr/>
        </p:nvSpPr>
        <p:spPr>
          <a:xfrm>
            <a:off x="347472" y="3291840"/>
            <a:ext cx="54864" cy="347472"/>
          </a:xfrm>
          <a:prstGeom prst="rect">
            <a:avLst/>
          </a:prstGeom>
          <a:solidFill>
            <a:srgbClr val="6B21A8"/>
          </a:solidFill>
          <a:ln w="12700">
            <a:solidFill>
              <a:srgbClr val="6B21A8"/>
            </a:solidFill>
            <a:prstDash val="solid"/>
          </a:ln>
        </p:spPr>
        <p:txBody>
          <a:bodyPr/>
          <a:lstStyle/>
          <a:p>
            <a:endParaRPr lang="en-US"/>
          </a:p>
        </p:txBody>
      </p:sp>
      <p:sp>
        <p:nvSpPr>
          <p:cNvPr id="53" name="Text 51"/>
          <p:cNvSpPr/>
          <p:nvPr/>
        </p:nvSpPr>
        <p:spPr>
          <a:xfrm>
            <a:off x="457200" y="3355848"/>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a:t>
            </a:r>
            <a:endParaRPr lang="en-US" sz="850" dirty="0"/>
          </a:p>
        </p:txBody>
      </p:sp>
      <p:sp>
        <p:nvSpPr>
          <p:cNvPr id="54" name="Text 52"/>
          <p:cNvSpPr/>
          <p:nvPr/>
        </p:nvSpPr>
        <p:spPr>
          <a:xfrm>
            <a:off x="1572768" y="3355848"/>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Schedule and run protagonist onboarding session (group). Cover: what it means to be a protagonist, filming setup, hardware, what comes next.</a:t>
            </a:r>
            <a:endParaRPr lang="en-US" sz="950" dirty="0"/>
          </a:p>
        </p:txBody>
      </p:sp>
      <p:sp>
        <p:nvSpPr>
          <p:cNvPr id="55" name="Shape 53"/>
          <p:cNvSpPr/>
          <p:nvPr/>
        </p:nvSpPr>
        <p:spPr>
          <a:xfrm>
            <a:off x="7077456" y="3364992"/>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56" name="Text 54"/>
          <p:cNvSpPr/>
          <p:nvPr/>
        </p:nvSpPr>
        <p:spPr>
          <a:xfrm>
            <a:off x="7077456" y="3383280"/>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3</a:t>
            </a:r>
            <a:endParaRPr lang="en-US" sz="750" dirty="0"/>
          </a:p>
        </p:txBody>
      </p:sp>
      <p:sp>
        <p:nvSpPr>
          <p:cNvPr id="57" name="Shape 55"/>
          <p:cNvSpPr/>
          <p:nvPr/>
        </p:nvSpPr>
        <p:spPr>
          <a:xfrm>
            <a:off x="7818120" y="3364992"/>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58" name="Text 56"/>
          <p:cNvSpPr/>
          <p:nvPr/>
        </p:nvSpPr>
        <p:spPr>
          <a:xfrm>
            <a:off x="7818120" y="3383280"/>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59" name="Shape 57"/>
          <p:cNvSpPr/>
          <p:nvPr/>
        </p:nvSpPr>
        <p:spPr>
          <a:xfrm>
            <a:off x="347472" y="3639312"/>
            <a:ext cx="8430768" cy="347472"/>
          </a:xfrm>
          <a:prstGeom prst="rect">
            <a:avLst/>
          </a:prstGeom>
          <a:solidFill>
            <a:srgbClr val="FFFFFF"/>
          </a:solidFill>
          <a:ln w="12700">
            <a:solidFill>
              <a:srgbClr val="D1D5DB"/>
            </a:solidFill>
            <a:prstDash val="solid"/>
          </a:ln>
        </p:spPr>
        <p:txBody>
          <a:bodyPr/>
          <a:lstStyle/>
          <a:p>
            <a:endParaRPr lang="en-US"/>
          </a:p>
        </p:txBody>
      </p:sp>
      <p:sp>
        <p:nvSpPr>
          <p:cNvPr id="60" name="Shape 58"/>
          <p:cNvSpPr/>
          <p:nvPr/>
        </p:nvSpPr>
        <p:spPr>
          <a:xfrm>
            <a:off x="347472" y="3639312"/>
            <a:ext cx="54864" cy="347472"/>
          </a:xfrm>
          <a:prstGeom prst="rect">
            <a:avLst/>
          </a:prstGeom>
          <a:solidFill>
            <a:srgbClr val="C05621"/>
          </a:solidFill>
          <a:ln w="12700">
            <a:solidFill>
              <a:srgbClr val="C05621"/>
            </a:solidFill>
            <a:prstDash val="solid"/>
          </a:ln>
        </p:spPr>
        <p:txBody>
          <a:bodyPr/>
          <a:lstStyle/>
          <a:p>
            <a:endParaRPr lang="en-US"/>
          </a:p>
        </p:txBody>
      </p:sp>
      <p:sp>
        <p:nvSpPr>
          <p:cNvPr id="61" name="Text 59"/>
          <p:cNvSpPr/>
          <p:nvPr/>
        </p:nvSpPr>
        <p:spPr>
          <a:xfrm>
            <a:off x="457200" y="3703320"/>
            <a:ext cx="1051560" cy="219456"/>
          </a:xfrm>
          <a:prstGeom prst="rect">
            <a:avLst/>
          </a:prstGeom>
          <a:noFill/>
          <a:ln/>
        </p:spPr>
        <p:txBody>
          <a:bodyPr wrap="square" lIns="0" tIns="0" rIns="0" bIns="0" rtlCol="0" anchor="ctr"/>
          <a:lstStyle/>
          <a:p>
            <a:pPr marL="0" indent="0">
              <a:buNone/>
            </a:pPr>
            <a:r>
              <a:rPr lang="en-US" sz="850" b="1" dirty="0">
                <a:solidFill>
                  <a:srgbClr val="C05621"/>
                </a:solidFill>
                <a:latin typeface="Calibri" pitchFamily="34" charset="0"/>
                <a:ea typeface="Calibri" pitchFamily="34" charset="-122"/>
                <a:cs typeface="Calibri" pitchFamily="34" charset="-120"/>
              </a:rPr>
              <a:t>Eddie</a:t>
            </a:r>
            <a:endParaRPr lang="en-US" sz="850" dirty="0"/>
          </a:p>
        </p:txBody>
      </p:sp>
      <p:sp>
        <p:nvSpPr>
          <p:cNvPr id="62" name="Text 60"/>
          <p:cNvSpPr/>
          <p:nvPr/>
        </p:nvSpPr>
        <p:spPr>
          <a:xfrm>
            <a:off x="1572768" y="3703320"/>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Begin DOP calls with each of the 5 protagonists. Understand their working environment. Camera angles, settings, lighting. Confirm hardware setup.</a:t>
            </a:r>
            <a:endParaRPr lang="en-US" sz="950" dirty="0"/>
          </a:p>
        </p:txBody>
      </p:sp>
      <p:sp>
        <p:nvSpPr>
          <p:cNvPr id="63" name="Shape 61"/>
          <p:cNvSpPr/>
          <p:nvPr/>
        </p:nvSpPr>
        <p:spPr>
          <a:xfrm>
            <a:off x="7077456" y="3712464"/>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64" name="Text 62"/>
          <p:cNvSpPr/>
          <p:nvPr/>
        </p:nvSpPr>
        <p:spPr>
          <a:xfrm>
            <a:off x="7077456" y="3730752"/>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3</a:t>
            </a:r>
            <a:endParaRPr lang="en-US" sz="750" dirty="0"/>
          </a:p>
        </p:txBody>
      </p:sp>
      <p:sp>
        <p:nvSpPr>
          <p:cNvPr id="65" name="Shape 63"/>
          <p:cNvSpPr/>
          <p:nvPr/>
        </p:nvSpPr>
        <p:spPr>
          <a:xfrm>
            <a:off x="7818120" y="3712464"/>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66" name="Text 64"/>
          <p:cNvSpPr/>
          <p:nvPr/>
        </p:nvSpPr>
        <p:spPr>
          <a:xfrm>
            <a:off x="7818120" y="3730752"/>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67" name="Shape 65"/>
          <p:cNvSpPr/>
          <p:nvPr/>
        </p:nvSpPr>
        <p:spPr>
          <a:xfrm>
            <a:off x="347472" y="3986784"/>
            <a:ext cx="8430768" cy="347472"/>
          </a:xfrm>
          <a:prstGeom prst="rect">
            <a:avLst/>
          </a:prstGeom>
          <a:solidFill>
            <a:srgbClr val="F3F4F6"/>
          </a:solidFill>
          <a:ln w="12700">
            <a:solidFill>
              <a:srgbClr val="D1D5DB"/>
            </a:solidFill>
            <a:prstDash val="solid"/>
          </a:ln>
        </p:spPr>
        <p:txBody>
          <a:bodyPr/>
          <a:lstStyle/>
          <a:p>
            <a:endParaRPr lang="en-US"/>
          </a:p>
        </p:txBody>
      </p:sp>
      <p:sp>
        <p:nvSpPr>
          <p:cNvPr id="68" name="Shape 66"/>
          <p:cNvSpPr/>
          <p:nvPr/>
        </p:nvSpPr>
        <p:spPr>
          <a:xfrm>
            <a:off x="347472" y="3986784"/>
            <a:ext cx="54864" cy="347472"/>
          </a:xfrm>
          <a:prstGeom prst="rect">
            <a:avLst/>
          </a:prstGeom>
          <a:solidFill>
            <a:srgbClr val="1A2B4A"/>
          </a:solidFill>
          <a:ln w="12700">
            <a:solidFill>
              <a:srgbClr val="1A2B4A"/>
            </a:solidFill>
            <a:prstDash val="solid"/>
          </a:ln>
        </p:spPr>
        <p:txBody>
          <a:bodyPr/>
          <a:lstStyle/>
          <a:p>
            <a:endParaRPr lang="en-US"/>
          </a:p>
        </p:txBody>
      </p:sp>
      <p:sp>
        <p:nvSpPr>
          <p:cNvPr id="69" name="Text 67"/>
          <p:cNvSpPr/>
          <p:nvPr/>
        </p:nvSpPr>
        <p:spPr>
          <a:xfrm>
            <a:off x="457200" y="4050792"/>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 +</a:t>
            </a:r>
            <a:endParaRPr lang="en-US" sz="850" dirty="0"/>
          </a:p>
          <a:p>
            <a:pPr marL="0" indent="0">
              <a:buNone/>
            </a:pPr>
            <a:r>
              <a:rPr lang="en-US" sz="850" b="1" dirty="0">
                <a:solidFill>
                  <a:srgbClr val="1A2B4A"/>
                </a:solidFill>
                <a:latin typeface="Calibri" pitchFamily="34" charset="0"/>
                <a:ea typeface="Calibri" pitchFamily="34" charset="-122"/>
                <a:cs typeface="Calibri" pitchFamily="34" charset="-120"/>
              </a:rPr>
              <a:t>Shefali</a:t>
            </a:r>
            <a:endParaRPr lang="en-US" sz="850" dirty="0"/>
          </a:p>
        </p:txBody>
      </p:sp>
      <p:sp>
        <p:nvSpPr>
          <p:cNvPr id="70" name="Text 68"/>
          <p:cNvSpPr/>
          <p:nvPr/>
        </p:nvSpPr>
        <p:spPr>
          <a:xfrm>
            <a:off x="1572768" y="4050792"/>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Draft protagonist story arc notes (informal). What do we expect from each person's arc? This informs the Zoom interview questions.</a:t>
            </a:r>
            <a:endParaRPr lang="en-US" sz="950" dirty="0"/>
          </a:p>
        </p:txBody>
      </p:sp>
      <p:sp>
        <p:nvSpPr>
          <p:cNvPr id="71" name="Shape 69"/>
          <p:cNvSpPr/>
          <p:nvPr/>
        </p:nvSpPr>
        <p:spPr>
          <a:xfrm>
            <a:off x="7077456" y="4059936"/>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72" name="Text 70"/>
          <p:cNvSpPr/>
          <p:nvPr/>
        </p:nvSpPr>
        <p:spPr>
          <a:xfrm>
            <a:off x="7077456" y="4078224"/>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3</a:t>
            </a:r>
            <a:endParaRPr lang="en-US" sz="750" dirty="0"/>
          </a:p>
        </p:txBody>
      </p:sp>
      <p:sp>
        <p:nvSpPr>
          <p:cNvPr id="73" name="Shape 71"/>
          <p:cNvSpPr/>
          <p:nvPr/>
        </p:nvSpPr>
        <p:spPr>
          <a:xfrm>
            <a:off x="7818120" y="4059936"/>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74" name="Text 72"/>
          <p:cNvSpPr/>
          <p:nvPr/>
        </p:nvSpPr>
        <p:spPr>
          <a:xfrm>
            <a:off x="7818120" y="4078224"/>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75" name="Shape 73"/>
          <p:cNvSpPr/>
          <p:nvPr/>
        </p:nvSpPr>
        <p:spPr>
          <a:xfrm>
            <a:off x="347472" y="4334256"/>
            <a:ext cx="8430768" cy="347472"/>
          </a:xfrm>
          <a:prstGeom prst="rect">
            <a:avLst/>
          </a:prstGeom>
          <a:solidFill>
            <a:srgbClr val="FFFFFF"/>
          </a:solidFill>
          <a:ln w="12700">
            <a:solidFill>
              <a:srgbClr val="D1D5DB"/>
            </a:solidFill>
            <a:prstDash val="solid"/>
          </a:ln>
        </p:spPr>
        <p:txBody>
          <a:bodyPr/>
          <a:lstStyle/>
          <a:p>
            <a:endParaRPr lang="en-US"/>
          </a:p>
        </p:txBody>
      </p:sp>
      <p:sp>
        <p:nvSpPr>
          <p:cNvPr id="76" name="Shape 74"/>
          <p:cNvSpPr/>
          <p:nvPr/>
        </p:nvSpPr>
        <p:spPr>
          <a:xfrm>
            <a:off x="347472" y="4334256"/>
            <a:ext cx="54864" cy="347472"/>
          </a:xfrm>
          <a:prstGeom prst="rect">
            <a:avLst/>
          </a:prstGeom>
          <a:solidFill>
            <a:srgbClr val="6B21A8"/>
          </a:solidFill>
          <a:ln w="12700">
            <a:solidFill>
              <a:srgbClr val="6B21A8"/>
            </a:solidFill>
            <a:prstDash val="solid"/>
          </a:ln>
        </p:spPr>
        <p:txBody>
          <a:bodyPr/>
          <a:lstStyle/>
          <a:p>
            <a:endParaRPr lang="en-US"/>
          </a:p>
        </p:txBody>
      </p:sp>
      <p:sp>
        <p:nvSpPr>
          <p:cNvPr id="77" name="Text 75"/>
          <p:cNvSpPr/>
          <p:nvPr/>
        </p:nvSpPr>
        <p:spPr>
          <a:xfrm>
            <a:off x="457200" y="4398264"/>
            <a:ext cx="1051560" cy="219456"/>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Shefali +</a:t>
            </a:r>
            <a:endParaRPr lang="en-US" sz="850" dirty="0"/>
          </a:p>
          <a:p>
            <a:pPr marL="0" indent="0">
              <a:buNone/>
            </a:pPr>
            <a:r>
              <a:rPr lang="en-US" sz="850" b="1" dirty="0">
                <a:solidFill>
                  <a:srgbClr val="6B21A8"/>
                </a:solidFill>
                <a:latin typeface="Calibri" pitchFamily="34" charset="0"/>
                <a:ea typeface="Calibri" pitchFamily="34" charset="-122"/>
                <a:cs typeface="Calibri" pitchFamily="34" charset="-120"/>
              </a:rPr>
              <a:t>Eddie</a:t>
            </a:r>
            <a:endParaRPr lang="en-US" sz="850" dirty="0"/>
          </a:p>
        </p:txBody>
      </p:sp>
      <p:sp>
        <p:nvSpPr>
          <p:cNvPr id="78" name="Text 76"/>
          <p:cNvSpPr/>
          <p:nvPr/>
        </p:nvSpPr>
        <p:spPr>
          <a:xfrm>
            <a:off x="1572768" y="4398264"/>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Zoom interviews — the 5 selected protagonists only. Shefali leads. Eddie as second. These become the film's backbone.</a:t>
            </a:r>
            <a:endParaRPr lang="en-US" sz="950" dirty="0"/>
          </a:p>
        </p:txBody>
      </p:sp>
      <p:sp>
        <p:nvSpPr>
          <p:cNvPr id="79" name="Shape 77"/>
          <p:cNvSpPr/>
          <p:nvPr/>
        </p:nvSpPr>
        <p:spPr>
          <a:xfrm>
            <a:off x="7077456" y="4407408"/>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80" name="Text 78"/>
          <p:cNvSpPr/>
          <p:nvPr/>
        </p:nvSpPr>
        <p:spPr>
          <a:xfrm>
            <a:off x="7077456" y="4425696"/>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4</a:t>
            </a:r>
            <a:endParaRPr lang="en-US" sz="750" dirty="0"/>
          </a:p>
        </p:txBody>
      </p:sp>
      <p:sp>
        <p:nvSpPr>
          <p:cNvPr id="81" name="Shape 79"/>
          <p:cNvSpPr/>
          <p:nvPr/>
        </p:nvSpPr>
        <p:spPr>
          <a:xfrm>
            <a:off x="7818120" y="4407408"/>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82" name="Text 80"/>
          <p:cNvSpPr/>
          <p:nvPr/>
        </p:nvSpPr>
        <p:spPr>
          <a:xfrm>
            <a:off x="7818120" y="4425696"/>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
        <p:nvSpPr>
          <p:cNvPr id="83" name="Shape 81"/>
          <p:cNvSpPr/>
          <p:nvPr/>
        </p:nvSpPr>
        <p:spPr>
          <a:xfrm>
            <a:off x="347472" y="4681728"/>
            <a:ext cx="8430768" cy="347472"/>
          </a:xfrm>
          <a:prstGeom prst="rect">
            <a:avLst/>
          </a:prstGeom>
          <a:solidFill>
            <a:srgbClr val="F3F4F6"/>
          </a:solidFill>
          <a:ln w="12700">
            <a:solidFill>
              <a:srgbClr val="D1D5DB"/>
            </a:solidFill>
            <a:prstDash val="solid"/>
          </a:ln>
        </p:spPr>
        <p:txBody>
          <a:bodyPr/>
          <a:lstStyle/>
          <a:p>
            <a:endParaRPr lang="en-US"/>
          </a:p>
        </p:txBody>
      </p:sp>
      <p:sp>
        <p:nvSpPr>
          <p:cNvPr id="84" name="Shape 82"/>
          <p:cNvSpPr/>
          <p:nvPr/>
        </p:nvSpPr>
        <p:spPr>
          <a:xfrm>
            <a:off x="347472" y="4681728"/>
            <a:ext cx="54864" cy="347472"/>
          </a:xfrm>
          <a:prstGeom prst="rect">
            <a:avLst/>
          </a:prstGeom>
          <a:solidFill>
            <a:srgbClr val="1A2B4A"/>
          </a:solidFill>
          <a:ln w="12700">
            <a:solidFill>
              <a:srgbClr val="1A2B4A"/>
            </a:solidFill>
            <a:prstDash val="solid"/>
          </a:ln>
        </p:spPr>
        <p:txBody>
          <a:bodyPr/>
          <a:lstStyle/>
          <a:p>
            <a:endParaRPr lang="en-US"/>
          </a:p>
        </p:txBody>
      </p:sp>
      <p:sp>
        <p:nvSpPr>
          <p:cNvPr id="85" name="Text 83"/>
          <p:cNvSpPr/>
          <p:nvPr/>
        </p:nvSpPr>
        <p:spPr>
          <a:xfrm>
            <a:off x="457200" y="4745736"/>
            <a:ext cx="1051560" cy="219456"/>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Munish</a:t>
            </a:r>
            <a:endParaRPr lang="en-US" sz="850" dirty="0"/>
          </a:p>
        </p:txBody>
      </p:sp>
      <p:sp>
        <p:nvSpPr>
          <p:cNvPr id="86" name="Text 84"/>
          <p:cNvSpPr/>
          <p:nvPr/>
        </p:nvSpPr>
        <p:spPr>
          <a:xfrm>
            <a:off x="1572768" y="4745736"/>
            <a:ext cx="5440680" cy="21945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Decide budget ownership: Hansh, Shefali, or future Producer? Make the call — this is blocking the budget line in the playbook.</a:t>
            </a:r>
            <a:endParaRPr lang="en-US" sz="950" dirty="0"/>
          </a:p>
        </p:txBody>
      </p:sp>
      <p:sp>
        <p:nvSpPr>
          <p:cNvPr id="87" name="Shape 85"/>
          <p:cNvSpPr/>
          <p:nvPr/>
        </p:nvSpPr>
        <p:spPr>
          <a:xfrm>
            <a:off x="7077456" y="4754880"/>
            <a:ext cx="685800" cy="201168"/>
          </a:xfrm>
          <a:prstGeom prst="roundRect">
            <a:avLst>
              <a:gd name="adj" fmla="val 18182"/>
            </a:avLst>
          </a:prstGeom>
          <a:solidFill>
            <a:srgbClr val="E8EDF4"/>
          </a:solidFill>
          <a:ln w="12700">
            <a:solidFill>
              <a:srgbClr val="1A2B4A"/>
            </a:solidFill>
            <a:prstDash val="solid"/>
          </a:ln>
        </p:spPr>
        <p:txBody>
          <a:bodyPr/>
          <a:lstStyle/>
          <a:p>
            <a:endParaRPr lang="en-US"/>
          </a:p>
        </p:txBody>
      </p:sp>
      <p:sp>
        <p:nvSpPr>
          <p:cNvPr id="88" name="Text 86"/>
          <p:cNvSpPr/>
          <p:nvPr/>
        </p:nvSpPr>
        <p:spPr>
          <a:xfrm>
            <a:off x="7077456" y="4773168"/>
            <a:ext cx="685800" cy="164592"/>
          </a:xfrm>
          <a:prstGeom prst="rect">
            <a:avLst/>
          </a:prstGeom>
          <a:noFill/>
          <a:ln/>
        </p:spPr>
        <p:txBody>
          <a:bodyPr wrap="square" lIns="0" tIns="0" rIns="0" bIns="0" rtlCol="0" anchor="ctr"/>
          <a:lstStyle/>
          <a:p>
            <a:pPr marL="0" indent="0" algn="ctr">
              <a:buNone/>
            </a:pPr>
            <a:r>
              <a:rPr lang="en-US" sz="750" b="1" dirty="0">
                <a:solidFill>
                  <a:srgbClr val="1A2B4A"/>
                </a:solidFill>
                <a:latin typeface="Calibri" pitchFamily="34" charset="0"/>
                <a:ea typeface="Calibri" pitchFamily="34" charset="-122"/>
                <a:cs typeface="Calibri" pitchFamily="34" charset="-120"/>
              </a:rPr>
              <a:t>Wk 4</a:t>
            </a:r>
            <a:endParaRPr lang="en-US" sz="750" dirty="0"/>
          </a:p>
        </p:txBody>
      </p:sp>
      <p:sp>
        <p:nvSpPr>
          <p:cNvPr id="89" name="Shape 87"/>
          <p:cNvSpPr/>
          <p:nvPr/>
        </p:nvSpPr>
        <p:spPr>
          <a:xfrm>
            <a:off x="7818120" y="4754880"/>
            <a:ext cx="914400" cy="201168"/>
          </a:xfrm>
          <a:prstGeom prst="roundRect">
            <a:avLst>
              <a:gd name="adj" fmla="val 18182"/>
            </a:avLst>
          </a:prstGeom>
          <a:solidFill>
            <a:srgbClr val="F3F4F6"/>
          </a:solidFill>
          <a:ln w="12700">
            <a:solidFill>
              <a:srgbClr val="6B7280"/>
            </a:solidFill>
            <a:prstDash val="solid"/>
          </a:ln>
        </p:spPr>
        <p:txBody>
          <a:bodyPr/>
          <a:lstStyle/>
          <a:p>
            <a:endParaRPr lang="en-US"/>
          </a:p>
        </p:txBody>
      </p:sp>
      <p:sp>
        <p:nvSpPr>
          <p:cNvPr id="90" name="Text 88"/>
          <p:cNvSpPr/>
          <p:nvPr/>
        </p:nvSpPr>
        <p:spPr>
          <a:xfrm>
            <a:off x="7818120" y="4773168"/>
            <a:ext cx="914400" cy="164592"/>
          </a:xfrm>
          <a:prstGeom prst="rect">
            <a:avLst/>
          </a:prstGeom>
          <a:noFill/>
          <a:ln/>
        </p:spPr>
        <p:txBody>
          <a:bodyPr wrap="square" lIns="0" tIns="0" rIns="0" bIns="0" rtlCol="0" anchor="ctr"/>
          <a:lstStyle/>
          <a:p>
            <a:pPr marL="0" indent="0" algn="ctr">
              <a:buNone/>
            </a:pPr>
            <a:r>
              <a:rPr lang="en-US" sz="750" b="1" dirty="0">
                <a:solidFill>
                  <a:srgbClr val="6B7280"/>
                </a:solidFill>
                <a:latin typeface="Calibri" pitchFamily="34" charset="0"/>
                <a:ea typeface="Calibri" pitchFamily="34" charset="-122"/>
                <a:cs typeface="Calibri" pitchFamily="34" charset="-120"/>
              </a:rPr>
              <a:t>Pending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THE 5 WORKSTREAMS</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The 5 Workstreams</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Read your workstream. Colour = your person. Names match exactly across this deck and the Roles &amp; Responsibilities slide.</a:t>
            </a:r>
            <a:endParaRPr lang="en-US" sz="1100" dirty="0"/>
          </a:p>
        </p:txBody>
      </p:sp>
      <p:sp>
        <p:nvSpPr>
          <p:cNvPr id="6" name="Shape 4"/>
          <p:cNvSpPr/>
          <p:nvPr/>
        </p:nvSpPr>
        <p:spPr>
          <a:xfrm>
            <a:off x="411480" y="1316736"/>
            <a:ext cx="1609344" cy="3675888"/>
          </a:xfrm>
          <a:prstGeom prst="roundRect">
            <a:avLst>
              <a:gd name="adj" fmla="val 5682"/>
            </a:avLst>
          </a:prstGeom>
          <a:solidFill>
            <a:srgbClr val="FFFFFF"/>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7" name="Shape 5"/>
          <p:cNvSpPr/>
          <p:nvPr/>
        </p:nvSpPr>
        <p:spPr>
          <a:xfrm>
            <a:off x="411480" y="1316736"/>
            <a:ext cx="1609344" cy="457200"/>
          </a:xfrm>
          <a:prstGeom prst="roundRect">
            <a:avLst>
              <a:gd name="adj" fmla="val 20000"/>
            </a:avLst>
          </a:prstGeom>
          <a:solidFill>
            <a:srgbClr val="1A2B4A"/>
          </a:solidFill>
          <a:ln w="12700">
            <a:solidFill>
              <a:srgbClr val="1A2B4A"/>
            </a:solidFill>
            <a:prstDash val="solid"/>
          </a:ln>
        </p:spPr>
        <p:txBody>
          <a:bodyPr/>
          <a:lstStyle/>
          <a:p>
            <a:endParaRPr lang="en-US"/>
          </a:p>
        </p:txBody>
      </p:sp>
      <p:sp>
        <p:nvSpPr>
          <p:cNvPr id="8" name="Shape 6"/>
          <p:cNvSpPr/>
          <p:nvPr/>
        </p:nvSpPr>
        <p:spPr>
          <a:xfrm>
            <a:off x="411480" y="1591056"/>
            <a:ext cx="1609344" cy="182880"/>
          </a:xfrm>
          <a:prstGeom prst="rect">
            <a:avLst/>
          </a:prstGeom>
          <a:solidFill>
            <a:srgbClr val="1A2B4A"/>
          </a:solidFill>
          <a:ln w="12700">
            <a:solidFill>
              <a:srgbClr val="1A2B4A"/>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21208" y="1408176"/>
            <a:ext cx="256032" cy="256032"/>
          </a:xfrm>
          <a:prstGeom prst="rect">
            <a:avLst/>
          </a:prstGeom>
        </p:spPr>
      </p:pic>
      <p:sp>
        <p:nvSpPr>
          <p:cNvPr id="10" name="Text 7"/>
          <p:cNvSpPr/>
          <p:nvPr/>
        </p:nvSpPr>
        <p:spPr>
          <a:xfrm>
            <a:off x="502920" y="1819656"/>
            <a:ext cx="1426464" cy="512064"/>
          </a:xfrm>
          <a:prstGeom prst="rect">
            <a:avLst/>
          </a:prstGeom>
          <a:noFill/>
          <a:ln/>
        </p:spPr>
        <p:txBody>
          <a:bodyPr wrap="square" lIns="0" tIns="0" rIns="0" bIns="0" rtlCol="0" anchor="ctr"/>
          <a:lstStyle/>
          <a:p>
            <a:pPr marL="0" indent="0">
              <a:buNone/>
            </a:pPr>
            <a:r>
              <a:rPr lang="en-US" sz="1100" b="1" dirty="0">
                <a:solidFill>
                  <a:srgbClr val="1A2B4A"/>
                </a:solidFill>
                <a:latin typeface="Cambria" pitchFamily="34" charset="0"/>
                <a:ea typeface="Cambria" pitchFamily="34" charset="-122"/>
                <a:cs typeface="Cambria" pitchFamily="34" charset="-120"/>
              </a:rPr>
              <a:t>Story &amp;</a:t>
            </a:r>
            <a:endParaRPr lang="en-US" sz="1100" dirty="0"/>
          </a:p>
          <a:p>
            <a:pPr marL="0" indent="0">
              <a:buNone/>
            </a:pPr>
            <a:r>
              <a:rPr lang="en-US" sz="1100" b="1" dirty="0">
                <a:solidFill>
                  <a:srgbClr val="1A2B4A"/>
                </a:solidFill>
                <a:latin typeface="Cambria" pitchFamily="34" charset="0"/>
                <a:ea typeface="Cambria" pitchFamily="34" charset="-122"/>
                <a:cs typeface="Cambria" pitchFamily="34" charset="-120"/>
              </a:rPr>
              <a:t>Creative</a:t>
            </a:r>
            <a:endParaRPr lang="en-US" sz="1100" dirty="0"/>
          </a:p>
        </p:txBody>
      </p:sp>
      <p:sp>
        <p:nvSpPr>
          <p:cNvPr id="11" name="Text 8"/>
          <p:cNvSpPr/>
          <p:nvPr/>
        </p:nvSpPr>
        <p:spPr>
          <a:xfrm>
            <a:off x="502920" y="2350008"/>
            <a:ext cx="1426464" cy="237744"/>
          </a:xfrm>
          <a:prstGeom prst="rect">
            <a:avLst/>
          </a:prstGeom>
          <a:noFill/>
          <a:ln/>
        </p:spPr>
        <p:txBody>
          <a:bodyPr wrap="square" lIns="0" tIns="0" rIns="0" bIns="0" rtlCol="0" anchor="ctr"/>
          <a:lstStyle/>
          <a:p>
            <a:pPr marL="0" indent="0">
              <a:buNone/>
            </a:pPr>
            <a:r>
              <a:rPr lang="en-US" sz="850" i="1" dirty="0">
                <a:solidFill>
                  <a:srgbClr val="1A2B4A"/>
                </a:solidFill>
                <a:latin typeface="Calibri" pitchFamily="34" charset="0"/>
                <a:ea typeface="Calibri" pitchFamily="34" charset="-122"/>
                <a:cs typeface="Calibri" pitchFamily="34" charset="-120"/>
              </a:rPr>
              <a:t>Munish + Shefali</a:t>
            </a:r>
            <a:endParaRPr lang="en-US" sz="850" dirty="0"/>
          </a:p>
        </p:txBody>
      </p:sp>
      <p:sp>
        <p:nvSpPr>
          <p:cNvPr id="12" name="Shape 9"/>
          <p:cNvSpPr/>
          <p:nvPr/>
        </p:nvSpPr>
        <p:spPr>
          <a:xfrm>
            <a:off x="502920" y="2615184"/>
            <a:ext cx="1426464" cy="0"/>
          </a:xfrm>
          <a:prstGeom prst="line">
            <a:avLst/>
          </a:prstGeom>
          <a:noFill/>
          <a:ln w="12700">
            <a:solidFill>
              <a:srgbClr val="D1D5DB"/>
            </a:solidFill>
            <a:prstDash val="solid"/>
          </a:ln>
        </p:spPr>
        <p:txBody>
          <a:bodyPr/>
          <a:lstStyle/>
          <a:p>
            <a:endParaRPr lang="en-US"/>
          </a:p>
        </p:txBody>
      </p:sp>
      <p:sp>
        <p:nvSpPr>
          <p:cNvPr id="13" name="Text 10"/>
          <p:cNvSpPr/>
          <p:nvPr/>
        </p:nvSpPr>
        <p:spPr>
          <a:xfrm>
            <a:off x="502920" y="2734056"/>
            <a:ext cx="1426464" cy="2121408"/>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Narrative arc &amp; story bible</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Questionnaire (all 30 ACES)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Protagonist selection rubric</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Weekly prompts (Shefali)</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Cut direction &amp; picture lock</a:t>
            </a:r>
            <a:endParaRPr lang="en-US" sz="950" dirty="0"/>
          </a:p>
        </p:txBody>
      </p:sp>
      <p:sp>
        <p:nvSpPr>
          <p:cNvPr id="14" name="Shape 11"/>
          <p:cNvSpPr/>
          <p:nvPr/>
        </p:nvSpPr>
        <p:spPr>
          <a:xfrm>
            <a:off x="2084832" y="1316736"/>
            <a:ext cx="1609344" cy="3675888"/>
          </a:xfrm>
          <a:prstGeom prst="roundRect">
            <a:avLst>
              <a:gd name="adj" fmla="val 5682"/>
            </a:avLst>
          </a:prstGeom>
          <a:solidFill>
            <a:srgbClr val="FFFF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15" name="Shape 12"/>
          <p:cNvSpPr/>
          <p:nvPr/>
        </p:nvSpPr>
        <p:spPr>
          <a:xfrm>
            <a:off x="2084832" y="1316736"/>
            <a:ext cx="1609344" cy="457200"/>
          </a:xfrm>
          <a:prstGeom prst="roundRect">
            <a:avLst>
              <a:gd name="adj" fmla="val 20000"/>
            </a:avLst>
          </a:prstGeom>
          <a:solidFill>
            <a:srgbClr val="6B21A8"/>
          </a:solidFill>
          <a:ln w="12700">
            <a:solidFill>
              <a:srgbClr val="6B21A8"/>
            </a:solidFill>
            <a:prstDash val="solid"/>
          </a:ln>
        </p:spPr>
        <p:txBody>
          <a:bodyPr/>
          <a:lstStyle/>
          <a:p>
            <a:endParaRPr lang="en-US"/>
          </a:p>
        </p:txBody>
      </p:sp>
      <p:sp>
        <p:nvSpPr>
          <p:cNvPr id="16" name="Shape 13"/>
          <p:cNvSpPr/>
          <p:nvPr/>
        </p:nvSpPr>
        <p:spPr>
          <a:xfrm>
            <a:off x="2084832" y="1591056"/>
            <a:ext cx="1609344" cy="182880"/>
          </a:xfrm>
          <a:prstGeom prst="rect">
            <a:avLst/>
          </a:prstGeom>
          <a:solidFill>
            <a:srgbClr val="6B21A8"/>
          </a:solidFill>
          <a:ln w="12700">
            <a:solidFill>
              <a:srgbClr val="6B21A8"/>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2194560" y="1408176"/>
            <a:ext cx="256032" cy="256032"/>
          </a:xfrm>
          <a:prstGeom prst="rect">
            <a:avLst/>
          </a:prstGeom>
        </p:spPr>
      </p:pic>
      <p:sp>
        <p:nvSpPr>
          <p:cNvPr id="18" name="Text 14"/>
          <p:cNvSpPr/>
          <p:nvPr/>
        </p:nvSpPr>
        <p:spPr>
          <a:xfrm>
            <a:off x="2176272" y="1819656"/>
            <a:ext cx="1426464" cy="512064"/>
          </a:xfrm>
          <a:prstGeom prst="rect">
            <a:avLst/>
          </a:prstGeom>
          <a:noFill/>
          <a:ln/>
        </p:spPr>
        <p:txBody>
          <a:bodyPr wrap="square" lIns="0" tIns="0" rIns="0" bIns="0" rtlCol="0" anchor="ctr"/>
          <a:lstStyle/>
          <a:p>
            <a:pPr marL="0" indent="0">
              <a:buNone/>
            </a:pPr>
            <a:r>
              <a:rPr lang="en-US" sz="1100" b="1" dirty="0">
                <a:solidFill>
                  <a:srgbClr val="6B21A8"/>
                </a:solidFill>
                <a:latin typeface="Cambria" pitchFamily="34" charset="0"/>
                <a:ea typeface="Cambria" pitchFamily="34" charset="-122"/>
                <a:cs typeface="Cambria" pitchFamily="34" charset="-120"/>
              </a:rPr>
              <a:t>People</a:t>
            </a:r>
            <a:endParaRPr lang="en-US" sz="1100" dirty="0"/>
          </a:p>
          <a:p>
            <a:pPr marL="0" indent="0">
              <a:buNone/>
            </a:pPr>
            <a:r>
              <a:rPr lang="en-US" sz="1100" b="1" dirty="0">
                <a:solidFill>
                  <a:srgbClr val="6B21A8"/>
                </a:solidFill>
                <a:latin typeface="Cambria" pitchFamily="34" charset="0"/>
                <a:ea typeface="Cambria" pitchFamily="34" charset="-122"/>
                <a:cs typeface="Cambria" pitchFamily="34" charset="-120"/>
              </a:rPr>
              <a:t>Operations</a:t>
            </a:r>
            <a:endParaRPr lang="en-US" sz="1100" dirty="0"/>
          </a:p>
        </p:txBody>
      </p:sp>
      <p:sp>
        <p:nvSpPr>
          <p:cNvPr id="19" name="Text 15"/>
          <p:cNvSpPr/>
          <p:nvPr/>
        </p:nvSpPr>
        <p:spPr>
          <a:xfrm>
            <a:off x="2176272" y="2350008"/>
            <a:ext cx="1426464" cy="237744"/>
          </a:xfrm>
          <a:prstGeom prst="rect">
            <a:avLst/>
          </a:prstGeom>
          <a:noFill/>
          <a:ln/>
        </p:spPr>
        <p:txBody>
          <a:bodyPr wrap="square" lIns="0" tIns="0" rIns="0" bIns="0" rtlCol="0" anchor="ctr"/>
          <a:lstStyle/>
          <a:p>
            <a:pPr marL="0" indent="0">
              <a:buNone/>
            </a:pPr>
            <a:r>
              <a:rPr lang="en-US" sz="850" i="1" dirty="0">
                <a:solidFill>
                  <a:srgbClr val="6B21A8"/>
                </a:solidFill>
                <a:latin typeface="Calibri" pitchFamily="34" charset="0"/>
                <a:ea typeface="Calibri" pitchFamily="34" charset="-122"/>
                <a:cs typeface="Calibri" pitchFamily="34" charset="-120"/>
              </a:rPr>
              <a:t>Shefali + Eddie (PM temp)</a:t>
            </a:r>
            <a:endParaRPr lang="en-US" sz="850" dirty="0"/>
          </a:p>
        </p:txBody>
      </p:sp>
      <p:sp>
        <p:nvSpPr>
          <p:cNvPr id="20" name="Shape 16"/>
          <p:cNvSpPr/>
          <p:nvPr/>
        </p:nvSpPr>
        <p:spPr>
          <a:xfrm>
            <a:off x="2176272" y="2615184"/>
            <a:ext cx="1426464" cy="0"/>
          </a:xfrm>
          <a:prstGeom prst="line">
            <a:avLst/>
          </a:prstGeom>
          <a:noFill/>
          <a:ln w="12700">
            <a:solidFill>
              <a:srgbClr val="D1D5DB"/>
            </a:solidFill>
            <a:prstDash val="solid"/>
          </a:ln>
        </p:spPr>
        <p:txBody>
          <a:bodyPr/>
          <a:lstStyle/>
          <a:p>
            <a:endParaRPr lang="en-US"/>
          </a:p>
        </p:txBody>
      </p:sp>
      <p:sp>
        <p:nvSpPr>
          <p:cNvPr id="21" name="Text 17"/>
          <p:cNvSpPr/>
          <p:nvPr/>
        </p:nvSpPr>
        <p:spPr>
          <a:xfrm>
            <a:off x="2176272" y="2734056"/>
            <a:ext cx="1426464" cy="2121408"/>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Scheduling &amp; participant comms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Consent forms (5 protagonists)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Protagonist onboarding</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Zoom interviews — 5 only (Shefali + Eddie)</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GitHub README updates</a:t>
            </a:r>
            <a:endParaRPr lang="en-US" sz="950" dirty="0"/>
          </a:p>
        </p:txBody>
      </p:sp>
      <p:sp>
        <p:nvSpPr>
          <p:cNvPr id="22" name="Shape 18"/>
          <p:cNvSpPr/>
          <p:nvPr/>
        </p:nvSpPr>
        <p:spPr>
          <a:xfrm>
            <a:off x="3758184" y="1316736"/>
            <a:ext cx="1609344" cy="3675888"/>
          </a:xfrm>
          <a:prstGeom prst="roundRect">
            <a:avLst>
              <a:gd name="adj" fmla="val 5682"/>
            </a:avLst>
          </a:prstGeom>
          <a:solidFill>
            <a:srgbClr val="FFFFFF"/>
          </a:solidFill>
          <a:ln w="12700">
            <a:solidFill>
              <a:srgbClr val="0D7377"/>
            </a:solidFill>
            <a:prstDash val="solid"/>
          </a:ln>
          <a:effectLst>
            <a:outerShdw blurRad="76200" dist="25400" dir="2700000" algn="bl" rotWithShape="0">
              <a:srgbClr val="000000">
                <a:alpha val="8000"/>
              </a:srgbClr>
            </a:outerShdw>
          </a:effectLst>
        </p:spPr>
        <p:txBody>
          <a:bodyPr/>
          <a:lstStyle/>
          <a:p>
            <a:endParaRPr lang="en-US"/>
          </a:p>
        </p:txBody>
      </p:sp>
      <p:sp>
        <p:nvSpPr>
          <p:cNvPr id="23" name="Shape 19"/>
          <p:cNvSpPr/>
          <p:nvPr/>
        </p:nvSpPr>
        <p:spPr>
          <a:xfrm>
            <a:off x="3758184" y="1316736"/>
            <a:ext cx="1609344" cy="457200"/>
          </a:xfrm>
          <a:prstGeom prst="roundRect">
            <a:avLst>
              <a:gd name="adj" fmla="val 20000"/>
            </a:avLst>
          </a:prstGeom>
          <a:solidFill>
            <a:srgbClr val="0D7377"/>
          </a:solidFill>
          <a:ln w="12700">
            <a:solidFill>
              <a:srgbClr val="0D7377"/>
            </a:solidFill>
            <a:prstDash val="solid"/>
          </a:ln>
        </p:spPr>
        <p:txBody>
          <a:bodyPr/>
          <a:lstStyle/>
          <a:p>
            <a:endParaRPr lang="en-US"/>
          </a:p>
        </p:txBody>
      </p:sp>
      <p:sp>
        <p:nvSpPr>
          <p:cNvPr id="24" name="Shape 20"/>
          <p:cNvSpPr/>
          <p:nvPr/>
        </p:nvSpPr>
        <p:spPr>
          <a:xfrm>
            <a:off x="3758184" y="1591056"/>
            <a:ext cx="1609344" cy="182880"/>
          </a:xfrm>
          <a:prstGeom prst="rect">
            <a:avLst/>
          </a:prstGeom>
          <a:solidFill>
            <a:srgbClr val="0D7377"/>
          </a:solidFill>
          <a:ln w="12700">
            <a:solidFill>
              <a:srgbClr val="0D7377"/>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3867912" y="1408176"/>
            <a:ext cx="256032" cy="256032"/>
          </a:xfrm>
          <a:prstGeom prst="rect">
            <a:avLst/>
          </a:prstGeom>
        </p:spPr>
      </p:pic>
      <p:sp>
        <p:nvSpPr>
          <p:cNvPr id="26" name="Text 21"/>
          <p:cNvSpPr/>
          <p:nvPr/>
        </p:nvSpPr>
        <p:spPr>
          <a:xfrm>
            <a:off x="3849624" y="1819656"/>
            <a:ext cx="1426464" cy="512064"/>
          </a:xfrm>
          <a:prstGeom prst="rect">
            <a:avLst/>
          </a:prstGeom>
          <a:noFill/>
          <a:ln/>
        </p:spPr>
        <p:txBody>
          <a:bodyPr wrap="square" lIns="0" tIns="0" rIns="0" bIns="0" rtlCol="0" anchor="ctr"/>
          <a:lstStyle/>
          <a:p>
            <a:pPr marL="0" indent="0">
              <a:buNone/>
            </a:pPr>
            <a:r>
              <a:rPr lang="en-US" sz="1100" b="1" dirty="0">
                <a:solidFill>
                  <a:srgbClr val="0D7377"/>
                </a:solidFill>
                <a:latin typeface="Cambria" pitchFamily="34" charset="0"/>
                <a:ea typeface="Cambria" pitchFamily="34" charset="-122"/>
                <a:cs typeface="Cambria" pitchFamily="34" charset="-120"/>
              </a:rPr>
              <a:t>Content</a:t>
            </a:r>
            <a:endParaRPr lang="en-US" sz="1100" dirty="0"/>
          </a:p>
          <a:p>
            <a:pPr marL="0" indent="0">
              <a:buNone/>
            </a:pPr>
            <a:r>
              <a:rPr lang="en-US" sz="1100" b="1" dirty="0">
                <a:solidFill>
                  <a:srgbClr val="0D7377"/>
                </a:solidFill>
                <a:latin typeface="Cambria" pitchFamily="34" charset="0"/>
                <a:ea typeface="Cambria" pitchFamily="34" charset="-122"/>
                <a:cs typeface="Cambria" pitchFamily="34" charset="-120"/>
              </a:rPr>
              <a:t>&amp; Post</a:t>
            </a:r>
            <a:endParaRPr lang="en-US" sz="1100" dirty="0"/>
          </a:p>
        </p:txBody>
      </p:sp>
      <p:sp>
        <p:nvSpPr>
          <p:cNvPr id="27" name="Text 22"/>
          <p:cNvSpPr/>
          <p:nvPr/>
        </p:nvSpPr>
        <p:spPr>
          <a:xfrm>
            <a:off x="3849624" y="2350008"/>
            <a:ext cx="1426464" cy="237744"/>
          </a:xfrm>
          <a:prstGeom prst="rect">
            <a:avLst/>
          </a:prstGeom>
          <a:noFill/>
          <a:ln/>
        </p:spPr>
        <p:txBody>
          <a:bodyPr wrap="square" lIns="0" tIns="0" rIns="0" bIns="0" rtlCol="0" anchor="ctr"/>
          <a:lstStyle/>
          <a:p>
            <a:pPr marL="0" indent="0">
              <a:buNone/>
            </a:pPr>
            <a:r>
              <a:rPr lang="en-US" sz="850" i="1" dirty="0">
                <a:solidFill>
                  <a:srgbClr val="0D7377"/>
                </a:solidFill>
                <a:latin typeface="Calibri" pitchFamily="34" charset="0"/>
                <a:ea typeface="Calibri" pitchFamily="34" charset="-122"/>
                <a:cs typeface="Calibri" pitchFamily="34" charset="-120"/>
              </a:rPr>
              <a:t>Hansh (+ Om Maheshwari)</a:t>
            </a:r>
            <a:endParaRPr lang="en-US" sz="850" dirty="0"/>
          </a:p>
        </p:txBody>
      </p:sp>
      <p:sp>
        <p:nvSpPr>
          <p:cNvPr id="28" name="Shape 23"/>
          <p:cNvSpPr/>
          <p:nvPr/>
        </p:nvSpPr>
        <p:spPr>
          <a:xfrm>
            <a:off x="3849624" y="2615184"/>
            <a:ext cx="1426464" cy="0"/>
          </a:xfrm>
          <a:prstGeom prst="line">
            <a:avLst/>
          </a:prstGeom>
          <a:noFill/>
          <a:ln w="12700">
            <a:solidFill>
              <a:srgbClr val="D1D5DB"/>
            </a:solidFill>
            <a:prstDash val="solid"/>
          </a:ln>
        </p:spPr>
        <p:txBody>
          <a:bodyPr/>
          <a:lstStyle/>
          <a:p>
            <a:endParaRPr lang="en-US"/>
          </a:p>
        </p:txBody>
      </p:sp>
      <p:sp>
        <p:nvSpPr>
          <p:cNvPr id="29" name="Text 24"/>
          <p:cNvSpPr/>
          <p:nvPr/>
        </p:nvSpPr>
        <p:spPr>
          <a:xfrm>
            <a:off x="3849624" y="2734056"/>
            <a:ext cx="1426464" cy="2121408"/>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File system &amp; naming</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WhatsApp archive</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Archival footage (ACES)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Colour grade &amp; sound mix</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Netflix delivery</a:t>
            </a:r>
            <a:endParaRPr lang="en-US" sz="950" dirty="0"/>
          </a:p>
        </p:txBody>
      </p:sp>
      <p:sp>
        <p:nvSpPr>
          <p:cNvPr id="30" name="Shape 25"/>
          <p:cNvSpPr/>
          <p:nvPr/>
        </p:nvSpPr>
        <p:spPr>
          <a:xfrm>
            <a:off x="5431536" y="1316736"/>
            <a:ext cx="1609344" cy="3675888"/>
          </a:xfrm>
          <a:prstGeom prst="roundRect">
            <a:avLst>
              <a:gd name="adj" fmla="val 5682"/>
            </a:avLst>
          </a:prstGeom>
          <a:solidFill>
            <a:srgbClr val="FFFFFF"/>
          </a:solidFill>
          <a:ln w="12700">
            <a:solidFill>
              <a:srgbClr val="C05621"/>
            </a:solidFill>
            <a:prstDash val="solid"/>
          </a:ln>
          <a:effectLst>
            <a:outerShdw blurRad="76200" dist="25400" dir="2700000" algn="bl" rotWithShape="0">
              <a:srgbClr val="000000">
                <a:alpha val="8000"/>
              </a:srgbClr>
            </a:outerShdw>
          </a:effectLst>
        </p:spPr>
        <p:txBody>
          <a:bodyPr/>
          <a:lstStyle/>
          <a:p>
            <a:endParaRPr lang="en-US"/>
          </a:p>
        </p:txBody>
      </p:sp>
      <p:sp>
        <p:nvSpPr>
          <p:cNvPr id="31" name="Shape 26"/>
          <p:cNvSpPr/>
          <p:nvPr/>
        </p:nvSpPr>
        <p:spPr>
          <a:xfrm>
            <a:off x="5431536" y="1316736"/>
            <a:ext cx="1609344" cy="457200"/>
          </a:xfrm>
          <a:prstGeom prst="roundRect">
            <a:avLst>
              <a:gd name="adj" fmla="val 20000"/>
            </a:avLst>
          </a:prstGeom>
          <a:solidFill>
            <a:srgbClr val="C05621"/>
          </a:solidFill>
          <a:ln w="12700">
            <a:solidFill>
              <a:srgbClr val="C05621"/>
            </a:solidFill>
            <a:prstDash val="solid"/>
          </a:ln>
        </p:spPr>
        <p:txBody>
          <a:bodyPr/>
          <a:lstStyle/>
          <a:p>
            <a:endParaRPr lang="en-US"/>
          </a:p>
        </p:txBody>
      </p:sp>
      <p:sp>
        <p:nvSpPr>
          <p:cNvPr id="32" name="Shape 27"/>
          <p:cNvSpPr/>
          <p:nvPr/>
        </p:nvSpPr>
        <p:spPr>
          <a:xfrm>
            <a:off x="5431536" y="1591056"/>
            <a:ext cx="1609344" cy="182880"/>
          </a:xfrm>
          <a:prstGeom prst="rect">
            <a:avLst/>
          </a:prstGeom>
          <a:solidFill>
            <a:srgbClr val="C05621"/>
          </a:solidFill>
          <a:ln w="12700">
            <a:solidFill>
              <a:srgbClr val="C05621"/>
            </a:solidFill>
            <a:prstDash val="solid"/>
          </a:ln>
        </p:spPr>
        <p:txBody>
          <a:bodyPr/>
          <a:lstStyle/>
          <a:p>
            <a:endParaRPr lang="en-US"/>
          </a:p>
        </p:txBody>
      </p:sp>
      <p:pic>
        <p:nvPicPr>
          <p:cNvPr id="33" name="Image 3" descr="preencoded.png"/>
          <p:cNvPicPr>
            <a:picLocks noChangeAspect="1"/>
          </p:cNvPicPr>
          <p:nvPr/>
        </p:nvPicPr>
        <p:blipFill>
          <a:blip r:embed="rId6"/>
          <a:stretch>
            <a:fillRect/>
          </a:stretch>
        </p:blipFill>
        <p:spPr>
          <a:xfrm>
            <a:off x="5541264" y="1408176"/>
            <a:ext cx="256032" cy="256032"/>
          </a:xfrm>
          <a:prstGeom prst="rect">
            <a:avLst/>
          </a:prstGeom>
        </p:spPr>
      </p:pic>
      <p:sp>
        <p:nvSpPr>
          <p:cNvPr id="34" name="Text 28"/>
          <p:cNvSpPr/>
          <p:nvPr/>
        </p:nvSpPr>
        <p:spPr>
          <a:xfrm>
            <a:off x="5522976" y="1819656"/>
            <a:ext cx="1426464" cy="512064"/>
          </a:xfrm>
          <a:prstGeom prst="rect">
            <a:avLst/>
          </a:prstGeom>
          <a:noFill/>
          <a:ln/>
        </p:spPr>
        <p:txBody>
          <a:bodyPr wrap="square" lIns="0" tIns="0" rIns="0" bIns="0" rtlCol="0" anchor="ctr"/>
          <a:lstStyle/>
          <a:p>
            <a:pPr marL="0" indent="0">
              <a:buNone/>
            </a:pPr>
            <a:r>
              <a:rPr lang="en-US" sz="1100" b="1" dirty="0">
                <a:solidFill>
                  <a:srgbClr val="C05621"/>
                </a:solidFill>
                <a:latin typeface="Cambria" pitchFamily="34" charset="0"/>
                <a:ea typeface="Cambria" pitchFamily="34" charset="-122"/>
                <a:cs typeface="Cambria" pitchFamily="34" charset="-120"/>
              </a:rPr>
              <a:t>Hardware</a:t>
            </a:r>
            <a:endParaRPr lang="en-US" sz="1100" dirty="0"/>
          </a:p>
          <a:p>
            <a:pPr marL="0" indent="0">
              <a:buNone/>
            </a:pPr>
            <a:r>
              <a:rPr lang="en-US" sz="1100" b="1" dirty="0">
                <a:solidFill>
                  <a:srgbClr val="C05621"/>
                </a:solidFill>
                <a:latin typeface="Cambria" pitchFamily="34" charset="0"/>
                <a:ea typeface="Cambria" pitchFamily="34" charset="-122"/>
                <a:cs typeface="Cambria" pitchFamily="34" charset="-120"/>
              </a:rPr>
              <a:t>&amp; Tech</a:t>
            </a:r>
            <a:endParaRPr lang="en-US" sz="1100" dirty="0"/>
          </a:p>
        </p:txBody>
      </p:sp>
      <p:sp>
        <p:nvSpPr>
          <p:cNvPr id="35" name="Text 29"/>
          <p:cNvSpPr/>
          <p:nvPr/>
        </p:nvSpPr>
        <p:spPr>
          <a:xfrm>
            <a:off x="5522976" y="2350008"/>
            <a:ext cx="1426464" cy="237744"/>
          </a:xfrm>
          <a:prstGeom prst="rect">
            <a:avLst/>
          </a:prstGeom>
          <a:noFill/>
          <a:ln/>
        </p:spPr>
        <p:txBody>
          <a:bodyPr wrap="square" lIns="0" tIns="0" rIns="0" bIns="0" rtlCol="0" anchor="ctr"/>
          <a:lstStyle/>
          <a:p>
            <a:pPr marL="0" indent="0">
              <a:buNone/>
            </a:pPr>
            <a:r>
              <a:rPr lang="en-US" sz="850" i="1" dirty="0">
                <a:solidFill>
                  <a:srgbClr val="C05621"/>
                </a:solidFill>
                <a:latin typeface="Calibri" pitchFamily="34" charset="0"/>
                <a:ea typeface="Calibri" pitchFamily="34" charset="-122"/>
                <a:cs typeface="Calibri" pitchFamily="34" charset="-120"/>
              </a:rPr>
              <a:t>Eddie (+ Om TBD)</a:t>
            </a:r>
            <a:endParaRPr lang="en-US" sz="850" dirty="0"/>
          </a:p>
        </p:txBody>
      </p:sp>
      <p:sp>
        <p:nvSpPr>
          <p:cNvPr id="36" name="Shape 30"/>
          <p:cNvSpPr/>
          <p:nvPr/>
        </p:nvSpPr>
        <p:spPr>
          <a:xfrm>
            <a:off x="5522976" y="2615184"/>
            <a:ext cx="1426464" cy="0"/>
          </a:xfrm>
          <a:prstGeom prst="line">
            <a:avLst/>
          </a:prstGeom>
          <a:noFill/>
          <a:ln w="12700">
            <a:solidFill>
              <a:srgbClr val="D1D5DB"/>
            </a:solidFill>
            <a:prstDash val="solid"/>
          </a:ln>
        </p:spPr>
        <p:txBody>
          <a:bodyPr/>
          <a:lstStyle/>
          <a:p>
            <a:endParaRPr lang="en-US"/>
          </a:p>
        </p:txBody>
      </p:sp>
      <p:sp>
        <p:nvSpPr>
          <p:cNvPr id="37" name="Text 31"/>
          <p:cNvSpPr/>
          <p:nvPr/>
        </p:nvSpPr>
        <p:spPr>
          <a:xfrm>
            <a:off x="5522976" y="2734056"/>
            <a:ext cx="1426464" cy="2121408"/>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DOP setup — call each protagonist</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Camera angles &amp; settings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Same footage from different angles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Screen recording guide</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Graduation day camera</a:t>
            </a:r>
            <a:endParaRPr lang="en-US" sz="950" dirty="0"/>
          </a:p>
        </p:txBody>
      </p:sp>
      <p:sp>
        <p:nvSpPr>
          <p:cNvPr id="38" name="Shape 32"/>
          <p:cNvSpPr/>
          <p:nvPr/>
        </p:nvSpPr>
        <p:spPr>
          <a:xfrm>
            <a:off x="7104888" y="1316736"/>
            <a:ext cx="1609344" cy="3675888"/>
          </a:xfrm>
          <a:prstGeom prst="roundRect">
            <a:avLst>
              <a:gd name="adj" fmla="val 5682"/>
            </a:avLst>
          </a:prstGeom>
          <a:solidFill>
            <a:srgbClr val="FFFFFF"/>
          </a:solidFill>
          <a:ln w="12700">
            <a:solidFill>
              <a:srgbClr val="1A6B3C"/>
            </a:solidFill>
            <a:prstDash val="solid"/>
          </a:ln>
          <a:effectLst>
            <a:outerShdw blurRad="76200" dist="25400" dir="2700000" algn="bl" rotWithShape="0">
              <a:srgbClr val="000000">
                <a:alpha val="8000"/>
              </a:srgbClr>
            </a:outerShdw>
          </a:effectLst>
        </p:spPr>
        <p:txBody>
          <a:bodyPr/>
          <a:lstStyle/>
          <a:p>
            <a:endParaRPr lang="en-US"/>
          </a:p>
        </p:txBody>
      </p:sp>
      <p:sp>
        <p:nvSpPr>
          <p:cNvPr id="39" name="Shape 33"/>
          <p:cNvSpPr/>
          <p:nvPr/>
        </p:nvSpPr>
        <p:spPr>
          <a:xfrm>
            <a:off x="7104888" y="1316736"/>
            <a:ext cx="1609344" cy="457200"/>
          </a:xfrm>
          <a:prstGeom prst="roundRect">
            <a:avLst>
              <a:gd name="adj" fmla="val 20000"/>
            </a:avLst>
          </a:prstGeom>
          <a:solidFill>
            <a:srgbClr val="1A6B3C"/>
          </a:solidFill>
          <a:ln w="12700">
            <a:solidFill>
              <a:srgbClr val="1A6B3C"/>
            </a:solidFill>
            <a:prstDash val="solid"/>
          </a:ln>
        </p:spPr>
        <p:txBody>
          <a:bodyPr/>
          <a:lstStyle/>
          <a:p>
            <a:endParaRPr lang="en-US"/>
          </a:p>
        </p:txBody>
      </p:sp>
      <p:sp>
        <p:nvSpPr>
          <p:cNvPr id="40" name="Shape 34"/>
          <p:cNvSpPr/>
          <p:nvPr/>
        </p:nvSpPr>
        <p:spPr>
          <a:xfrm>
            <a:off x="7104888" y="1591056"/>
            <a:ext cx="1609344" cy="182880"/>
          </a:xfrm>
          <a:prstGeom prst="rect">
            <a:avLst/>
          </a:prstGeom>
          <a:solidFill>
            <a:srgbClr val="1A6B3C"/>
          </a:solidFill>
          <a:ln w="12700">
            <a:solidFill>
              <a:srgbClr val="1A6B3C"/>
            </a:solidFill>
            <a:prstDash val="solid"/>
          </a:ln>
        </p:spPr>
        <p:txBody>
          <a:bodyPr/>
          <a:lstStyle/>
          <a:p>
            <a:endParaRPr lang="en-US"/>
          </a:p>
        </p:txBody>
      </p:sp>
      <p:pic>
        <p:nvPicPr>
          <p:cNvPr id="41" name="Image 4" descr="preencoded.png"/>
          <p:cNvPicPr>
            <a:picLocks noChangeAspect="1"/>
          </p:cNvPicPr>
          <p:nvPr/>
        </p:nvPicPr>
        <p:blipFill>
          <a:blip r:embed="rId7"/>
          <a:stretch>
            <a:fillRect/>
          </a:stretch>
        </p:blipFill>
        <p:spPr>
          <a:xfrm>
            <a:off x="7214616" y="1408176"/>
            <a:ext cx="256032" cy="256032"/>
          </a:xfrm>
          <a:prstGeom prst="rect">
            <a:avLst/>
          </a:prstGeom>
        </p:spPr>
      </p:pic>
      <p:sp>
        <p:nvSpPr>
          <p:cNvPr id="42" name="Text 35"/>
          <p:cNvSpPr/>
          <p:nvPr/>
        </p:nvSpPr>
        <p:spPr>
          <a:xfrm>
            <a:off x="7196328" y="1819656"/>
            <a:ext cx="1426464" cy="512064"/>
          </a:xfrm>
          <a:prstGeom prst="rect">
            <a:avLst/>
          </a:prstGeom>
          <a:noFill/>
          <a:ln/>
        </p:spPr>
        <p:txBody>
          <a:bodyPr wrap="square" lIns="0" tIns="0" rIns="0" bIns="0" rtlCol="0" anchor="ctr"/>
          <a:lstStyle/>
          <a:p>
            <a:pPr marL="0" indent="0">
              <a:buNone/>
            </a:pPr>
            <a:r>
              <a:rPr lang="en-US" sz="1100" b="1" dirty="0">
                <a:solidFill>
                  <a:srgbClr val="1A6B3C"/>
                </a:solidFill>
                <a:latin typeface="Cambria" pitchFamily="34" charset="0"/>
                <a:ea typeface="Cambria" pitchFamily="34" charset="-122"/>
                <a:cs typeface="Cambria" pitchFamily="34" charset="-120"/>
              </a:rPr>
              <a:t>Marketing &amp;</a:t>
            </a:r>
            <a:endParaRPr lang="en-US" sz="1100" dirty="0"/>
          </a:p>
          <a:p>
            <a:pPr marL="0" indent="0">
              <a:buNone/>
            </a:pPr>
            <a:r>
              <a:rPr lang="en-US" sz="1100" b="1" dirty="0">
                <a:solidFill>
                  <a:srgbClr val="1A6B3C"/>
                </a:solidFill>
                <a:latin typeface="Cambria" pitchFamily="34" charset="0"/>
                <a:ea typeface="Cambria" pitchFamily="34" charset="-122"/>
                <a:cs typeface="Cambria" pitchFamily="34" charset="-120"/>
              </a:rPr>
              <a:t>Distribution</a:t>
            </a:r>
            <a:endParaRPr lang="en-US" sz="1100" dirty="0"/>
          </a:p>
        </p:txBody>
      </p:sp>
      <p:sp>
        <p:nvSpPr>
          <p:cNvPr id="43" name="Text 36"/>
          <p:cNvSpPr/>
          <p:nvPr/>
        </p:nvSpPr>
        <p:spPr>
          <a:xfrm>
            <a:off x="7196328" y="2350008"/>
            <a:ext cx="1426464" cy="237744"/>
          </a:xfrm>
          <a:prstGeom prst="rect">
            <a:avLst/>
          </a:prstGeom>
          <a:noFill/>
          <a:ln/>
        </p:spPr>
        <p:txBody>
          <a:bodyPr wrap="square" lIns="0" tIns="0" rIns="0" bIns="0" rtlCol="0" anchor="ctr"/>
          <a:lstStyle/>
          <a:p>
            <a:pPr marL="0" indent="0">
              <a:buNone/>
            </a:pPr>
            <a:r>
              <a:rPr lang="en-US" sz="850" i="1" dirty="0">
                <a:solidFill>
                  <a:srgbClr val="1A6B3C"/>
                </a:solidFill>
                <a:latin typeface="Calibri" pitchFamily="34" charset="0"/>
                <a:ea typeface="Calibri" pitchFamily="34" charset="-122"/>
                <a:cs typeface="Calibri" pitchFamily="34" charset="-120"/>
              </a:rPr>
              <a:t>Yash (+ Sagar Batra TBD)</a:t>
            </a:r>
            <a:endParaRPr lang="en-US" sz="850" dirty="0"/>
          </a:p>
        </p:txBody>
      </p:sp>
      <p:sp>
        <p:nvSpPr>
          <p:cNvPr id="44" name="Shape 37"/>
          <p:cNvSpPr/>
          <p:nvPr/>
        </p:nvSpPr>
        <p:spPr>
          <a:xfrm>
            <a:off x="7196328" y="2615184"/>
            <a:ext cx="1426464" cy="0"/>
          </a:xfrm>
          <a:prstGeom prst="line">
            <a:avLst/>
          </a:prstGeom>
          <a:noFill/>
          <a:ln w="12700">
            <a:solidFill>
              <a:srgbClr val="D1D5DB"/>
            </a:solidFill>
            <a:prstDash val="solid"/>
          </a:ln>
        </p:spPr>
        <p:txBody>
          <a:bodyPr/>
          <a:lstStyle/>
          <a:p>
            <a:endParaRPr lang="en-US"/>
          </a:p>
        </p:txBody>
      </p:sp>
      <p:sp>
        <p:nvSpPr>
          <p:cNvPr id="45" name="Text 38"/>
          <p:cNvSpPr/>
          <p:nvPr/>
        </p:nvSpPr>
        <p:spPr>
          <a:xfrm>
            <a:off x="7196328" y="2734056"/>
            <a:ext cx="1426464" cy="2121408"/>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Social media &amp; content calendar</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Weekly publishing from M3</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Release &amp; distribution strategy</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Festival submissions</a:t>
            </a:r>
            <a:endParaRPr lang="en-US" sz="950" dirty="0"/>
          </a:p>
          <a:p>
            <a:pPr marL="342900" indent="-342900">
              <a:spcAft>
                <a:spcPts val="300"/>
              </a:spcAft>
              <a:buSzPct val="100000"/>
              <a:buChar char="•"/>
            </a:pPr>
            <a:r>
              <a:rPr lang="en-US" sz="950" dirty="0">
                <a:solidFill>
                  <a:srgbClr val="111111"/>
                </a:solidFill>
                <a:latin typeface="Calibri" pitchFamily="34" charset="0"/>
                <a:ea typeface="Calibri" pitchFamily="34" charset="-122"/>
                <a:cs typeface="Calibri" pitchFamily="34" charset="-120"/>
              </a:rPr>
              <a:t>Hardware audit of all 30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PHASE CARDS — JUNE TO SEPTEMBER 2025</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Phase Cards — What Happens When</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Compressed to real timeline. Celebration event target: mid-September.</a:t>
            </a:r>
            <a:endParaRPr lang="en-US" sz="1100" dirty="0"/>
          </a:p>
        </p:txBody>
      </p:sp>
      <p:sp>
        <p:nvSpPr>
          <p:cNvPr id="6" name="Shape 4"/>
          <p:cNvSpPr/>
          <p:nvPr/>
        </p:nvSpPr>
        <p:spPr>
          <a:xfrm>
            <a:off x="301752" y="1316736"/>
            <a:ext cx="1664208" cy="3675888"/>
          </a:xfrm>
          <a:prstGeom prst="roundRect">
            <a:avLst>
              <a:gd name="adj" fmla="val 5495"/>
            </a:avLst>
          </a:prstGeom>
          <a:solidFill>
            <a:srgbClr val="FFFFFF"/>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7" name="Shape 5"/>
          <p:cNvSpPr/>
          <p:nvPr/>
        </p:nvSpPr>
        <p:spPr>
          <a:xfrm>
            <a:off x="301752" y="1316736"/>
            <a:ext cx="1664208" cy="457200"/>
          </a:xfrm>
          <a:prstGeom prst="roundRect">
            <a:avLst>
              <a:gd name="adj" fmla="val 20000"/>
            </a:avLst>
          </a:prstGeom>
          <a:solidFill>
            <a:srgbClr val="1A2B4A"/>
          </a:solidFill>
          <a:ln w="12700">
            <a:solidFill>
              <a:srgbClr val="1A2B4A"/>
            </a:solidFill>
            <a:prstDash val="solid"/>
          </a:ln>
        </p:spPr>
        <p:txBody>
          <a:bodyPr/>
          <a:lstStyle/>
          <a:p>
            <a:endParaRPr lang="en-US"/>
          </a:p>
        </p:txBody>
      </p:sp>
      <p:sp>
        <p:nvSpPr>
          <p:cNvPr id="8" name="Shape 6"/>
          <p:cNvSpPr/>
          <p:nvPr/>
        </p:nvSpPr>
        <p:spPr>
          <a:xfrm>
            <a:off x="301752" y="1591056"/>
            <a:ext cx="1664208" cy="182880"/>
          </a:xfrm>
          <a:prstGeom prst="rect">
            <a:avLst/>
          </a:prstGeom>
          <a:solidFill>
            <a:srgbClr val="1A2B4A"/>
          </a:solidFill>
          <a:ln w="12700">
            <a:solidFill>
              <a:srgbClr val="1A2B4A"/>
            </a:solidFill>
            <a:prstDash val="solid"/>
          </a:ln>
        </p:spPr>
        <p:txBody>
          <a:bodyPr/>
          <a:lstStyle/>
          <a:p>
            <a:endParaRPr lang="en-US"/>
          </a:p>
        </p:txBody>
      </p:sp>
      <p:sp>
        <p:nvSpPr>
          <p:cNvPr id="9" name="Text 7"/>
          <p:cNvSpPr/>
          <p:nvPr/>
        </p:nvSpPr>
        <p:spPr>
          <a:xfrm>
            <a:off x="393192" y="1371600"/>
            <a:ext cx="1481328"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M1</a:t>
            </a:r>
            <a:endParaRPr lang="en-US" sz="1300" dirty="0"/>
          </a:p>
        </p:txBody>
      </p:sp>
      <p:sp>
        <p:nvSpPr>
          <p:cNvPr id="10" name="Text 8"/>
          <p:cNvSpPr/>
          <p:nvPr/>
        </p:nvSpPr>
        <p:spPr>
          <a:xfrm>
            <a:off x="393192" y="1810512"/>
            <a:ext cx="1481328" cy="292608"/>
          </a:xfrm>
          <a:prstGeom prst="rect">
            <a:avLst/>
          </a:prstGeom>
          <a:noFill/>
          <a:ln/>
        </p:spPr>
        <p:txBody>
          <a:bodyPr wrap="square" lIns="0" tIns="0" rIns="0" bIns="0" rtlCol="0" anchor="ctr"/>
          <a:lstStyle/>
          <a:p>
            <a:pPr marL="0" indent="0">
              <a:buNone/>
            </a:pPr>
            <a:r>
              <a:rPr lang="en-US" sz="950" b="1" dirty="0">
                <a:solidFill>
                  <a:srgbClr val="1A2B4A"/>
                </a:solidFill>
                <a:latin typeface="Calibri" pitchFamily="34" charset="0"/>
                <a:ea typeface="Calibri" pitchFamily="34" charset="-122"/>
                <a:cs typeface="Calibri" pitchFamily="34" charset="-120"/>
              </a:rPr>
              <a:t>June</a:t>
            </a:r>
            <a:endParaRPr lang="en-US" sz="950" dirty="0"/>
          </a:p>
          <a:p>
            <a:pPr marL="0" indent="0">
              <a:buNone/>
            </a:pPr>
            <a:r>
              <a:rPr lang="en-US" sz="950" b="1" dirty="0">
                <a:solidFill>
                  <a:srgbClr val="1A2B4A"/>
                </a:solidFill>
                <a:latin typeface="Calibri" pitchFamily="34" charset="0"/>
                <a:ea typeface="Calibri" pitchFamily="34" charset="-122"/>
                <a:cs typeface="Calibri" pitchFamily="34" charset="-120"/>
              </a:rPr>
              <a:t>Development</a:t>
            </a:r>
            <a:endParaRPr lang="en-US" sz="950" dirty="0"/>
          </a:p>
        </p:txBody>
      </p:sp>
      <p:sp>
        <p:nvSpPr>
          <p:cNvPr id="11" name="Text 9"/>
          <p:cNvSpPr/>
          <p:nvPr/>
        </p:nvSpPr>
        <p:spPr>
          <a:xfrm>
            <a:off x="393192" y="2139696"/>
            <a:ext cx="1481328" cy="2697480"/>
          </a:xfrm>
          <a:prstGeom prst="rect">
            <a:avLst/>
          </a:prstGeom>
          <a:noFill/>
          <a:ln/>
        </p:spPr>
        <p:txBody>
          <a:bodyPr wrap="square" lIns="0" tIns="0" rIns="0" bIns="0" rtlCol="0" anchor="ctr"/>
          <a:lstStyle/>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Concept &amp; Netflix pitch (Munish + Shefali)</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Questionnaire to all 30 ACES (Shefali)</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Consent forms, budget, music brief (Hansh + Munish)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GitHub repo + folder structure (Hansh)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Protagonist selection + onboarding</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DOP calls begin (Eddie)</a:t>
            </a:r>
            <a:endParaRPr lang="en-US" sz="850" dirty="0"/>
          </a:p>
        </p:txBody>
      </p:sp>
      <p:sp>
        <p:nvSpPr>
          <p:cNvPr id="12" name="Shape 10"/>
          <p:cNvSpPr/>
          <p:nvPr/>
        </p:nvSpPr>
        <p:spPr>
          <a:xfrm>
            <a:off x="2011680" y="1316736"/>
            <a:ext cx="1664208" cy="3675888"/>
          </a:xfrm>
          <a:prstGeom prst="roundRect">
            <a:avLst>
              <a:gd name="adj" fmla="val 5495"/>
            </a:avLst>
          </a:prstGeom>
          <a:solidFill>
            <a:srgbClr val="FFFF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13" name="Shape 11"/>
          <p:cNvSpPr/>
          <p:nvPr/>
        </p:nvSpPr>
        <p:spPr>
          <a:xfrm>
            <a:off x="2011680" y="1316736"/>
            <a:ext cx="1664208" cy="457200"/>
          </a:xfrm>
          <a:prstGeom prst="roundRect">
            <a:avLst>
              <a:gd name="adj" fmla="val 20000"/>
            </a:avLst>
          </a:prstGeom>
          <a:solidFill>
            <a:srgbClr val="6B21A8"/>
          </a:solidFill>
          <a:ln w="12700">
            <a:solidFill>
              <a:srgbClr val="6B21A8"/>
            </a:solidFill>
            <a:prstDash val="solid"/>
          </a:ln>
        </p:spPr>
        <p:txBody>
          <a:bodyPr/>
          <a:lstStyle/>
          <a:p>
            <a:endParaRPr lang="en-US"/>
          </a:p>
        </p:txBody>
      </p:sp>
      <p:sp>
        <p:nvSpPr>
          <p:cNvPr id="14" name="Shape 12"/>
          <p:cNvSpPr/>
          <p:nvPr/>
        </p:nvSpPr>
        <p:spPr>
          <a:xfrm>
            <a:off x="2011680" y="1591056"/>
            <a:ext cx="1664208" cy="182880"/>
          </a:xfrm>
          <a:prstGeom prst="rect">
            <a:avLst/>
          </a:prstGeom>
          <a:solidFill>
            <a:srgbClr val="6B21A8"/>
          </a:solidFill>
          <a:ln w="12700">
            <a:solidFill>
              <a:srgbClr val="6B21A8"/>
            </a:solidFill>
            <a:prstDash val="solid"/>
          </a:ln>
        </p:spPr>
        <p:txBody>
          <a:bodyPr/>
          <a:lstStyle/>
          <a:p>
            <a:endParaRPr lang="en-US"/>
          </a:p>
        </p:txBody>
      </p:sp>
      <p:sp>
        <p:nvSpPr>
          <p:cNvPr id="15" name="Text 13"/>
          <p:cNvSpPr/>
          <p:nvPr/>
        </p:nvSpPr>
        <p:spPr>
          <a:xfrm>
            <a:off x="2103120" y="1371600"/>
            <a:ext cx="1481328"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M2</a:t>
            </a:r>
            <a:endParaRPr lang="en-US" sz="1300" dirty="0"/>
          </a:p>
        </p:txBody>
      </p:sp>
      <p:sp>
        <p:nvSpPr>
          <p:cNvPr id="16" name="Text 14"/>
          <p:cNvSpPr/>
          <p:nvPr/>
        </p:nvSpPr>
        <p:spPr>
          <a:xfrm>
            <a:off x="2103120" y="1810512"/>
            <a:ext cx="1481328" cy="292608"/>
          </a:xfrm>
          <a:prstGeom prst="rect">
            <a:avLst/>
          </a:prstGeom>
          <a:noFill/>
          <a:ln/>
        </p:spPr>
        <p:txBody>
          <a:bodyPr wrap="square" lIns="0" tIns="0" rIns="0" bIns="0" rtlCol="0" anchor="ctr"/>
          <a:lstStyle/>
          <a:p>
            <a:pPr marL="0" indent="0">
              <a:buNone/>
            </a:pPr>
            <a:r>
              <a:rPr lang="en-US" sz="950" b="1" dirty="0">
                <a:solidFill>
                  <a:srgbClr val="6B21A8"/>
                </a:solidFill>
                <a:latin typeface="Calibri" pitchFamily="34" charset="0"/>
                <a:ea typeface="Calibri" pitchFamily="34" charset="-122"/>
                <a:cs typeface="Calibri" pitchFamily="34" charset="-120"/>
              </a:rPr>
              <a:t>July</a:t>
            </a:r>
            <a:endParaRPr lang="en-US" sz="950" dirty="0"/>
          </a:p>
          <a:p>
            <a:pPr marL="0" indent="0">
              <a:buNone/>
            </a:pPr>
            <a:r>
              <a:rPr lang="en-US" sz="950" b="1" dirty="0">
                <a:solidFill>
                  <a:srgbClr val="6B21A8"/>
                </a:solidFill>
                <a:latin typeface="Calibri" pitchFamily="34" charset="0"/>
                <a:ea typeface="Calibri" pitchFamily="34" charset="-122"/>
                <a:cs typeface="Calibri" pitchFamily="34" charset="-120"/>
              </a:rPr>
              <a:t>Pre-Production</a:t>
            </a:r>
            <a:endParaRPr lang="en-US" sz="950" dirty="0"/>
          </a:p>
        </p:txBody>
      </p:sp>
      <p:sp>
        <p:nvSpPr>
          <p:cNvPr id="17" name="Text 15"/>
          <p:cNvSpPr/>
          <p:nvPr/>
        </p:nvSpPr>
        <p:spPr>
          <a:xfrm>
            <a:off x="2103120" y="2139696"/>
            <a:ext cx="1481328" cy="2697480"/>
          </a:xfrm>
          <a:prstGeom prst="rect">
            <a:avLst/>
          </a:prstGeom>
          <a:noFill/>
          <a:ln/>
        </p:spPr>
        <p:txBody>
          <a:bodyPr wrap="square" lIns="0" tIns="0" rIns="0" bIns="0" rtlCol="0" anchor="ctr"/>
          <a:lstStyle/>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DOP setup complete — all protagonists (Eddie)</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Questionnaire responses reviewed — shortlist 5</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Zoom interviews — 5 protagonists only (Shefali + Eddie)</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Protagonist story arc briefs (Munish + Shefali)</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Content &amp; social strategy live (Yash)</a:t>
            </a:r>
            <a:endParaRPr lang="en-US" sz="850" dirty="0"/>
          </a:p>
        </p:txBody>
      </p:sp>
      <p:sp>
        <p:nvSpPr>
          <p:cNvPr id="18" name="Shape 16"/>
          <p:cNvSpPr/>
          <p:nvPr/>
        </p:nvSpPr>
        <p:spPr>
          <a:xfrm>
            <a:off x="3721608" y="1316736"/>
            <a:ext cx="1664208" cy="3675888"/>
          </a:xfrm>
          <a:prstGeom prst="roundRect">
            <a:avLst>
              <a:gd name="adj" fmla="val 5495"/>
            </a:avLst>
          </a:prstGeom>
          <a:solidFill>
            <a:srgbClr val="FFFFFF"/>
          </a:solidFill>
          <a:ln w="12700">
            <a:solidFill>
              <a:srgbClr val="0D7377"/>
            </a:solidFill>
            <a:prstDash val="solid"/>
          </a:ln>
          <a:effectLst>
            <a:outerShdw blurRad="76200" dist="25400" dir="2700000" algn="bl" rotWithShape="0">
              <a:srgbClr val="000000">
                <a:alpha val="8000"/>
              </a:srgbClr>
            </a:outerShdw>
          </a:effectLst>
        </p:spPr>
        <p:txBody>
          <a:bodyPr/>
          <a:lstStyle/>
          <a:p>
            <a:endParaRPr lang="en-US"/>
          </a:p>
        </p:txBody>
      </p:sp>
      <p:sp>
        <p:nvSpPr>
          <p:cNvPr id="19" name="Shape 17"/>
          <p:cNvSpPr/>
          <p:nvPr/>
        </p:nvSpPr>
        <p:spPr>
          <a:xfrm>
            <a:off x="3721608" y="1316736"/>
            <a:ext cx="1664208" cy="457200"/>
          </a:xfrm>
          <a:prstGeom prst="roundRect">
            <a:avLst>
              <a:gd name="adj" fmla="val 20000"/>
            </a:avLst>
          </a:prstGeom>
          <a:solidFill>
            <a:srgbClr val="0D7377"/>
          </a:solidFill>
          <a:ln w="12700">
            <a:solidFill>
              <a:srgbClr val="0D7377"/>
            </a:solidFill>
            <a:prstDash val="solid"/>
          </a:ln>
        </p:spPr>
        <p:txBody>
          <a:bodyPr/>
          <a:lstStyle/>
          <a:p>
            <a:endParaRPr lang="en-US"/>
          </a:p>
        </p:txBody>
      </p:sp>
      <p:sp>
        <p:nvSpPr>
          <p:cNvPr id="20" name="Shape 18"/>
          <p:cNvSpPr/>
          <p:nvPr/>
        </p:nvSpPr>
        <p:spPr>
          <a:xfrm>
            <a:off x="3721608" y="1591056"/>
            <a:ext cx="1664208" cy="182880"/>
          </a:xfrm>
          <a:prstGeom prst="rect">
            <a:avLst/>
          </a:prstGeom>
          <a:solidFill>
            <a:srgbClr val="0D7377"/>
          </a:solidFill>
          <a:ln w="12700">
            <a:solidFill>
              <a:srgbClr val="0D7377"/>
            </a:solidFill>
            <a:prstDash val="solid"/>
          </a:ln>
        </p:spPr>
        <p:txBody>
          <a:bodyPr/>
          <a:lstStyle/>
          <a:p>
            <a:endParaRPr lang="en-US"/>
          </a:p>
        </p:txBody>
      </p:sp>
      <p:sp>
        <p:nvSpPr>
          <p:cNvPr id="21" name="Text 19"/>
          <p:cNvSpPr/>
          <p:nvPr/>
        </p:nvSpPr>
        <p:spPr>
          <a:xfrm>
            <a:off x="3813048" y="1371600"/>
            <a:ext cx="1481328"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M3–M4</a:t>
            </a:r>
            <a:endParaRPr lang="en-US" sz="1300" dirty="0"/>
          </a:p>
        </p:txBody>
      </p:sp>
      <p:sp>
        <p:nvSpPr>
          <p:cNvPr id="22" name="Text 20"/>
          <p:cNvSpPr/>
          <p:nvPr/>
        </p:nvSpPr>
        <p:spPr>
          <a:xfrm>
            <a:off x="3813048" y="1810512"/>
            <a:ext cx="1481328" cy="292608"/>
          </a:xfrm>
          <a:prstGeom prst="rect">
            <a:avLst/>
          </a:prstGeom>
          <a:noFill/>
          <a:ln/>
        </p:spPr>
        <p:txBody>
          <a:bodyPr wrap="square" lIns="0" tIns="0" rIns="0" bIns="0" rtlCol="0" anchor="ctr"/>
          <a:lstStyle/>
          <a:p>
            <a:pPr marL="0" indent="0">
              <a:buNone/>
            </a:pPr>
            <a:r>
              <a:rPr lang="en-US" sz="950" b="1" dirty="0">
                <a:solidFill>
                  <a:srgbClr val="0D7377"/>
                </a:solidFill>
                <a:latin typeface="Calibri" pitchFamily="34" charset="0"/>
                <a:ea typeface="Calibri" pitchFamily="34" charset="-122"/>
                <a:cs typeface="Calibri" pitchFamily="34" charset="-120"/>
              </a:rPr>
              <a:t>August</a:t>
            </a:r>
            <a:endParaRPr lang="en-US" sz="950" dirty="0"/>
          </a:p>
          <a:p>
            <a:pPr marL="0" indent="0">
              <a:buNone/>
            </a:pPr>
            <a:r>
              <a:rPr lang="en-US" sz="950" b="1" dirty="0">
                <a:solidFill>
                  <a:srgbClr val="0D7377"/>
                </a:solidFill>
                <a:latin typeface="Calibri" pitchFamily="34" charset="0"/>
                <a:ea typeface="Calibri" pitchFamily="34" charset="-122"/>
                <a:cs typeface="Calibri" pitchFamily="34" charset="-120"/>
              </a:rPr>
              <a:t>Production</a:t>
            </a:r>
            <a:endParaRPr lang="en-US" sz="950" dirty="0"/>
          </a:p>
        </p:txBody>
      </p:sp>
      <p:sp>
        <p:nvSpPr>
          <p:cNvPr id="23" name="Text 21"/>
          <p:cNvSpPr/>
          <p:nvPr/>
        </p:nvSpPr>
        <p:spPr>
          <a:xfrm>
            <a:off x="3813048" y="2139696"/>
            <a:ext cx="1481328" cy="2697480"/>
          </a:xfrm>
          <a:prstGeom prst="rect">
            <a:avLst/>
          </a:prstGeom>
          <a:noFill/>
          <a:ln/>
        </p:spPr>
        <p:txBody>
          <a:bodyPr wrap="square" lIns="0" tIns="0" rIns="0" bIns="0" rtlCol="0" anchor="ctr"/>
          <a:lstStyle/>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Weekly prompts every Monday (Shefali)</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Self-shot footage arriving (Hansh manages files)</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WhatsApp archive daily (Hansh)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Weekly content publishing (Yash — Munish approves)</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Story bible updated every Friday (Shefali)</a:t>
            </a:r>
            <a:endParaRPr lang="en-US" sz="850" dirty="0"/>
          </a:p>
        </p:txBody>
      </p:sp>
      <p:sp>
        <p:nvSpPr>
          <p:cNvPr id="24" name="Shape 22"/>
          <p:cNvSpPr/>
          <p:nvPr/>
        </p:nvSpPr>
        <p:spPr>
          <a:xfrm>
            <a:off x="5431536" y="1316736"/>
            <a:ext cx="1664208" cy="3675888"/>
          </a:xfrm>
          <a:prstGeom prst="roundRect">
            <a:avLst>
              <a:gd name="adj" fmla="val 5495"/>
            </a:avLst>
          </a:prstGeom>
          <a:solidFill>
            <a:srgbClr val="FFFFFF"/>
          </a:solidFill>
          <a:ln w="12700">
            <a:solidFill>
              <a:srgbClr val="C05621"/>
            </a:solidFill>
            <a:prstDash val="solid"/>
          </a:ln>
          <a:effectLst>
            <a:outerShdw blurRad="76200" dist="25400" dir="2700000" algn="bl" rotWithShape="0">
              <a:srgbClr val="000000">
                <a:alpha val="8000"/>
              </a:srgbClr>
            </a:outerShdw>
          </a:effectLst>
        </p:spPr>
        <p:txBody>
          <a:bodyPr/>
          <a:lstStyle/>
          <a:p>
            <a:endParaRPr lang="en-US"/>
          </a:p>
        </p:txBody>
      </p:sp>
      <p:sp>
        <p:nvSpPr>
          <p:cNvPr id="25" name="Shape 23"/>
          <p:cNvSpPr/>
          <p:nvPr/>
        </p:nvSpPr>
        <p:spPr>
          <a:xfrm>
            <a:off x="5431536" y="1316736"/>
            <a:ext cx="1664208" cy="457200"/>
          </a:xfrm>
          <a:prstGeom prst="roundRect">
            <a:avLst>
              <a:gd name="adj" fmla="val 20000"/>
            </a:avLst>
          </a:prstGeom>
          <a:solidFill>
            <a:srgbClr val="C05621"/>
          </a:solidFill>
          <a:ln w="12700">
            <a:solidFill>
              <a:srgbClr val="C05621"/>
            </a:solidFill>
            <a:prstDash val="solid"/>
          </a:ln>
        </p:spPr>
        <p:txBody>
          <a:bodyPr/>
          <a:lstStyle/>
          <a:p>
            <a:endParaRPr lang="en-US"/>
          </a:p>
        </p:txBody>
      </p:sp>
      <p:sp>
        <p:nvSpPr>
          <p:cNvPr id="26" name="Shape 24"/>
          <p:cNvSpPr/>
          <p:nvPr/>
        </p:nvSpPr>
        <p:spPr>
          <a:xfrm>
            <a:off x="5431536" y="1591056"/>
            <a:ext cx="1664208" cy="182880"/>
          </a:xfrm>
          <a:prstGeom prst="rect">
            <a:avLst/>
          </a:prstGeom>
          <a:solidFill>
            <a:srgbClr val="C05621"/>
          </a:solidFill>
          <a:ln w="12700">
            <a:solidFill>
              <a:srgbClr val="C05621"/>
            </a:solidFill>
            <a:prstDash val="solid"/>
          </a:ln>
        </p:spPr>
        <p:txBody>
          <a:bodyPr/>
          <a:lstStyle/>
          <a:p>
            <a:endParaRPr lang="en-US"/>
          </a:p>
        </p:txBody>
      </p:sp>
      <p:sp>
        <p:nvSpPr>
          <p:cNvPr id="27" name="Text 25"/>
          <p:cNvSpPr/>
          <p:nvPr/>
        </p:nvSpPr>
        <p:spPr>
          <a:xfrm>
            <a:off x="5522976" y="1371600"/>
            <a:ext cx="1481328"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M5</a:t>
            </a:r>
            <a:endParaRPr lang="en-US" sz="1300" dirty="0"/>
          </a:p>
        </p:txBody>
      </p:sp>
      <p:sp>
        <p:nvSpPr>
          <p:cNvPr id="28" name="Text 26"/>
          <p:cNvSpPr/>
          <p:nvPr/>
        </p:nvSpPr>
        <p:spPr>
          <a:xfrm>
            <a:off x="5522976" y="1810512"/>
            <a:ext cx="1481328" cy="292608"/>
          </a:xfrm>
          <a:prstGeom prst="rect">
            <a:avLst/>
          </a:prstGeom>
          <a:noFill/>
          <a:ln/>
        </p:spPr>
        <p:txBody>
          <a:bodyPr wrap="square" lIns="0" tIns="0" rIns="0" bIns="0" rtlCol="0" anchor="ctr"/>
          <a:lstStyle/>
          <a:p>
            <a:pPr marL="0" indent="0">
              <a:buNone/>
            </a:pPr>
            <a:r>
              <a:rPr lang="en-US" sz="950" b="1" dirty="0">
                <a:solidFill>
                  <a:srgbClr val="C05621"/>
                </a:solidFill>
                <a:latin typeface="Calibri" pitchFamily="34" charset="0"/>
                <a:ea typeface="Calibri" pitchFamily="34" charset="-122"/>
                <a:cs typeface="Calibri" pitchFamily="34" charset="-120"/>
              </a:rPr>
              <a:t>Aug–Sep</a:t>
            </a:r>
            <a:endParaRPr lang="en-US" sz="950" dirty="0"/>
          </a:p>
          <a:p>
            <a:pPr marL="0" indent="0">
              <a:buNone/>
            </a:pPr>
            <a:r>
              <a:rPr lang="en-US" sz="950" b="1" dirty="0">
                <a:solidFill>
                  <a:srgbClr val="C05621"/>
                </a:solidFill>
                <a:latin typeface="Calibri" pitchFamily="34" charset="0"/>
                <a:ea typeface="Calibri" pitchFamily="34" charset="-122"/>
                <a:cs typeface="Calibri" pitchFamily="34" charset="-120"/>
              </a:rPr>
              <a:t>Post-Production</a:t>
            </a:r>
            <a:endParaRPr lang="en-US" sz="950" dirty="0"/>
          </a:p>
        </p:txBody>
      </p:sp>
      <p:sp>
        <p:nvSpPr>
          <p:cNvPr id="29" name="Text 27"/>
          <p:cNvSpPr/>
          <p:nvPr/>
        </p:nvSpPr>
        <p:spPr>
          <a:xfrm>
            <a:off x="5522976" y="2139696"/>
            <a:ext cx="1481328" cy="2697480"/>
          </a:xfrm>
          <a:prstGeom prst="rect">
            <a:avLst/>
          </a:prstGeom>
          <a:noFill/>
          <a:ln/>
        </p:spPr>
        <p:txBody>
          <a:bodyPr wrap="square" lIns="0" tIns="0" rIns="0" bIns="0" rtlCol="0" anchor="ctr"/>
          <a:lstStyle/>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Paper edit → rough cut → fine cut (Om + Hansh)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Narrator script + recording if needed (Shefali)</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Cut review feedback forms (Eddie + Munish)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Colour grade, sound mix (Hansh)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Music clearance (Munish)</a:t>
            </a:r>
            <a:endParaRPr lang="en-US" sz="850" dirty="0"/>
          </a:p>
        </p:txBody>
      </p:sp>
      <p:sp>
        <p:nvSpPr>
          <p:cNvPr id="30" name="Shape 28"/>
          <p:cNvSpPr/>
          <p:nvPr/>
        </p:nvSpPr>
        <p:spPr>
          <a:xfrm>
            <a:off x="7141464" y="1316736"/>
            <a:ext cx="1664208" cy="3675888"/>
          </a:xfrm>
          <a:prstGeom prst="roundRect">
            <a:avLst>
              <a:gd name="adj" fmla="val 5495"/>
            </a:avLst>
          </a:prstGeom>
          <a:solidFill>
            <a:srgbClr val="FFFFFF"/>
          </a:solidFill>
          <a:ln w="12700">
            <a:solidFill>
              <a:srgbClr val="1A6B3C"/>
            </a:solidFill>
            <a:prstDash val="solid"/>
          </a:ln>
          <a:effectLst>
            <a:outerShdw blurRad="76200" dist="25400" dir="2700000" algn="bl" rotWithShape="0">
              <a:srgbClr val="000000">
                <a:alpha val="8000"/>
              </a:srgbClr>
            </a:outerShdw>
          </a:effectLst>
        </p:spPr>
        <p:txBody>
          <a:bodyPr/>
          <a:lstStyle/>
          <a:p>
            <a:endParaRPr lang="en-US"/>
          </a:p>
        </p:txBody>
      </p:sp>
      <p:sp>
        <p:nvSpPr>
          <p:cNvPr id="31" name="Shape 29"/>
          <p:cNvSpPr/>
          <p:nvPr/>
        </p:nvSpPr>
        <p:spPr>
          <a:xfrm>
            <a:off x="7141464" y="1316736"/>
            <a:ext cx="1664208" cy="457200"/>
          </a:xfrm>
          <a:prstGeom prst="roundRect">
            <a:avLst>
              <a:gd name="adj" fmla="val 20000"/>
            </a:avLst>
          </a:prstGeom>
          <a:solidFill>
            <a:srgbClr val="1A6B3C"/>
          </a:solidFill>
          <a:ln w="12700">
            <a:solidFill>
              <a:srgbClr val="1A6B3C"/>
            </a:solidFill>
            <a:prstDash val="solid"/>
          </a:ln>
        </p:spPr>
        <p:txBody>
          <a:bodyPr/>
          <a:lstStyle/>
          <a:p>
            <a:endParaRPr lang="en-US"/>
          </a:p>
        </p:txBody>
      </p:sp>
      <p:sp>
        <p:nvSpPr>
          <p:cNvPr id="32" name="Shape 30"/>
          <p:cNvSpPr/>
          <p:nvPr/>
        </p:nvSpPr>
        <p:spPr>
          <a:xfrm>
            <a:off x="7141464" y="1591056"/>
            <a:ext cx="1664208" cy="182880"/>
          </a:xfrm>
          <a:prstGeom prst="rect">
            <a:avLst/>
          </a:prstGeom>
          <a:solidFill>
            <a:srgbClr val="1A6B3C"/>
          </a:solidFill>
          <a:ln w="12700">
            <a:solidFill>
              <a:srgbClr val="1A6B3C"/>
            </a:solidFill>
            <a:prstDash val="solid"/>
          </a:ln>
        </p:spPr>
        <p:txBody>
          <a:bodyPr/>
          <a:lstStyle/>
          <a:p>
            <a:endParaRPr lang="en-US"/>
          </a:p>
        </p:txBody>
      </p:sp>
      <p:sp>
        <p:nvSpPr>
          <p:cNvPr id="33" name="Text 31"/>
          <p:cNvSpPr/>
          <p:nvPr/>
        </p:nvSpPr>
        <p:spPr>
          <a:xfrm>
            <a:off x="7232904" y="1371600"/>
            <a:ext cx="1481328" cy="347472"/>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M6 +</a:t>
            </a:r>
            <a:endParaRPr lang="en-US" sz="1300" dirty="0"/>
          </a:p>
          <a:p>
            <a:pPr marL="0" indent="0">
              <a:buNone/>
            </a:pPr>
            <a:r>
              <a:rPr lang="en-US" sz="1300" b="1" dirty="0">
                <a:solidFill>
                  <a:srgbClr val="FFFFFF"/>
                </a:solidFill>
                <a:latin typeface="Cambria" pitchFamily="34" charset="0"/>
                <a:ea typeface="Cambria" pitchFamily="34" charset="-122"/>
                <a:cs typeface="Cambria" pitchFamily="34" charset="-120"/>
              </a:rPr>
              <a:t>Event</a:t>
            </a:r>
            <a:endParaRPr lang="en-US" sz="1300" dirty="0"/>
          </a:p>
        </p:txBody>
      </p:sp>
      <p:sp>
        <p:nvSpPr>
          <p:cNvPr id="34" name="Text 32"/>
          <p:cNvSpPr/>
          <p:nvPr/>
        </p:nvSpPr>
        <p:spPr>
          <a:xfrm>
            <a:off x="7232904" y="1810512"/>
            <a:ext cx="1481328" cy="292608"/>
          </a:xfrm>
          <a:prstGeom prst="rect">
            <a:avLst/>
          </a:prstGeom>
          <a:noFill/>
          <a:ln/>
        </p:spPr>
        <p:txBody>
          <a:bodyPr wrap="square" lIns="0" tIns="0" rIns="0" bIns="0" rtlCol="0" anchor="ctr"/>
          <a:lstStyle/>
          <a:p>
            <a:pPr marL="0" indent="0">
              <a:buNone/>
            </a:pPr>
            <a:r>
              <a:rPr lang="en-US" sz="950" b="1" dirty="0">
                <a:solidFill>
                  <a:srgbClr val="1A6B3C"/>
                </a:solidFill>
                <a:latin typeface="Calibri" pitchFamily="34" charset="0"/>
                <a:ea typeface="Calibri" pitchFamily="34" charset="-122"/>
                <a:cs typeface="Calibri" pitchFamily="34" charset="-120"/>
              </a:rPr>
              <a:t>September</a:t>
            </a:r>
            <a:endParaRPr lang="en-US" sz="950" dirty="0"/>
          </a:p>
          <a:p>
            <a:pPr marL="0" indent="0">
              <a:buNone/>
            </a:pPr>
            <a:r>
              <a:rPr lang="en-US" sz="950" b="1" dirty="0">
                <a:solidFill>
                  <a:srgbClr val="1A6B3C"/>
                </a:solidFill>
                <a:latin typeface="Calibri" pitchFamily="34" charset="0"/>
                <a:ea typeface="Calibri" pitchFamily="34" charset="-122"/>
                <a:cs typeface="Calibri" pitchFamily="34" charset="-120"/>
              </a:rPr>
              <a:t>Delivery + Celebration</a:t>
            </a:r>
            <a:endParaRPr lang="en-US" sz="950" dirty="0"/>
          </a:p>
        </p:txBody>
      </p:sp>
      <p:sp>
        <p:nvSpPr>
          <p:cNvPr id="35" name="Text 33"/>
          <p:cNvSpPr/>
          <p:nvPr/>
        </p:nvSpPr>
        <p:spPr>
          <a:xfrm>
            <a:off x="7232904" y="2139696"/>
            <a:ext cx="1481328" cy="2697480"/>
          </a:xfrm>
          <a:prstGeom prst="rect">
            <a:avLst/>
          </a:prstGeom>
          <a:noFill/>
          <a:ln/>
        </p:spPr>
        <p:txBody>
          <a:bodyPr wrap="square" lIns="0" tIns="0" rIns="0" bIns="0" rtlCol="0" anchor="ctr"/>
          <a:lstStyle/>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QC + legal clearances (Shefali + Hansh)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Netflix submission (Munish + Hansh)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Marketing assets + release activation (Yash)</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 Celebration event — mid-September</a:t>
            </a:r>
            <a:endParaRPr lang="en-US" sz="850" dirty="0"/>
          </a:p>
          <a:p>
            <a:pPr marL="342900" indent="-342900">
              <a:spcAft>
                <a:spcPts val="400"/>
              </a:spcAft>
              <a:buSzPct val="100000"/>
              <a:buChar char="•"/>
            </a:pPr>
            <a:r>
              <a:rPr lang="en-US" sz="850" dirty="0">
                <a:solidFill>
                  <a:srgbClr val="111111"/>
                </a:solidFill>
                <a:latin typeface="Calibri" pitchFamily="34" charset="0"/>
                <a:ea typeface="Calibri" pitchFamily="34" charset="-122"/>
                <a:cs typeface="Calibri" pitchFamily="34" charset="-120"/>
              </a:rPr>
              <a:t>Munish + Shefali sign off</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WORKSTREAM DEPENDENCIES  —  JUNE – SEPTEMBER 2025</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Workstream Dependencies</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Real months shown. Compressed to fit September celebration event. Outlined bars = active. Colour = lead person.</a:t>
            </a:r>
            <a:endParaRPr lang="en-US" sz="1100" dirty="0"/>
          </a:p>
        </p:txBody>
      </p:sp>
      <p:sp>
        <p:nvSpPr>
          <p:cNvPr id="6" name="Shape 4"/>
          <p:cNvSpPr/>
          <p:nvPr/>
        </p:nvSpPr>
        <p:spPr>
          <a:xfrm>
            <a:off x="320040" y="1280160"/>
            <a:ext cx="1261872" cy="402336"/>
          </a:xfrm>
          <a:prstGeom prst="rect">
            <a:avLst/>
          </a:prstGeom>
          <a:solidFill>
            <a:srgbClr val="1A2B4A"/>
          </a:solidFill>
          <a:ln w="12700">
            <a:solidFill>
              <a:srgbClr val="1A2B4A"/>
            </a:solidFill>
            <a:prstDash val="solid"/>
          </a:ln>
        </p:spPr>
        <p:txBody>
          <a:bodyPr/>
          <a:lstStyle/>
          <a:p>
            <a:endParaRPr lang="en-US"/>
          </a:p>
        </p:txBody>
      </p:sp>
      <p:sp>
        <p:nvSpPr>
          <p:cNvPr id="7" name="Text 5"/>
          <p:cNvSpPr/>
          <p:nvPr/>
        </p:nvSpPr>
        <p:spPr>
          <a:xfrm>
            <a:off x="356616" y="1371600"/>
            <a:ext cx="1207008"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WORKSTREAM</a:t>
            </a:r>
            <a:endParaRPr lang="en-US" sz="750" dirty="0"/>
          </a:p>
        </p:txBody>
      </p:sp>
      <p:sp>
        <p:nvSpPr>
          <p:cNvPr id="8" name="Shape 6"/>
          <p:cNvSpPr/>
          <p:nvPr/>
        </p:nvSpPr>
        <p:spPr>
          <a:xfrm>
            <a:off x="1581912" y="1280160"/>
            <a:ext cx="1298448" cy="402336"/>
          </a:xfrm>
          <a:prstGeom prst="rect">
            <a:avLst/>
          </a:prstGeom>
          <a:solidFill>
            <a:srgbClr val="1A2B4A"/>
          </a:solidFill>
          <a:ln w="12700">
            <a:solidFill>
              <a:srgbClr val="FFFFFF"/>
            </a:solidFill>
            <a:prstDash val="solid"/>
          </a:ln>
        </p:spPr>
        <p:txBody>
          <a:bodyPr/>
          <a:lstStyle/>
          <a:p>
            <a:endParaRPr lang="en-US"/>
          </a:p>
        </p:txBody>
      </p:sp>
      <p:sp>
        <p:nvSpPr>
          <p:cNvPr id="9" name="Text 7"/>
          <p:cNvSpPr/>
          <p:nvPr/>
        </p:nvSpPr>
        <p:spPr>
          <a:xfrm>
            <a:off x="1618488" y="1316736"/>
            <a:ext cx="124358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June</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M1</a:t>
            </a:r>
            <a:endParaRPr lang="en-US" sz="800" dirty="0"/>
          </a:p>
        </p:txBody>
      </p:sp>
      <p:sp>
        <p:nvSpPr>
          <p:cNvPr id="10" name="Shape 8"/>
          <p:cNvSpPr/>
          <p:nvPr/>
        </p:nvSpPr>
        <p:spPr>
          <a:xfrm>
            <a:off x="2880360" y="1280160"/>
            <a:ext cx="1298448" cy="402336"/>
          </a:xfrm>
          <a:prstGeom prst="rect">
            <a:avLst/>
          </a:prstGeom>
          <a:solidFill>
            <a:srgbClr val="1A2B4A"/>
          </a:solidFill>
          <a:ln w="12700">
            <a:solidFill>
              <a:srgbClr val="FFFFFF"/>
            </a:solidFill>
            <a:prstDash val="solid"/>
          </a:ln>
        </p:spPr>
        <p:txBody>
          <a:bodyPr/>
          <a:lstStyle/>
          <a:p>
            <a:endParaRPr lang="en-US"/>
          </a:p>
        </p:txBody>
      </p:sp>
      <p:sp>
        <p:nvSpPr>
          <p:cNvPr id="11" name="Text 9"/>
          <p:cNvSpPr/>
          <p:nvPr/>
        </p:nvSpPr>
        <p:spPr>
          <a:xfrm>
            <a:off x="2916936" y="1316736"/>
            <a:ext cx="124358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July</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M2</a:t>
            </a:r>
            <a:endParaRPr lang="en-US" sz="800" dirty="0"/>
          </a:p>
        </p:txBody>
      </p:sp>
      <p:sp>
        <p:nvSpPr>
          <p:cNvPr id="12" name="Shape 10"/>
          <p:cNvSpPr/>
          <p:nvPr/>
        </p:nvSpPr>
        <p:spPr>
          <a:xfrm>
            <a:off x="4178808" y="1280160"/>
            <a:ext cx="1572768" cy="402336"/>
          </a:xfrm>
          <a:prstGeom prst="rect">
            <a:avLst/>
          </a:prstGeom>
          <a:solidFill>
            <a:srgbClr val="1A2B4A"/>
          </a:solidFill>
          <a:ln w="12700">
            <a:solidFill>
              <a:srgbClr val="FFFFFF"/>
            </a:solidFill>
            <a:prstDash val="solid"/>
          </a:ln>
        </p:spPr>
        <p:txBody>
          <a:bodyPr/>
          <a:lstStyle/>
          <a:p>
            <a:endParaRPr lang="en-US"/>
          </a:p>
        </p:txBody>
      </p:sp>
      <p:sp>
        <p:nvSpPr>
          <p:cNvPr id="13" name="Text 11"/>
          <p:cNvSpPr/>
          <p:nvPr/>
        </p:nvSpPr>
        <p:spPr>
          <a:xfrm>
            <a:off x="4215384" y="1316736"/>
            <a:ext cx="1517904"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August</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M3–M4</a:t>
            </a:r>
            <a:endParaRPr lang="en-US" sz="800" dirty="0"/>
          </a:p>
        </p:txBody>
      </p:sp>
      <p:sp>
        <p:nvSpPr>
          <p:cNvPr id="14" name="Shape 12"/>
          <p:cNvSpPr/>
          <p:nvPr/>
        </p:nvSpPr>
        <p:spPr>
          <a:xfrm>
            <a:off x="5751576" y="1280160"/>
            <a:ext cx="1261872" cy="402336"/>
          </a:xfrm>
          <a:prstGeom prst="rect">
            <a:avLst/>
          </a:prstGeom>
          <a:solidFill>
            <a:srgbClr val="1A2B4A"/>
          </a:solidFill>
          <a:ln w="12700">
            <a:solidFill>
              <a:srgbClr val="FFFFFF"/>
            </a:solidFill>
            <a:prstDash val="solid"/>
          </a:ln>
        </p:spPr>
        <p:txBody>
          <a:bodyPr/>
          <a:lstStyle/>
          <a:p>
            <a:endParaRPr lang="en-US"/>
          </a:p>
        </p:txBody>
      </p:sp>
      <p:sp>
        <p:nvSpPr>
          <p:cNvPr id="15" name="Text 13"/>
          <p:cNvSpPr/>
          <p:nvPr/>
        </p:nvSpPr>
        <p:spPr>
          <a:xfrm>
            <a:off x="5788152" y="1316736"/>
            <a:ext cx="1207008"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Aug–Sep</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M5 Post</a:t>
            </a:r>
            <a:endParaRPr lang="en-US" sz="800" dirty="0"/>
          </a:p>
        </p:txBody>
      </p:sp>
      <p:sp>
        <p:nvSpPr>
          <p:cNvPr id="16" name="Shape 14"/>
          <p:cNvSpPr/>
          <p:nvPr/>
        </p:nvSpPr>
        <p:spPr>
          <a:xfrm>
            <a:off x="7013448" y="1280160"/>
            <a:ext cx="987552" cy="402336"/>
          </a:xfrm>
          <a:prstGeom prst="rect">
            <a:avLst/>
          </a:prstGeom>
          <a:solidFill>
            <a:srgbClr val="1A2B4A"/>
          </a:solidFill>
          <a:ln w="12700">
            <a:solidFill>
              <a:srgbClr val="FFFFFF"/>
            </a:solidFill>
            <a:prstDash val="solid"/>
          </a:ln>
        </p:spPr>
        <p:txBody>
          <a:bodyPr/>
          <a:lstStyle/>
          <a:p>
            <a:endParaRPr lang="en-US"/>
          </a:p>
        </p:txBody>
      </p:sp>
      <p:sp>
        <p:nvSpPr>
          <p:cNvPr id="17" name="Text 15"/>
          <p:cNvSpPr/>
          <p:nvPr/>
        </p:nvSpPr>
        <p:spPr>
          <a:xfrm>
            <a:off x="7050024" y="1316736"/>
            <a:ext cx="932688"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Sep</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Delivery</a:t>
            </a:r>
            <a:endParaRPr lang="en-US" sz="800" dirty="0"/>
          </a:p>
        </p:txBody>
      </p:sp>
      <p:sp>
        <p:nvSpPr>
          <p:cNvPr id="18" name="Shape 16"/>
          <p:cNvSpPr/>
          <p:nvPr/>
        </p:nvSpPr>
        <p:spPr>
          <a:xfrm>
            <a:off x="8001000" y="1280160"/>
            <a:ext cx="896112" cy="402336"/>
          </a:xfrm>
          <a:prstGeom prst="rect">
            <a:avLst/>
          </a:prstGeom>
          <a:solidFill>
            <a:srgbClr val="1A6B3C"/>
          </a:solidFill>
          <a:ln w="12700">
            <a:solidFill>
              <a:srgbClr val="FFFFFF"/>
            </a:solidFill>
            <a:prstDash val="solid"/>
          </a:ln>
        </p:spPr>
        <p:txBody>
          <a:bodyPr/>
          <a:lstStyle/>
          <a:p>
            <a:endParaRPr lang="en-US"/>
          </a:p>
        </p:txBody>
      </p:sp>
      <p:sp>
        <p:nvSpPr>
          <p:cNvPr id="19" name="Text 17"/>
          <p:cNvSpPr/>
          <p:nvPr/>
        </p:nvSpPr>
        <p:spPr>
          <a:xfrm>
            <a:off x="8037576" y="1316736"/>
            <a:ext cx="841248"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Mid-Sep</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 Event</a:t>
            </a:r>
            <a:endParaRPr lang="en-US" sz="800" dirty="0"/>
          </a:p>
        </p:txBody>
      </p:sp>
      <p:sp>
        <p:nvSpPr>
          <p:cNvPr id="20" name="Shape 18"/>
          <p:cNvSpPr/>
          <p:nvPr/>
        </p:nvSpPr>
        <p:spPr>
          <a:xfrm>
            <a:off x="320040" y="1682496"/>
            <a:ext cx="8577072" cy="457200"/>
          </a:xfrm>
          <a:prstGeom prst="rect">
            <a:avLst/>
          </a:prstGeom>
          <a:solidFill>
            <a:srgbClr val="FFFFFF"/>
          </a:solidFill>
          <a:ln w="12700">
            <a:solidFill>
              <a:srgbClr val="D1D5DB"/>
            </a:solidFill>
            <a:prstDash val="solid"/>
          </a:ln>
        </p:spPr>
        <p:txBody>
          <a:bodyPr/>
          <a:lstStyle/>
          <a:p>
            <a:endParaRPr lang="en-US"/>
          </a:p>
        </p:txBody>
      </p:sp>
      <p:sp>
        <p:nvSpPr>
          <p:cNvPr id="21" name="Shape 19"/>
          <p:cNvSpPr/>
          <p:nvPr/>
        </p:nvSpPr>
        <p:spPr>
          <a:xfrm>
            <a:off x="393192" y="1847088"/>
            <a:ext cx="118872" cy="118872"/>
          </a:xfrm>
          <a:prstGeom prst="ellipse">
            <a:avLst/>
          </a:prstGeom>
          <a:solidFill>
            <a:srgbClr val="1A2B4A"/>
          </a:solidFill>
          <a:ln w="12700">
            <a:solidFill>
              <a:srgbClr val="1A2B4A"/>
            </a:solidFill>
            <a:prstDash val="solid"/>
          </a:ln>
        </p:spPr>
        <p:txBody>
          <a:bodyPr/>
          <a:lstStyle/>
          <a:p>
            <a:endParaRPr lang="en-US"/>
          </a:p>
        </p:txBody>
      </p:sp>
      <p:sp>
        <p:nvSpPr>
          <p:cNvPr id="22" name="Text 20"/>
          <p:cNvSpPr/>
          <p:nvPr/>
        </p:nvSpPr>
        <p:spPr>
          <a:xfrm>
            <a:off x="557784" y="1737360"/>
            <a:ext cx="987552" cy="365760"/>
          </a:xfrm>
          <a:prstGeom prst="rect">
            <a:avLst/>
          </a:prstGeom>
          <a:noFill/>
          <a:ln/>
        </p:spPr>
        <p:txBody>
          <a:bodyPr wrap="square" lIns="0" tIns="0" rIns="0" bIns="0" rtlCol="0" anchor="ctr"/>
          <a:lstStyle/>
          <a:p>
            <a:pPr marL="0" indent="0">
              <a:buNone/>
            </a:pPr>
            <a:r>
              <a:rPr lang="en-US" sz="850" b="1" dirty="0">
                <a:solidFill>
                  <a:srgbClr val="1A2B4A"/>
                </a:solidFill>
                <a:latin typeface="Calibri" pitchFamily="34" charset="0"/>
                <a:ea typeface="Calibri" pitchFamily="34" charset="-122"/>
                <a:cs typeface="Calibri" pitchFamily="34" charset="-120"/>
              </a:rPr>
              <a:t>Story &amp;</a:t>
            </a:r>
            <a:endParaRPr lang="en-US" sz="850" dirty="0"/>
          </a:p>
          <a:p>
            <a:pPr marL="0" indent="0">
              <a:buNone/>
            </a:pPr>
            <a:r>
              <a:rPr lang="en-US" sz="850" b="1" dirty="0">
                <a:solidFill>
                  <a:srgbClr val="1A2B4A"/>
                </a:solidFill>
                <a:latin typeface="Calibri" pitchFamily="34" charset="0"/>
                <a:ea typeface="Calibri" pitchFamily="34" charset="-122"/>
                <a:cs typeface="Calibri" pitchFamily="34" charset="-120"/>
              </a:rPr>
              <a:t>Creative</a:t>
            </a:r>
            <a:endParaRPr lang="en-US" sz="850" dirty="0"/>
          </a:p>
        </p:txBody>
      </p:sp>
      <p:sp>
        <p:nvSpPr>
          <p:cNvPr id="23" name="Shape 21"/>
          <p:cNvSpPr/>
          <p:nvPr/>
        </p:nvSpPr>
        <p:spPr>
          <a:xfrm>
            <a:off x="1627632" y="1769364"/>
            <a:ext cx="1207008" cy="283464"/>
          </a:xfrm>
          <a:prstGeom prst="roundRect">
            <a:avLst>
              <a:gd name="adj" fmla="val 16129"/>
            </a:avLst>
          </a:prstGeom>
          <a:solidFill>
            <a:srgbClr val="FFFFFF"/>
          </a:solidFill>
          <a:ln w="12700">
            <a:solidFill>
              <a:srgbClr val="1A2B4A"/>
            </a:solidFill>
            <a:prstDash val="solid"/>
          </a:ln>
        </p:spPr>
        <p:txBody>
          <a:bodyPr/>
          <a:lstStyle/>
          <a:p>
            <a:endParaRPr lang="en-US"/>
          </a:p>
        </p:txBody>
      </p:sp>
      <p:sp>
        <p:nvSpPr>
          <p:cNvPr id="24" name="Text 22"/>
          <p:cNvSpPr/>
          <p:nvPr/>
        </p:nvSpPr>
        <p:spPr>
          <a:xfrm>
            <a:off x="1655064" y="1787652"/>
            <a:ext cx="1152144" cy="246888"/>
          </a:xfrm>
          <a:prstGeom prst="rect">
            <a:avLst/>
          </a:prstGeom>
          <a:noFill/>
          <a:ln/>
        </p:spPr>
        <p:txBody>
          <a:bodyPr wrap="square" lIns="0" tIns="0" rIns="0" bIns="0" rtlCol="0" anchor="ctr"/>
          <a:lstStyle/>
          <a:p>
            <a:pPr marL="0" indent="0" algn="ctr">
              <a:buNone/>
            </a:pPr>
            <a:r>
              <a:rPr lang="en-US" sz="700" b="1" dirty="0">
                <a:solidFill>
                  <a:srgbClr val="1A2B4A"/>
                </a:solidFill>
                <a:latin typeface="Calibri" pitchFamily="34" charset="0"/>
                <a:ea typeface="Calibri" pitchFamily="34" charset="-122"/>
                <a:cs typeface="Calibri" pitchFamily="34" charset="-120"/>
              </a:rPr>
              <a:t>Concept</a:t>
            </a:r>
            <a:endParaRPr lang="en-US" sz="700" dirty="0"/>
          </a:p>
          <a:p>
            <a:pPr marL="0" indent="0" algn="ctr">
              <a:buNone/>
            </a:pPr>
            <a:r>
              <a:rPr lang="en-US" sz="700" b="1" dirty="0">
                <a:solidFill>
                  <a:srgbClr val="1A2B4A"/>
                </a:solidFill>
                <a:latin typeface="Calibri" pitchFamily="34" charset="0"/>
                <a:ea typeface="Calibri" pitchFamily="34" charset="-122"/>
                <a:cs typeface="Calibri" pitchFamily="34" charset="-120"/>
              </a:rPr>
              <a:t>+ pitch</a:t>
            </a:r>
            <a:endParaRPr lang="en-US" sz="700" dirty="0"/>
          </a:p>
        </p:txBody>
      </p:sp>
      <p:sp>
        <p:nvSpPr>
          <p:cNvPr id="25" name="Shape 23"/>
          <p:cNvSpPr/>
          <p:nvPr/>
        </p:nvSpPr>
        <p:spPr>
          <a:xfrm>
            <a:off x="2926080" y="1769364"/>
            <a:ext cx="1207008" cy="283464"/>
          </a:xfrm>
          <a:prstGeom prst="roundRect">
            <a:avLst>
              <a:gd name="adj" fmla="val 16129"/>
            </a:avLst>
          </a:prstGeom>
          <a:solidFill>
            <a:srgbClr val="FFFFFF"/>
          </a:solidFill>
          <a:ln w="12700">
            <a:solidFill>
              <a:srgbClr val="1A2B4A"/>
            </a:solidFill>
            <a:prstDash val="solid"/>
          </a:ln>
        </p:spPr>
        <p:txBody>
          <a:bodyPr/>
          <a:lstStyle/>
          <a:p>
            <a:endParaRPr lang="en-US"/>
          </a:p>
        </p:txBody>
      </p:sp>
      <p:sp>
        <p:nvSpPr>
          <p:cNvPr id="26" name="Text 24"/>
          <p:cNvSpPr/>
          <p:nvPr/>
        </p:nvSpPr>
        <p:spPr>
          <a:xfrm>
            <a:off x="2953512" y="1787652"/>
            <a:ext cx="1152144" cy="246888"/>
          </a:xfrm>
          <a:prstGeom prst="rect">
            <a:avLst/>
          </a:prstGeom>
          <a:noFill/>
          <a:ln/>
        </p:spPr>
        <p:txBody>
          <a:bodyPr wrap="square" lIns="0" tIns="0" rIns="0" bIns="0" rtlCol="0" anchor="ctr"/>
          <a:lstStyle/>
          <a:p>
            <a:pPr marL="0" indent="0" algn="ctr">
              <a:buNone/>
            </a:pPr>
            <a:r>
              <a:rPr lang="en-US" sz="700" b="1" dirty="0">
                <a:solidFill>
                  <a:srgbClr val="1A2B4A"/>
                </a:solidFill>
                <a:latin typeface="Calibri" pitchFamily="34" charset="0"/>
                <a:ea typeface="Calibri" pitchFamily="34" charset="-122"/>
                <a:cs typeface="Calibri" pitchFamily="34" charset="-120"/>
              </a:rPr>
              <a:t>Protagonist</a:t>
            </a:r>
            <a:endParaRPr lang="en-US" sz="700" dirty="0"/>
          </a:p>
          <a:p>
            <a:pPr marL="0" indent="0" algn="ctr">
              <a:buNone/>
            </a:pPr>
            <a:r>
              <a:rPr lang="en-US" sz="700" b="1" dirty="0">
                <a:solidFill>
                  <a:srgbClr val="1A2B4A"/>
                </a:solidFill>
                <a:latin typeface="Calibri" pitchFamily="34" charset="0"/>
                <a:ea typeface="Calibri" pitchFamily="34" charset="-122"/>
                <a:cs typeface="Calibri" pitchFamily="34" charset="-120"/>
              </a:rPr>
              <a:t>selection</a:t>
            </a:r>
            <a:endParaRPr lang="en-US" sz="700" dirty="0"/>
          </a:p>
        </p:txBody>
      </p:sp>
      <p:sp>
        <p:nvSpPr>
          <p:cNvPr id="27" name="Shape 25"/>
          <p:cNvSpPr/>
          <p:nvPr/>
        </p:nvSpPr>
        <p:spPr>
          <a:xfrm>
            <a:off x="4224528" y="1769364"/>
            <a:ext cx="1481328" cy="283464"/>
          </a:xfrm>
          <a:prstGeom prst="roundRect">
            <a:avLst>
              <a:gd name="adj" fmla="val 16129"/>
            </a:avLst>
          </a:prstGeom>
          <a:solidFill>
            <a:srgbClr val="FFFFFF"/>
          </a:solidFill>
          <a:ln w="12700">
            <a:solidFill>
              <a:srgbClr val="1A2B4A"/>
            </a:solidFill>
            <a:prstDash val="solid"/>
          </a:ln>
        </p:spPr>
        <p:txBody>
          <a:bodyPr/>
          <a:lstStyle/>
          <a:p>
            <a:endParaRPr lang="en-US"/>
          </a:p>
        </p:txBody>
      </p:sp>
      <p:sp>
        <p:nvSpPr>
          <p:cNvPr id="28" name="Text 26"/>
          <p:cNvSpPr/>
          <p:nvPr/>
        </p:nvSpPr>
        <p:spPr>
          <a:xfrm>
            <a:off x="4251960" y="1787652"/>
            <a:ext cx="1426464" cy="246888"/>
          </a:xfrm>
          <a:prstGeom prst="rect">
            <a:avLst/>
          </a:prstGeom>
          <a:noFill/>
          <a:ln/>
        </p:spPr>
        <p:txBody>
          <a:bodyPr wrap="square" lIns="0" tIns="0" rIns="0" bIns="0" rtlCol="0" anchor="ctr"/>
          <a:lstStyle/>
          <a:p>
            <a:pPr marL="0" indent="0" algn="ctr">
              <a:buNone/>
            </a:pPr>
            <a:r>
              <a:rPr lang="en-US" sz="700" b="1" dirty="0">
                <a:solidFill>
                  <a:srgbClr val="1A2B4A"/>
                </a:solidFill>
                <a:latin typeface="Calibri" pitchFamily="34" charset="0"/>
                <a:ea typeface="Calibri" pitchFamily="34" charset="-122"/>
                <a:cs typeface="Calibri" pitchFamily="34" charset="-120"/>
              </a:rPr>
              <a:t>Story bible</a:t>
            </a:r>
            <a:endParaRPr lang="en-US" sz="700" dirty="0"/>
          </a:p>
          <a:p>
            <a:pPr marL="0" indent="0" algn="ctr">
              <a:buNone/>
            </a:pPr>
            <a:r>
              <a:rPr lang="en-US" sz="700" b="1" dirty="0">
                <a:solidFill>
                  <a:srgbClr val="1A2B4A"/>
                </a:solidFill>
                <a:latin typeface="Calibri" pitchFamily="34" charset="0"/>
                <a:ea typeface="Calibri" pitchFamily="34" charset="-122"/>
                <a:cs typeface="Calibri" pitchFamily="34" charset="-120"/>
              </a:rPr>
              <a:t>+ prompts</a:t>
            </a:r>
            <a:endParaRPr lang="en-US" sz="700" dirty="0"/>
          </a:p>
        </p:txBody>
      </p:sp>
      <p:sp>
        <p:nvSpPr>
          <p:cNvPr id="29" name="Shape 27"/>
          <p:cNvSpPr/>
          <p:nvPr/>
        </p:nvSpPr>
        <p:spPr>
          <a:xfrm>
            <a:off x="5797296" y="1769364"/>
            <a:ext cx="1170432" cy="283464"/>
          </a:xfrm>
          <a:prstGeom prst="roundRect">
            <a:avLst>
              <a:gd name="adj" fmla="val 16129"/>
            </a:avLst>
          </a:prstGeom>
          <a:solidFill>
            <a:srgbClr val="FFFFFF"/>
          </a:solidFill>
          <a:ln w="12700">
            <a:solidFill>
              <a:srgbClr val="1A2B4A"/>
            </a:solidFill>
            <a:prstDash val="solid"/>
          </a:ln>
        </p:spPr>
        <p:txBody>
          <a:bodyPr/>
          <a:lstStyle/>
          <a:p>
            <a:endParaRPr lang="en-US"/>
          </a:p>
        </p:txBody>
      </p:sp>
      <p:sp>
        <p:nvSpPr>
          <p:cNvPr id="30" name="Text 28"/>
          <p:cNvSpPr/>
          <p:nvPr/>
        </p:nvSpPr>
        <p:spPr>
          <a:xfrm>
            <a:off x="5824728" y="1787652"/>
            <a:ext cx="1115568" cy="246888"/>
          </a:xfrm>
          <a:prstGeom prst="rect">
            <a:avLst/>
          </a:prstGeom>
          <a:noFill/>
          <a:ln/>
        </p:spPr>
        <p:txBody>
          <a:bodyPr wrap="square" lIns="0" tIns="0" rIns="0" bIns="0" rtlCol="0" anchor="ctr"/>
          <a:lstStyle/>
          <a:p>
            <a:pPr marL="0" indent="0" algn="ctr">
              <a:buNone/>
            </a:pPr>
            <a:r>
              <a:rPr lang="en-US" sz="700" b="1" dirty="0">
                <a:solidFill>
                  <a:srgbClr val="1A2B4A"/>
                </a:solidFill>
                <a:latin typeface="Calibri" pitchFamily="34" charset="0"/>
                <a:ea typeface="Calibri" pitchFamily="34" charset="-122"/>
                <a:cs typeface="Calibri" pitchFamily="34" charset="-120"/>
              </a:rPr>
              <a:t>Paper edit</a:t>
            </a:r>
            <a:endParaRPr lang="en-US" sz="700" dirty="0"/>
          </a:p>
          <a:p>
            <a:pPr marL="0" indent="0" algn="ctr">
              <a:buNone/>
            </a:pPr>
            <a:r>
              <a:rPr lang="en-US" sz="700" b="1" dirty="0">
                <a:solidFill>
                  <a:srgbClr val="1A2B4A"/>
                </a:solidFill>
                <a:latin typeface="Calibri" pitchFamily="34" charset="0"/>
                <a:ea typeface="Calibri" pitchFamily="34" charset="-122"/>
                <a:cs typeface="Calibri" pitchFamily="34" charset="-120"/>
              </a:rPr>
              <a:t>+ narration</a:t>
            </a:r>
            <a:endParaRPr lang="en-US" sz="700" dirty="0"/>
          </a:p>
        </p:txBody>
      </p:sp>
      <p:sp>
        <p:nvSpPr>
          <p:cNvPr id="31" name="Shape 29"/>
          <p:cNvSpPr/>
          <p:nvPr/>
        </p:nvSpPr>
        <p:spPr>
          <a:xfrm>
            <a:off x="7059168" y="1769364"/>
            <a:ext cx="896112" cy="283464"/>
          </a:xfrm>
          <a:prstGeom prst="roundRect">
            <a:avLst>
              <a:gd name="adj" fmla="val 16129"/>
            </a:avLst>
          </a:prstGeom>
          <a:solidFill>
            <a:srgbClr val="FFFFFF"/>
          </a:solidFill>
          <a:ln w="12700">
            <a:solidFill>
              <a:srgbClr val="1A2B4A"/>
            </a:solidFill>
            <a:prstDash val="solid"/>
          </a:ln>
        </p:spPr>
        <p:txBody>
          <a:bodyPr/>
          <a:lstStyle/>
          <a:p>
            <a:endParaRPr lang="en-US"/>
          </a:p>
        </p:txBody>
      </p:sp>
      <p:sp>
        <p:nvSpPr>
          <p:cNvPr id="32" name="Text 30"/>
          <p:cNvSpPr/>
          <p:nvPr/>
        </p:nvSpPr>
        <p:spPr>
          <a:xfrm>
            <a:off x="7086600" y="1787652"/>
            <a:ext cx="841248" cy="246888"/>
          </a:xfrm>
          <a:prstGeom prst="rect">
            <a:avLst/>
          </a:prstGeom>
          <a:noFill/>
          <a:ln/>
        </p:spPr>
        <p:txBody>
          <a:bodyPr wrap="square" lIns="0" tIns="0" rIns="0" bIns="0" rtlCol="0" anchor="ctr"/>
          <a:lstStyle/>
          <a:p>
            <a:pPr marL="0" indent="0" algn="ctr">
              <a:buNone/>
            </a:pPr>
            <a:r>
              <a:rPr lang="en-US" sz="700" b="1" dirty="0">
                <a:solidFill>
                  <a:srgbClr val="1A2B4A"/>
                </a:solidFill>
                <a:latin typeface="Calibri" pitchFamily="34" charset="0"/>
                <a:ea typeface="Calibri" pitchFamily="34" charset="-122"/>
                <a:cs typeface="Calibri" pitchFamily="34" charset="-120"/>
              </a:rPr>
              <a:t>Sign off</a:t>
            </a:r>
            <a:endParaRPr lang="en-US" sz="700" dirty="0"/>
          </a:p>
        </p:txBody>
      </p:sp>
      <p:sp>
        <p:nvSpPr>
          <p:cNvPr id="33" name="Shape 31"/>
          <p:cNvSpPr/>
          <p:nvPr/>
        </p:nvSpPr>
        <p:spPr>
          <a:xfrm>
            <a:off x="320040" y="2139696"/>
            <a:ext cx="8577072" cy="457200"/>
          </a:xfrm>
          <a:prstGeom prst="rect">
            <a:avLst/>
          </a:prstGeom>
          <a:solidFill>
            <a:srgbClr val="F3F4F6"/>
          </a:solidFill>
          <a:ln w="12700">
            <a:solidFill>
              <a:srgbClr val="D1D5DB"/>
            </a:solidFill>
            <a:prstDash val="solid"/>
          </a:ln>
        </p:spPr>
        <p:txBody>
          <a:bodyPr/>
          <a:lstStyle/>
          <a:p>
            <a:endParaRPr lang="en-US"/>
          </a:p>
        </p:txBody>
      </p:sp>
      <p:sp>
        <p:nvSpPr>
          <p:cNvPr id="34" name="Shape 32"/>
          <p:cNvSpPr/>
          <p:nvPr/>
        </p:nvSpPr>
        <p:spPr>
          <a:xfrm>
            <a:off x="393192" y="2304288"/>
            <a:ext cx="118872" cy="118872"/>
          </a:xfrm>
          <a:prstGeom prst="ellipse">
            <a:avLst/>
          </a:prstGeom>
          <a:solidFill>
            <a:srgbClr val="6B21A8"/>
          </a:solidFill>
          <a:ln w="12700">
            <a:solidFill>
              <a:srgbClr val="6B21A8"/>
            </a:solidFill>
            <a:prstDash val="solid"/>
          </a:ln>
        </p:spPr>
        <p:txBody>
          <a:bodyPr/>
          <a:lstStyle/>
          <a:p>
            <a:endParaRPr lang="en-US"/>
          </a:p>
        </p:txBody>
      </p:sp>
      <p:sp>
        <p:nvSpPr>
          <p:cNvPr id="35" name="Text 33"/>
          <p:cNvSpPr/>
          <p:nvPr/>
        </p:nvSpPr>
        <p:spPr>
          <a:xfrm>
            <a:off x="557784" y="2194560"/>
            <a:ext cx="987552" cy="36576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People</a:t>
            </a:r>
            <a:endParaRPr lang="en-US" sz="850" dirty="0"/>
          </a:p>
          <a:p>
            <a:pPr marL="0" indent="0">
              <a:buNone/>
            </a:pPr>
            <a:r>
              <a:rPr lang="en-US" sz="850" b="1" dirty="0">
                <a:solidFill>
                  <a:srgbClr val="6B21A8"/>
                </a:solidFill>
                <a:latin typeface="Calibri" pitchFamily="34" charset="0"/>
                <a:ea typeface="Calibri" pitchFamily="34" charset="-122"/>
                <a:cs typeface="Calibri" pitchFamily="34" charset="-120"/>
              </a:rPr>
              <a:t>Operations</a:t>
            </a:r>
            <a:endParaRPr lang="en-US" sz="850" dirty="0"/>
          </a:p>
        </p:txBody>
      </p:sp>
      <p:sp>
        <p:nvSpPr>
          <p:cNvPr id="36" name="Shape 34"/>
          <p:cNvSpPr/>
          <p:nvPr/>
        </p:nvSpPr>
        <p:spPr>
          <a:xfrm>
            <a:off x="1627632" y="2226564"/>
            <a:ext cx="1207008" cy="283464"/>
          </a:xfrm>
          <a:prstGeom prst="roundRect">
            <a:avLst>
              <a:gd name="adj" fmla="val 16129"/>
            </a:avLst>
          </a:prstGeom>
          <a:solidFill>
            <a:srgbClr val="FFFFFF"/>
          </a:solidFill>
          <a:ln w="12700">
            <a:solidFill>
              <a:srgbClr val="6B21A8"/>
            </a:solidFill>
            <a:prstDash val="solid"/>
          </a:ln>
        </p:spPr>
        <p:txBody>
          <a:bodyPr/>
          <a:lstStyle/>
          <a:p>
            <a:endParaRPr lang="en-US"/>
          </a:p>
        </p:txBody>
      </p:sp>
      <p:sp>
        <p:nvSpPr>
          <p:cNvPr id="37" name="Text 35"/>
          <p:cNvSpPr/>
          <p:nvPr/>
        </p:nvSpPr>
        <p:spPr>
          <a:xfrm>
            <a:off x="1655064" y="2244852"/>
            <a:ext cx="1152144" cy="246888"/>
          </a:xfrm>
          <a:prstGeom prst="rect">
            <a:avLst/>
          </a:prstGeom>
          <a:noFill/>
          <a:ln/>
        </p:spPr>
        <p:txBody>
          <a:bodyPr wrap="square" lIns="0" tIns="0" rIns="0" bIns="0" rtlCol="0" anchor="ctr"/>
          <a:lstStyle/>
          <a:p>
            <a:pPr marL="0" indent="0" algn="ctr">
              <a:buNone/>
            </a:pPr>
            <a:r>
              <a:rPr lang="en-US" sz="700" b="1" dirty="0">
                <a:solidFill>
                  <a:srgbClr val="6B21A8"/>
                </a:solidFill>
                <a:latin typeface="Calibri" pitchFamily="34" charset="0"/>
                <a:ea typeface="Calibri" pitchFamily="34" charset="-122"/>
                <a:cs typeface="Calibri" pitchFamily="34" charset="-120"/>
              </a:rPr>
              <a:t>Consent</a:t>
            </a:r>
            <a:endParaRPr lang="en-US" sz="700" dirty="0"/>
          </a:p>
          <a:p>
            <a:pPr marL="0" indent="0" algn="ctr">
              <a:buNone/>
            </a:pPr>
            <a:r>
              <a:rPr lang="en-US" sz="700" b="1" dirty="0">
                <a:solidFill>
                  <a:srgbClr val="6B21A8"/>
                </a:solidFill>
                <a:latin typeface="Calibri" pitchFamily="34" charset="0"/>
                <a:ea typeface="Calibri" pitchFamily="34" charset="-122"/>
                <a:cs typeface="Calibri" pitchFamily="34" charset="-120"/>
              </a:rPr>
              <a:t>+ onboard</a:t>
            </a:r>
            <a:endParaRPr lang="en-US" sz="700" dirty="0"/>
          </a:p>
        </p:txBody>
      </p:sp>
      <p:sp>
        <p:nvSpPr>
          <p:cNvPr id="38" name="Shape 36"/>
          <p:cNvSpPr/>
          <p:nvPr/>
        </p:nvSpPr>
        <p:spPr>
          <a:xfrm>
            <a:off x="2926080" y="2226564"/>
            <a:ext cx="1207008" cy="283464"/>
          </a:xfrm>
          <a:prstGeom prst="roundRect">
            <a:avLst>
              <a:gd name="adj" fmla="val 16129"/>
            </a:avLst>
          </a:prstGeom>
          <a:solidFill>
            <a:srgbClr val="FFFFFF"/>
          </a:solidFill>
          <a:ln w="12700">
            <a:solidFill>
              <a:srgbClr val="6B21A8"/>
            </a:solidFill>
            <a:prstDash val="solid"/>
          </a:ln>
        </p:spPr>
        <p:txBody>
          <a:bodyPr/>
          <a:lstStyle/>
          <a:p>
            <a:endParaRPr lang="en-US"/>
          </a:p>
        </p:txBody>
      </p:sp>
      <p:sp>
        <p:nvSpPr>
          <p:cNvPr id="39" name="Text 37"/>
          <p:cNvSpPr/>
          <p:nvPr/>
        </p:nvSpPr>
        <p:spPr>
          <a:xfrm>
            <a:off x="2953512" y="2244852"/>
            <a:ext cx="1152144" cy="246888"/>
          </a:xfrm>
          <a:prstGeom prst="rect">
            <a:avLst/>
          </a:prstGeom>
          <a:noFill/>
          <a:ln/>
        </p:spPr>
        <p:txBody>
          <a:bodyPr wrap="square" lIns="0" tIns="0" rIns="0" bIns="0" rtlCol="0" anchor="ctr"/>
          <a:lstStyle/>
          <a:p>
            <a:pPr marL="0" indent="0" algn="ctr">
              <a:buNone/>
            </a:pPr>
            <a:r>
              <a:rPr lang="en-US" sz="700" b="1" dirty="0">
                <a:solidFill>
                  <a:srgbClr val="6B21A8"/>
                </a:solidFill>
                <a:latin typeface="Calibri" pitchFamily="34" charset="0"/>
                <a:ea typeface="Calibri" pitchFamily="34" charset="-122"/>
                <a:cs typeface="Calibri" pitchFamily="34" charset="-120"/>
              </a:rPr>
              <a:t>Interviews</a:t>
            </a:r>
            <a:endParaRPr lang="en-US" sz="700" dirty="0"/>
          </a:p>
          <a:p>
            <a:pPr marL="0" indent="0" algn="ctr">
              <a:buNone/>
            </a:pPr>
            <a:r>
              <a:rPr lang="en-US" sz="700" b="1" dirty="0">
                <a:solidFill>
                  <a:srgbClr val="6B21A8"/>
                </a:solidFill>
                <a:latin typeface="Calibri" pitchFamily="34" charset="0"/>
                <a:ea typeface="Calibri" pitchFamily="34" charset="-122"/>
                <a:cs typeface="Calibri" pitchFamily="34" charset="-120"/>
              </a:rPr>
              <a:t>+ comms</a:t>
            </a:r>
            <a:endParaRPr lang="en-US" sz="700" dirty="0"/>
          </a:p>
        </p:txBody>
      </p:sp>
      <p:sp>
        <p:nvSpPr>
          <p:cNvPr id="40" name="Shape 38"/>
          <p:cNvSpPr/>
          <p:nvPr/>
        </p:nvSpPr>
        <p:spPr>
          <a:xfrm>
            <a:off x="4224528" y="2226564"/>
            <a:ext cx="1481328" cy="283464"/>
          </a:xfrm>
          <a:prstGeom prst="roundRect">
            <a:avLst>
              <a:gd name="adj" fmla="val 16129"/>
            </a:avLst>
          </a:prstGeom>
          <a:solidFill>
            <a:srgbClr val="FFFFFF"/>
          </a:solidFill>
          <a:ln w="12700">
            <a:solidFill>
              <a:srgbClr val="6B21A8"/>
            </a:solidFill>
            <a:prstDash val="solid"/>
          </a:ln>
        </p:spPr>
        <p:txBody>
          <a:bodyPr/>
          <a:lstStyle/>
          <a:p>
            <a:endParaRPr lang="en-US"/>
          </a:p>
        </p:txBody>
      </p:sp>
      <p:sp>
        <p:nvSpPr>
          <p:cNvPr id="41" name="Text 39"/>
          <p:cNvSpPr/>
          <p:nvPr/>
        </p:nvSpPr>
        <p:spPr>
          <a:xfrm>
            <a:off x="4251960" y="2244852"/>
            <a:ext cx="1426464" cy="246888"/>
          </a:xfrm>
          <a:prstGeom prst="rect">
            <a:avLst/>
          </a:prstGeom>
          <a:noFill/>
          <a:ln/>
        </p:spPr>
        <p:txBody>
          <a:bodyPr wrap="square" lIns="0" tIns="0" rIns="0" bIns="0" rtlCol="0" anchor="ctr"/>
          <a:lstStyle/>
          <a:p>
            <a:pPr marL="0" indent="0" algn="ctr">
              <a:buNone/>
            </a:pPr>
            <a:r>
              <a:rPr lang="en-US" sz="700" b="1" dirty="0">
                <a:solidFill>
                  <a:srgbClr val="6B21A8"/>
                </a:solidFill>
                <a:latin typeface="Calibri" pitchFamily="34" charset="0"/>
                <a:ea typeface="Calibri" pitchFamily="34" charset="-122"/>
                <a:cs typeface="Calibri" pitchFamily="34" charset="-120"/>
              </a:rPr>
              <a:t>Prompts</a:t>
            </a:r>
            <a:endParaRPr lang="en-US" sz="700" dirty="0"/>
          </a:p>
          <a:p>
            <a:pPr marL="0" indent="0" algn="ctr">
              <a:buNone/>
            </a:pPr>
            <a:r>
              <a:rPr lang="en-US" sz="700" b="1" dirty="0">
                <a:solidFill>
                  <a:srgbClr val="6B21A8"/>
                </a:solidFill>
                <a:latin typeface="Calibri" pitchFamily="34" charset="0"/>
                <a:ea typeface="Calibri" pitchFamily="34" charset="-122"/>
                <a:cs typeface="Calibri" pitchFamily="34" charset="-120"/>
              </a:rPr>
              <a:t>+ comms</a:t>
            </a:r>
            <a:endParaRPr lang="en-US" sz="700" dirty="0"/>
          </a:p>
        </p:txBody>
      </p:sp>
      <p:sp>
        <p:nvSpPr>
          <p:cNvPr id="42" name="Shape 40"/>
          <p:cNvSpPr/>
          <p:nvPr/>
        </p:nvSpPr>
        <p:spPr>
          <a:xfrm>
            <a:off x="5797296" y="2226564"/>
            <a:ext cx="1170432" cy="283464"/>
          </a:xfrm>
          <a:prstGeom prst="roundRect">
            <a:avLst>
              <a:gd name="adj" fmla="val 16129"/>
            </a:avLst>
          </a:prstGeom>
          <a:solidFill>
            <a:srgbClr val="FFFFFF"/>
          </a:solidFill>
          <a:ln w="12700">
            <a:solidFill>
              <a:srgbClr val="6B21A8"/>
            </a:solidFill>
            <a:prstDash val="solid"/>
          </a:ln>
        </p:spPr>
        <p:txBody>
          <a:bodyPr/>
          <a:lstStyle/>
          <a:p>
            <a:endParaRPr lang="en-US"/>
          </a:p>
        </p:txBody>
      </p:sp>
      <p:sp>
        <p:nvSpPr>
          <p:cNvPr id="43" name="Text 41"/>
          <p:cNvSpPr/>
          <p:nvPr/>
        </p:nvSpPr>
        <p:spPr>
          <a:xfrm>
            <a:off x="5824728" y="2244852"/>
            <a:ext cx="1115568" cy="246888"/>
          </a:xfrm>
          <a:prstGeom prst="rect">
            <a:avLst/>
          </a:prstGeom>
          <a:noFill/>
          <a:ln/>
        </p:spPr>
        <p:txBody>
          <a:bodyPr wrap="square" lIns="0" tIns="0" rIns="0" bIns="0" rtlCol="0" anchor="ctr"/>
          <a:lstStyle/>
          <a:p>
            <a:pPr marL="0" indent="0" algn="ctr">
              <a:buNone/>
            </a:pPr>
            <a:r>
              <a:rPr lang="en-US" sz="700" b="1" dirty="0">
                <a:solidFill>
                  <a:srgbClr val="6B21A8"/>
                </a:solidFill>
                <a:latin typeface="Calibri" pitchFamily="34" charset="0"/>
                <a:ea typeface="Calibri" pitchFamily="34" charset="-122"/>
                <a:cs typeface="Calibri" pitchFamily="34" charset="-120"/>
              </a:rPr>
              <a:t>Cut review</a:t>
            </a:r>
            <a:endParaRPr lang="en-US" sz="700" dirty="0"/>
          </a:p>
        </p:txBody>
      </p:sp>
      <p:sp>
        <p:nvSpPr>
          <p:cNvPr id="44" name="Shape 42"/>
          <p:cNvSpPr/>
          <p:nvPr/>
        </p:nvSpPr>
        <p:spPr>
          <a:xfrm>
            <a:off x="7059168" y="2226564"/>
            <a:ext cx="896112" cy="283464"/>
          </a:xfrm>
          <a:prstGeom prst="roundRect">
            <a:avLst>
              <a:gd name="adj" fmla="val 16129"/>
            </a:avLst>
          </a:prstGeom>
          <a:solidFill>
            <a:srgbClr val="FFFFFF"/>
          </a:solidFill>
          <a:ln w="12700">
            <a:solidFill>
              <a:srgbClr val="6B21A8"/>
            </a:solidFill>
            <a:prstDash val="solid"/>
          </a:ln>
        </p:spPr>
        <p:txBody>
          <a:bodyPr/>
          <a:lstStyle/>
          <a:p>
            <a:endParaRPr lang="en-US"/>
          </a:p>
        </p:txBody>
      </p:sp>
      <p:sp>
        <p:nvSpPr>
          <p:cNvPr id="45" name="Text 43"/>
          <p:cNvSpPr/>
          <p:nvPr/>
        </p:nvSpPr>
        <p:spPr>
          <a:xfrm>
            <a:off x="7086600" y="2244852"/>
            <a:ext cx="841248" cy="246888"/>
          </a:xfrm>
          <a:prstGeom prst="rect">
            <a:avLst/>
          </a:prstGeom>
          <a:noFill/>
          <a:ln/>
        </p:spPr>
        <p:txBody>
          <a:bodyPr wrap="square" lIns="0" tIns="0" rIns="0" bIns="0" rtlCol="0" anchor="ctr"/>
          <a:lstStyle/>
          <a:p>
            <a:pPr marL="0" indent="0" algn="ctr">
              <a:buNone/>
            </a:pPr>
            <a:r>
              <a:rPr lang="en-US" sz="700" b="1" dirty="0">
                <a:solidFill>
                  <a:srgbClr val="6B21A8"/>
                </a:solidFill>
                <a:latin typeface="Calibri" pitchFamily="34" charset="0"/>
                <a:ea typeface="Calibri" pitchFamily="34" charset="-122"/>
                <a:cs typeface="Calibri" pitchFamily="34" charset="-120"/>
              </a:rPr>
              <a:t>Legal</a:t>
            </a:r>
            <a:endParaRPr lang="en-US" sz="700" dirty="0"/>
          </a:p>
          <a:p>
            <a:pPr marL="0" indent="0" algn="ctr">
              <a:buNone/>
            </a:pPr>
            <a:r>
              <a:rPr lang="en-US" sz="700" b="1" dirty="0">
                <a:solidFill>
                  <a:srgbClr val="6B21A8"/>
                </a:solidFill>
                <a:latin typeface="Calibri" pitchFamily="34" charset="0"/>
                <a:ea typeface="Calibri" pitchFamily="34" charset="-122"/>
                <a:cs typeface="Calibri" pitchFamily="34" charset="-120"/>
              </a:rPr>
              <a:t>clearance</a:t>
            </a:r>
            <a:endParaRPr lang="en-US" sz="700" dirty="0"/>
          </a:p>
        </p:txBody>
      </p:sp>
      <p:sp>
        <p:nvSpPr>
          <p:cNvPr id="46" name="Shape 44"/>
          <p:cNvSpPr/>
          <p:nvPr/>
        </p:nvSpPr>
        <p:spPr>
          <a:xfrm>
            <a:off x="320040" y="2596896"/>
            <a:ext cx="8577072" cy="457200"/>
          </a:xfrm>
          <a:prstGeom prst="rect">
            <a:avLst/>
          </a:prstGeom>
          <a:solidFill>
            <a:srgbClr val="FFFFFF"/>
          </a:solidFill>
          <a:ln w="12700">
            <a:solidFill>
              <a:srgbClr val="D1D5DB"/>
            </a:solidFill>
            <a:prstDash val="solid"/>
          </a:ln>
        </p:spPr>
        <p:txBody>
          <a:bodyPr/>
          <a:lstStyle/>
          <a:p>
            <a:endParaRPr lang="en-US"/>
          </a:p>
        </p:txBody>
      </p:sp>
      <p:sp>
        <p:nvSpPr>
          <p:cNvPr id="47" name="Shape 45"/>
          <p:cNvSpPr/>
          <p:nvPr/>
        </p:nvSpPr>
        <p:spPr>
          <a:xfrm>
            <a:off x="393192" y="2761488"/>
            <a:ext cx="118872" cy="118872"/>
          </a:xfrm>
          <a:prstGeom prst="ellipse">
            <a:avLst/>
          </a:prstGeom>
          <a:solidFill>
            <a:srgbClr val="0D7377"/>
          </a:solidFill>
          <a:ln w="12700">
            <a:solidFill>
              <a:srgbClr val="0D7377"/>
            </a:solidFill>
            <a:prstDash val="solid"/>
          </a:ln>
        </p:spPr>
        <p:txBody>
          <a:bodyPr/>
          <a:lstStyle/>
          <a:p>
            <a:endParaRPr lang="en-US"/>
          </a:p>
        </p:txBody>
      </p:sp>
      <p:sp>
        <p:nvSpPr>
          <p:cNvPr id="48" name="Text 46"/>
          <p:cNvSpPr/>
          <p:nvPr/>
        </p:nvSpPr>
        <p:spPr>
          <a:xfrm>
            <a:off x="557784" y="2651760"/>
            <a:ext cx="987552" cy="365760"/>
          </a:xfrm>
          <a:prstGeom prst="rect">
            <a:avLst/>
          </a:prstGeom>
          <a:noFill/>
          <a:ln/>
        </p:spPr>
        <p:txBody>
          <a:bodyPr wrap="square" lIns="0" tIns="0" rIns="0" bIns="0" rtlCol="0" anchor="ctr"/>
          <a:lstStyle/>
          <a:p>
            <a:pPr marL="0" indent="0">
              <a:buNone/>
            </a:pPr>
            <a:r>
              <a:rPr lang="en-US" sz="850" b="1" dirty="0">
                <a:solidFill>
                  <a:srgbClr val="0D7377"/>
                </a:solidFill>
                <a:latin typeface="Calibri" pitchFamily="34" charset="0"/>
                <a:ea typeface="Calibri" pitchFamily="34" charset="-122"/>
                <a:cs typeface="Calibri" pitchFamily="34" charset="-120"/>
              </a:rPr>
              <a:t>Content</a:t>
            </a:r>
            <a:endParaRPr lang="en-US" sz="850" dirty="0"/>
          </a:p>
          <a:p>
            <a:pPr marL="0" indent="0">
              <a:buNone/>
            </a:pPr>
            <a:r>
              <a:rPr lang="en-US" sz="850" b="1" dirty="0">
                <a:solidFill>
                  <a:srgbClr val="0D7377"/>
                </a:solidFill>
                <a:latin typeface="Calibri" pitchFamily="34" charset="0"/>
                <a:ea typeface="Calibri" pitchFamily="34" charset="-122"/>
                <a:cs typeface="Calibri" pitchFamily="34" charset="-120"/>
              </a:rPr>
              <a:t>&amp; Post</a:t>
            </a:r>
            <a:endParaRPr lang="en-US" sz="850" dirty="0"/>
          </a:p>
        </p:txBody>
      </p:sp>
      <p:sp>
        <p:nvSpPr>
          <p:cNvPr id="49" name="Shape 47"/>
          <p:cNvSpPr/>
          <p:nvPr/>
        </p:nvSpPr>
        <p:spPr>
          <a:xfrm>
            <a:off x="1627632" y="2683764"/>
            <a:ext cx="1207008" cy="283464"/>
          </a:xfrm>
          <a:prstGeom prst="roundRect">
            <a:avLst>
              <a:gd name="adj" fmla="val 16129"/>
            </a:avLst>
          </a:prstGeom>
          <a:solidFill>
            <a:srgbClr val="FFFFFF"/>
          </a:solidFill>
          <a:ln w="12700">
            <a:solidFill>
              <a:srgbClr val="0D7377"/>
            </a:solidFill>
            <a:prstDash val="solid"/>
          </a:ln>
        </p:spPr>
        <p:txBody>
          <a:bodyPr/>
          <a:lstStyle/>
          <a:p>
            <a:endParaRPr lang="en-US"/>
          </a:p>
        </p:txBody>
      </p:sp>
      <p:sp>
        <p:nvSpPr>
          <p:cNvPr id="50" name="Text 48"/>
          <p:cNvSpPr/>
          <p:nvPr/>
        </p:nvSpPr>
        <p:spPr>
          <a:xfrm>
            <a:off x="1655064" y="2702052"/>
            <a:ext cx="1152144" cy="246888"/>
          </a:xfrm>
          <a:prstGeom prst="rect">
            <a:avLst/>
          </a:prstGeom>
          <a:noFill/>
          <a:ln/>
        </p:spPr>
        <p:txBody>
          <a:bodyPr wrap="square" lIns="0" tIns="0" rIns="0" bIns="0" rtlCol="0" anchor="ctr"/>
          <a:lstStyle/>
          <a:p>
            <a:pPr marL="0" indent="0" algn="ctr">
              <a:buNone/>
            </a:pPr>
            <a:r>
              <a:rPr lang="en-US" sz="700" b="1" dirty="0">
                <a:solidFill>
                  <a:srgbClr val="0D7377"/>
                </a:solidFill>
                <a:latin typeface="Calibri" pitchFamily="34" charset="0"/>
                <a:ea typeface="Calibri" pitchFamily="34" charset="-122"/>
                <a:cs typeface="Calibri" pitchFamily="34" charset="-120"/>
              </a:rPr>
              <a:t>File system</a:t>
            </a:r>
            <a:endParaRPr lang="en-US" sz="700" dirty="0"/>
          </a:p>
          <a:p>
            <a:pPr marL="0" indent="0" algn="ctr">
              <a:buNone/>
            </a:pPr>
            <a:r>
              <a:rPr lang="en-US" sz="700" b="1" dirty="0">
                <a:solidFill>
                  <a:srgbClr val="0D7377"/>
                </a:solidFill>
                <a:latin typeface="Calibri" pitchFamily="34" charset="0"/>
                <a:ea typeface="Calibri" pitchFamily="34" charset="-122"/>
                <a:cs typeface="Calibri" pitchFamily="34" charset="-120"/>
              </a:rPr>
              <a:t>setup</a:t>
            </a:r>
            <a:endParaRPr lang="en-US" sz="700" dirty="0"/>
          </a:p>
        </p:txBody>
      </p:sp>
      <p:sp>
        <p:nvSpPr>
          <p:cNvPr id="51" name="Shape 49"/>
          <p:cNvSpPr/>
          <p:nvPr/>
        </p:nvSpPr>
        <p:spPr>
          <a:xfrm>
            <a:off x="4224528" y="2683764"/>
            <a:ext cx="1481328" cy="283464"/>
          </a:xfrm>
          <a:prstGeom prst="roundRect">
            <a:avLst>
              <a:gd name="adj" fmla="val 16129"/>
            </a:avLst>
          </a:prstGeom>
          <a:solidFill>
            <a:srgbClr val="FFFFFF"/>
          </a:solidFill>
          <a:ln w="12700">
            <a:solidFill>
              <a:srgbClr val="0D7377"/>
            </a:solidFill>
            <a:prstDash val="solid"/>
          </a:ln>
        </p:spPr>
        <p:txBody>
          <a:bodyPr/>
          <a:lstStyle/>
          <a:p>
            <a:endParaRPr lang="en-US"/>
          </a:p>
        </p:txBody>
      </p:sp>
      <p:sp>
        <p:nvSpPr>
          <p:cNvPr id="52" name="Text 50"/>
          <p:cNvSpPr/>
          <p:nvPr/>
        </p:nvSpPr>
        <p:spPr>
          <a:xfrm>
            <a:off x="4251960" y="2702052"/>
            <a:ext cx="1426464" cy="246888"/>
          </a:xfrm>
          <a:prstGeom prst="rect">
            <a:avLst/>
          </a:prstGeom>
          <a:noFill/>
          <a:ln/>
        </p:spPr>
        <p:txBody>
          <a:bodyPr wrap="square" lIns="0" tIns="0" rIns="0" bIns="0" rtlCol="0" anchor="ctr"/>
          <a:lstStyle/>
          <a:p>
            <a:pPr marL="0" indent="0" algn="ctr">
              <a:buNone/>
            </a:pPr>
            <a:r>
              <a:rPr lang="en-US" sz="700" b="1" dirty="0">
                <a:solidFill>
                  <a:srgbClr val="0D7377"/>
                </a:solidFill>
                <a:latin typeface="Calibri" pitchFamily="34" charset="0"/>
                <a:ea typeface="Calibri" pitchFamily="34" charset="-122"/>
                <a:cs typeface="Calibri" pitchFamily="34" charset="-120"/>
              </a:rPr>
              <a:t>Archive +</a:t>
            </a:r>
            <a:endParaRPr lang="en-US" sz="700" dirty="0"/>
          </a:p>
          <a:p>
            <a:pPr marL="0" indent="0" algn="ctr">
              <a:buNone/>
            </a:pPr>
            <a:r>
              <a:rPr lang="en-US" sz="700" b="1" dirty="0">
                <a:solidFill>
                  <a:srgbClr val="0D7377"/>
                </a:solidFill>
                <a:latin typeface="Calibri" pitchFamily="34" charset="0"/>
                <a:ea typeface="Calibri" pitchFamily="34" charset="-122"/>
                <a:cs typeface="Calibri" pitchFamily="34" charset="-120"/>
              </a:rPr>
              <a:t>footage in</a:t>
            </a:r>
            <a:endParaRPr lang="en-US" sz="700" dirty="0"/>
          </a:p>
        </p:txBody>
      </p:sp>
      <p:sp>
        <p:nvSpPr>
          <p:cNvPr id="53" name="Shape 51"/>
          <p:cNvSpPr/>
          <p:nvPr/>
        </p:nvSpPr>
        <p:spPr>
          <a:xfrm>
            <a:off x="5797296" y="2683764"/>
            <a:ext cx="1170432" cy="283464"/>
          </a:xfrm>
          <a:prstGeom prst="roundRect">
            <a:avLst>
              <a:gd name="adj" fmla="val 16129"/>
            </a:avLst>
          </a:prstGeom>
          <a:solidFill>
            <a:srgbClr val="FFFFFF"/>
          </a:solidFill>
          <a:ln w="12700">
            <a:solidFill>
              <a:srgbClr val="0D7377"/>
            </a:solidFill>
            <a:prstDash val="solid"/>
          </a:ln>
        </p:spPr>
        <p:txBody>
          <a:bodyPr/>
          <a:lstStyle/>
          <a:p>
            <a:endParaRPr lang="en-US"/>
          </a:p>
        </p:txBody>
      </p:sp>
      <p:sp>
        <p:nvSpPr>
          <p:cNvPr id="54" name="Text 52"/>
          <p:cNvSpPr/>
          <p:nvPr/>
        </p:nvSpPr>
        <p:spPr>
          <a:xfrm>
            <a:off x="5824728" y="2702052"/>
            <a:ext cx="1115568" cy="246888"/>
          </a:xfrm>
          <a:prstGeom prst="rect">
            <a:avLst/>
          </a:prstGeom>
          <a:noFill/>
          <a:ln/>
        </p:spPr>
        <p:txBody>
          <a:bodyPr wrap="square" lIns="0" tIns="0" rIns="0" bIns="0" rtlCol="0" anchor="ctr"/>
          <a:lstStyle/>
          <a:p>
            <a:pPr marL="0" indent="0" algn="ctr">
              <a:buNone/>
            </a:pPr>
            <a:r>
              <a:rPr lang="en-US" sz="700" b="1" dirty="0">
                <a:solidFill>
                  <a:srgbClr val="0D7377"/>
                </a:solidFill>
                <a:latin typeface="Calibri" pitchFamily="34" charset="0"/>
                <a:ea typeface="Calibri" pitchFamily="34" charset="-122"/>
                <a:cs typeface="Calibri" pitchFamily="34" charset="-120"/>
              </a:rPr>
              <a:t>Edit + grade</a:t>
            </a:r>
            <a:endParaRPr lang="en-US" sz="700" dirty="0"/>
          </a:p>
          <a:p>
            <a:pPr marL="0" indent="0" algn="ctr">
              <a:buNone/>
            </a:pPr>
            <a:r>
              <a:rPr lang="en-US" sz="700" b="1" dirty="0">
                <a:solidFill>
                  <a:srgbClr val="0D7377"/>
                </a:solidFill>
                <a:latin typeface="Calibri" pitchFamily="34" charset="0"/>
                <a:ea typeface="Calibri" pitchFamily="34" charset="-122"/>
                <a:cs typeface="Calibri" pitchFamily="34" charset="-120"/>
              </a:rPr>
              <a:t>+ sound</a:t>
            </a:r>
            <a:endParaRPr lang="en-US" sz="700" dirty="0"/>
          </a:p>
        </p:txBody>
      </p:sp>
      <p:sp>
        <p:nvSpPr>
          <p:cNvPr id="55" name="Shape 53"/>
          <p:cNvSpPr/>
          <p:nvPr/>
        </p:nvSpPr>
        <p:spPr>
          <a:xfrm>
            <a:off x="7059168" y="2683764"/>
            <a:ext cx="896112" cy="283464"/>
          </a:xfrm>
          <a:prstGeom prst="roundRect">
            <a:avLst>
              <a:gd name="adj" fmla="val 16129"/>
            </a:avLst>
          </a:prstGeom>
          <a:solidFill>
            <a:srgbClr val="FFFFFF"/>
          </a:solidFill>
          <a:ln w="12700">
            <a:solidFill>
              <a:srgbClr val="0D7377"/>
            </a:solidFill>
            <a:prstDash val="solid"/>
          </a:ln>
        </p:spPr>
        <p:txBody>
          <a:bodyPr/>
          <a:lstStyle/>
          <a:p>
            <a:endParaRPr lang="en-US"/>
          </a:p>
        </p:txBody>
      </p:sp>
      <p:sp>
        <p:nvSpPr>
          <p:cNvPr id="56" name="Text 54"/>
          <p:cNvSpPr/>
          <p:nvPr/>
        </p:nvSpPr>
        <p:spPr>
          <a:xfrm>
            <a:off x="7086600" y="2702052"/>
            <a:ext cx="841248" cy="246888"/>
          </a:xfrm>
          <a:prstGeom prst="rect">
            <a:avLst/>
          </a:prstGeom>
          <a:noFill/>
          <a:ln/>
        </p:spPr>
        <p:txBody>
          <a:bodyPr wrap="square" lIns="0" tIns="0" rIns="0" bIns="0" rtlCol="0" anchor="ctr"/>
          <a:lstStyle/>
          <a:p>
            <a:pPr marL="0" indent="0" algn="ctr">
              <a:buNone/>
            </a:pPr>
            <a:r>
              <a:rPr lang="en-US" sz="700" b="1" dirty="0">
                <a:solidFill>
                  <a:srgbClr val="0D7377"/>
                </a:solidFill>
                <a:latin typeface="Calibri" pitchFamily="34" charset="0"/>
                <a:ea typeface="Calibri" pitchFamily="34" charset="-122"/>
                <a:cs typeface="Calibri" pitchFamily="34" charset="-120"/>
              </a:rPr>
              <a:t>Netflix</a:t>
            </a:r>
            <a:endParaRPr lang="en-US" sz="700" dirty="0"/>
          </a:p>
          <a:p>
            <a:pPr marL="0" indent="0" algn="ctr">
              <a:buNone/>
            </a:pPr>
            <a:r>
              <a:rPr lang="en-US" sz="700" b="1" dirty="0">
                <a:solidFill>
                  <a:srgbClr val="0D7377"/>
                </a:solidFill>
                <a:latin typeface="Calibri" pitchFamily="34" charset="0"/>
                <a:ea typeface="Calibri" pitchFamily="34" charset="-122"/>
                <a:cs typeface="Calibri" pitchFamily="34" charset="-120"/>
              </a:rPr>
              <a:t>delivery</a:t>
            </a:r>
            <a:endParaRPr lang="en-US" sz="700" dirty="0"/>
          </a:p>
        </p:txBody>
      </p:sp>
      <p:sp>
        <p:nvSpPr>
          <p:cNvPr id="57" name="Shape 55"/>
          <p:cNvSpPr/>
          <p:nvPr/>
        </p:nvSpPr>
        <p:spPr>
          <a:xfrm>
            <a:off x="320040" y="3054096"/>
            <a:ext cx="8577072" cy="457200"/>
          </a:xfrm>
          <a:prstGeom prst="rect">
            <a:avLst/>
          </a:prstGeom>
          <a:solidFill>
            <a:srgbClr val="F3F4F6"/>
          </a:solidFill>
          <a:ln w="12700">
            <a:solidFill>
              <a:srgbClr val="D1D5DB"/>
            </a:solidFill>
            <a:prstDash val="solid"/>
          </a:ln>
        </p:spPr>
        <p:txBody>
          <a:bodyPr/>
          <a:lstStyle/>
          <a:p>
            <a:endParaRPr lang="en-US"/>
          </a:p>
        </p:txBody>
      </p:sp>
      <p:sp>
        <p:nvSpPr>
          <p:cNvPr id="58" name="Shape 56"/>
          <p:cNvSpPr/>
          <p:nvPr/>
        </p:nvSpPr>
        <p:spPr>
          <a:xfrm>
            <a:off x="393192" y="3218688"/>
            <a:ext cx="118872" cy="118872"/>
          </a:xfrm>
          <a:prstGeom prst="ellipse">
            <a:avLst/>
          </a:prstGeom>
          <a:solidFill>
            <a:srgbClr val="C05621"/>
          </a:solidFill>
          <a:ln w="12700">
            <a:solidFill>
              <a:srgbClr val="C05621"/>
            </a:solidFill>
            <a:prstDash val="solid"/>
          </a:ln>
        </p:spPr>
        <p:txBody>
          <a:bodyPr/>
          <a:lstStyle/>
          <a:p>
            <a:endParaRPr lang="en-US"/>
          </a:p>
        </p:txBody>
      </p:sp>
      <p:sp>
        <p:nvSpPr>
          <p:cNvPr id="59" name="Text 57"/>
          <p:cNvSpPr/>
          <p:nvPr/>
        </p:nvSpPr>
        <p:spPr>
          <a:xfrm>
            <a:off x="557784" y="3108960"/>
            <a:ext cx="987552" cy="365760"/>
          </a:xfrm>
          <a:prstGeom prst="rect">
            <a:avLst/>
          </a:prstGeom>
          <a:noFill/>
          <a:ln/>
        </p:spPr>
        <p:txBody>
          <a:bodyPr wrap="square" lIns="0" tIns="0" rIns="0" bIns="0" rtlCol="0" anchor="ctr"/>
          <a:lstStyle/>
          <a:p>
            <a:pPr marL="0" indent="0">
              <a:buNone/>
            </a:pPr>
            <a:r>
              <a:rPr lang="en-US" sz="850" b="1" dirty="0">
                <a:solidFill>
                  <a:srgbClr val="C05621"/>
                </a:solidFill>
                <a:latin typeface="Calibri" pitchFamily="34" charset="0"/>
                <a:ea typeface="Calibri" pitchFamily="34" charset="-122"/>
                <a:cs typeface="Calibri" pitchFamily="34" charset="-120"/>
              </a:rPr>
              <a:t>Hardware</a:t>
            </a:r>
            <a:endParaRPr lang="en-US" sz="850" dirty="0"/>
          </a:p>
          <a:p>
            <a:pPr marL="0" indent="0">
              <a:buNone/>
            </a:pPr>
            <a:r>
              <a:rPr lang="en-US" sz="850" b="1" dirty="0">
                <a:solidFill>
                  <a:srgbClr val="C05621"/>
                </a:solidFill>
                <a:latin typeface="Calibri" pitchFamily="34" charset="0"/>
                <a:ea typeface="Calibri" pitchFamily="34" charset="-122"/>
                <a:cs typeface="Calibri" pitchFamily="34" charset="-120"/>
              </a:rPr>
              <a:t>&amp; Tech</a:t>
            </a:r>
            <a:endParaRPr lang="en-US" sz="850" dirty="0"/>
          </a:p>
        </p:txBody>
      </p:sp>
      <p:sp>
        <p:nvSpPr>
          <p:cNvPr id="60" name="Shape 58"/>
          <p:cNvSpPr/>
          <p:nvPr/>
        </p:nvSpPr>
        <p:spPr>
          <a:xfrm>
            <a:off x="2926080" y="3140964"/>
            <a:ext cx="1207008" cy="283464"/>
          </a:xfrm>
          <a:prstGeom prst="roundRect">
            <a:avLst>
              <a:gd name="adj" fmla="val 16129"/>
            </a:avLst>
          </a:prstGeom>
          <a:solidFill>
            <a:srgbClr val="FFFFFF"/>
          </a:solidFill>
          <a:ln w="12700">
            <a:solidFill>
              <a:srgbClr val="C05621"/>
            </a:solidFill>
            <a:prstDash val="solid"/>
          </a:ln>
        </p:spPr>
        <p:txBody>
          <a:bodyPr/>
          <a:lstStyle/>
          <a:p>
            <a:endParaRPr lang="en-US"/>
          </a:p>
        </p:txBody>
      </p:sp>
      <p:sp>
        <p:nvSpPr>
          <p:cNvPr id="61" name="Text 59"/>
          <p:cNvSpPr/>
          <p:nvPr/>
        </p:nvSpPr>
        <p:spPr>
          <a:xfrm>
            <a:off x="2953512" y="3159252"/>
            <a:ext cx="1152144" cy="246888"/>
          </a:xfrm>
          <a:prstGeom prst="rect">
            <a:avLst/>
          </a:prstGeom>
          <a:noFill/>
          <a:ln/>
        </p:spPr>
        <p:txBody>
          <a:bodyPr wrap="square" lIns="0" tIns="0" rIns="0" bIns="0" rtlCol="0" anchor="ctr"/>
          <a:lstStyle/>
          <a:p>
            <a:pPr marL="0" indent="0" algn="ctr">
              <a:buNone/>
            </a:pPr>
            <a:r>
              <a:rPr lang="en-US" sz="700" b="1" dirty="0">
                <a:solidFill>
                  <a:srgbClr val="C05621"/>
                </a:solidFill>
                <a:latin typeface="Calibri" pitchFamily="34" charset="0"/>
                <a:ea typeface="Calibri" pitchFamily="34" charset="-122"/>
                <a:cs typeface="Calibri" pitchFamily="34" charset="-120"/>
              </a:rPr>
              <a:t>DOP calls</a:t>
            </a:r>
            <a:endParaRPr lang="en-US" sz="700" dirty="0"/>
          </a:p>
          <a:p>
            <a:pPr marL="0" indent="0" algn="ctr">
              <a:buNone/>
            </a:pPr>
            <a:r>
              <a:rPr lang="en-US" sz="700" b="1" dirty="0">
                <a:solidFill>
                  <a:srgbClr val="C05621"/>
                </a:solidFill>
                <a:latin typeface="Calibri" pitchFamily="34" charset="0"/>
                <a:ea typeface="Calibri" pitchFamily="34" charset="-122"/>
                <a:cs typeface="Calibri" pitchFamily="34" charset="-120"/>
              </a:rPr>
              <a:t>+ setup</a:t>
            </a:r>
            <a:endParaRPr lang="en-US" sz="700" dirty="0"/>
          </a:p>
        </p:txBody>
      </p:sp>
      <p:sp>
        <p:nvSpPr>
          <p:cNvPr id="62" name="Shape 60"/>
          <p:cNvSpPr/>
          <p:nvPr/>
        </p:nvSpPr>
        <p:spPr>
          <a:xfrm>
            <a:off x="4224528" y="3140964"/>
            <a:ext cx="1481328" cy="283464"/>
          </a:xfrm>
          <a:prstGeom prst="roundRect">
            <a:avLst>
              <a:gd name="adj" fmla="val 16129"/>
            </a:avLst>
          </a:prstGeom>
          <a:solidFill>
            <a:srgbClr val="FFFFFF"/>
          </a:solidFill>
          <a:ln w="12700">
            <a:solidFill>
              <a:srgbClr val="C05621"/>
            </a:solidFill>
            <a:prstDash val="solid"/>
          </a:ln>
        </p:spPr>
        <p:txBody>
          <a:bodyPr/>
          <a:lstStyle/>
          <a:p>
            <a:endParaRPr lang="en-US"/>
          </a:p>
        </p:txBody>
      </p:sp>
      <p:sp>
        <p:nvSpPr>
          <p:cNvPr id="63" name="Text 61"/>
          <p:cNvSpPr/>
          <p:nvPr/>
        </p:nvSpPr>
        <p:spPr>
          <a:xfrm>
            <a:off x="4251960" y="3159252"/>
            <a:ext cx="1426464" cy="246888"/>
          </a:xfrm>
          <a:prstGeom prst="rect">
            <a:avLst/>
          </a:prstGeom>
          <a:noFill/>
          <a:ln/>
        </p:spPr>
        <p:txBody>
          <a:bodyPr wrap="square" lIns="0" tIns="0" rIns="0" bIns="0" rtlCol="0" anchor="ctr"/>
          <a:lstStyle/>
          <a:p>
            <a:pPr marL="0" indent="0" algn="ctr">
              <a:buNone/>
            </a:pPr>
            <a:r>
              <a:rPr lang="en-US" sz="700" b="1" dirty="0">
                <a:solidFill>
                  <a:srgbClr val="C05621"/>
                </a:solidFill>
                <a:latin typeface="Calibri" pitchFamily="34" charset="0"/>
                <a:ea typeface="Calibri" pitchFamily="34" charset="-122"/>
                <a:cs typeface="Calibri" pitchFamily="34" charset="-120"/>
              </a:rPr>
              <a:t>Recording</a:t>
            </a:r>
            <a:endParaRPr lang="en-US" sz="700" dirty="0"/>
          </a:p>
          <a:p>
            <a:pPr marL="0" indent="0" algn="ctr">
              <a:buNone/>
            </a:pPr>
            <a:r>
              <a:rPr lang="en-US" sz="700" b="1" dirty="0">
                <a:solidFill>
                  <a:srgbClr val="C05621"/>
                </a:solidFill>
                <a:latin typeface="Calibri" pitchFamily="34" charset="0"/>
                <a:ea typeface="Calibri" pitchFamily="34" charset="-122"/>
                <a:cs typeface="Calibri" pitchFamily="34" charset="-120"/>
              </a:rPr>
              <a:t>support</a:t>
            </a:r>
            <a:endParaRPr lang="en-US" sz="700" dirty="0"/>
          </a:p>
        </p:txBody>
      </p:sp>
      <p:sp>
        <p:nvSpPr>
          <p:cNvPr id="64" name="Shape 62"/>
          <p:cNvSpPr/>
          <p:nvPr/>
        </p:nvSpPr>
        <p:spPr>
          <a:xfrm>
            <a:off x="8046720" y="3140964"/>
            <a:ext cx="804672" cy="283464"/>
          </a:xfrm>
          <a:prstGeom prst="roundRect">
            <a:avLst>
              <a:gd name="adj" fmla="val 16129"/>
            </a:avLst>
          </a:prstGeom>
          <a:solidFill>
            <a:srgbClr val="FFFFFF"/>
          </a:solidFill>
          <a:ln w="12700">
            <a:solidFill>
              <a:srgbClr val="C05621"/>
            </a:solidFill>
            <a:prstDash val="solid"/>
          </a:ln>
        </p:spPr>
        <p:txBody>
          <a:bodyPr/>
          <a:lstStyle/>
          <a:p>
            <a:endParaRPr lang="en-US"/>
          </a:p>
        </p:txBody>
      </p:sp>
      <p:sp>
        <p:nvSpPr>
          <p:cNvPr id="65" name="Text 63"/>
          <p:cNvSpPr/>
          <p:nvPr/>
        </p:nvSpPr>
        <p:spPr>
          <a:xfrm>
            <a:off x="8074152" y="3159252"/>
            <a:ext cx="749808" cy="246888"/>
          </a:xfrm>
          <a:prstGeom prst="rect">
            <a:avLst/>
          </a:prstGeom>
          <a:noFill/>
          <a:ln/>
        </p:spPr>
        <p:txBody>
          <a:bodyPr wrap="square" lIns="0" tIns="0" rIns="0" bIns="0" rtlCol="0" anchor="ctr"/>
          <a:lstStyle/>
          <a:p>
            <a:pPr marL="0" indent="0" algn="ctr">
              <a:buNone/>
            </a:pPr>
            <a:r>
              <a:rPr lang="en-US" sz="700" b="1" dirty="0">
                <a:solidFill>
                  <a:srgbClr val="C05621"/>
                </a:solidFill>
                <a:latin typeface="Calibri" pitchFamily="34" charset="0"/>
                <a:ea typeface="Calibri" pitchFamily="34" charset="-122"/>
                <a:cs typeface="Calibri" pitchFamily="34" charset="-120"/>
              </a:rPr>
              <a:t>Event</a:t>
            </a:r>
            <a:endParaRPr lang="en-US" sz="700" dirty="0"/>
          </a:p>
          <a:p>
            <a:pPr marL="0" indent="0" algn="ctr">
              <a:buNone/>
            </a:pPr>
            <a:r>
              <a:rPr lang="en-US" sz="700" b="1" dirty="0">
                <a:solidFill>
                  <a:srgbClr val="C05621"/>
                </a:solidFill>
                <a:latin typeface="Calibri" pitchFamily="34" charset="0"/>
                <a:ea typeface="Calibri" pitchFamily="34" charset="-122"/>
                <a:cs typeface="Calibri" pitchFamily="34" charset="-120"/>
              </a:rPr>
              <a:t>camera</a:t>
            </a:r>
            <a:endParaRPr lang="en-US" sz="700" dirty="0"/>
          </a:p>
        </p:txBody>
      </p:sp>
      <p:sp>
        <p:nvSpPr>
          <p:cNvPr id="66" name="Shape 64"/>
          <p:cNvSpPr/>
          <p:nvPr/>
        </p:nvSpPr>
        <p:spPr>
          <a:xfrm>
            <a:off x="320040" y="3511296"/>
            <a:ext cx="8577072" cy="457200"/>
          </a:xfrm>
          <a:prstGeom prst="rect">
            <a:avLst/>
          </a:prstGeom>
          <a:solidFill>
            <a:srgbClr val="FFFFFF"/>
          </a:solidFill>
          <a:ln w="12700">
            <a:solidFill>
              <a:srgbClr val="D1D5DB"/>
            </a:solidFill>
            <a:prstDash val="solid"/>
          </a:ln>
        </p:spPr>
        <p:txBody>
          <a:bodyPr/>
          <a:lstStyle/>
          <a:p>
            <a:endParaRPr lang="en-US"/>
          </a:p>
        </p:txBody>
      </p:sp>
      <p:sp>
        <p:nvSpPr>
          <p:cNvPr id="67" name="Shape 65"/>
          <p:cNvSpPr/>
          <p:nvPr/>
        </p:nvSpPr>
        <p:spPr>
          <a:xfrm>
            <a:off x="393192" y="3675888"/>
            <a:ext cx="118872" cy="118872"/>
          </a:xfrm>
          <a:prstGeom prst="ellipse">
            <a:avLst/>
          </a:prstGeom>
          <a:solidFill>
            <a:srgbClr val="1A6B3C"/>
          </a:solidFill>
          <a:ln w="12700">
            <a:solidFill>
              <a:srgbClr val="1A6B3C"/>
            </a:solidFill>
            <a:prstDash val="solid"/>
          </a:ln>
        </p:spPr>
        <p:txBody>
          <a:bodyPr/>
          <a:lstStyle/>
          <a:p>
            <a:endParaRPr lang="en-US"/>
          </a:p>
        </p:txBody>
      </p:sp>
      <p:sp>
        <p:nvSpPr>
          <p:cNvPr id="68" name="Text 66"/>
          <p:cNvSpPr/>
          <p:nvPr/>
        </p:nvSpPr>
        <p:spPr>
          <a:xfrm>
            <a:off x="557784" y="3566160"/>
            <a:ext cx="987552" cy="365760"/>
          </a:xfrm>
          <a:prstGeom prst="rect">
            <a:avLst/>
          </a:prstGeom>
          <a:noFill/>
          <a:ln/>
        </p:spPr>
        <p:txBody>
          <a:bodyPr wrap="square" lIns="0" tIns="0" rIns="0" bIns="0" rtlCol="0" anchor="ctr"/>
          <a:lstStyle/>
          <a:p>
            <a:pPr marL="0" indent="0">
              <a:buNone/>
            </a:pPr>
            <a:r>
              <a:rPr lang="en-US" sz="850" b="1" dirty="0">
                <a:solidFill>
                  <a:srgbClr val="1A6B3C"/>
                </a:solidFill>
                <a:latin typeface="Calibri" pitchFamily="34" charset="0"/>
                <a:ea typeface="Calibri" pitchFamily="34" charset="-122"/>
                <a:cs typeface="Calibri" pitchFamily="34" charset="-120"/>
              </a:rPr>
              <a:t>Marketing</a:t>
            </a:r>
            <a:endParaRPr lang="en-US" sz="850" dirty="0"/>
          </a:p>
          <a:p>
            <a:pPr marL="0" indent="0">
              <a:buNone/>
            </a:pPr>
            <a:r>
              <a:rPr lang="en-US" sz="850" b="1" dirty="0">
                <a:solidFill>
                  <a:srgbClr val="1A6B3C"/>
                </a:solidFill>
                <a:latin typeface="Calibri" pitchFamily="34" charset="0"/>
                <a:ea typeface="Calibri" pitchFamily="34" charset="-122"/>
                <a:cs typeface="Calibri" pitchFamily="34" charset="-120"/>
              </a:rPr>
              <a:t>&amp; Distrib.</a:t>
            </a:r>
            <a:endParaRPr lang="en-US" sz="850" dirty="0"/>
          </a:p>
        </p:txBody>
      </p:sp>
      <p:sp>
        <p:nvSpPr>
          <p:cNvPr id="69" name="Shape 67"/>
          <p:cNvSpPr/>
          <p:nvPr/>
        </p:nvSpPr>
        <p:spPr>
          <a:xfrm>
            <a:off x="1627632" y="3598164"/>
            <a:ext cx="1207008" cy="283464"/>
          </a:xfrm>
          <a:prstGeom prst="roundRect">
            <a:avLst>
              <a:gd name="adj" fmla="val 16129"/>
            </a:avLst>
          </a:prstGeom>
          <a:solidFill>
            <a:srgbClr val="FFFFFF"/>
          </a:solidFill>
          <a:ln w="12700">
            <a:solidFill>
              <a:srgbClr val="1A6B3C"/>
            </a:solidFill>
            <a:prstDash val="solid"/>
          </a:ln>
        </p:spPr>
        <p:txBody>
          <a:bodyPr/>
          <a:lstStyle/>
          <a:p>
            <a:endParaRPr lang="en-US"/>
          </a:p>
        </p:txBody>
      </p:sp>
      <p:sp>
        <p:nvSpPr>
          <p:cNvPr id="70" name="Text 68"/>
          <p:cNvSpPr/>
          <p:nvPr/>
        </p:nvSpPr>
        <p:spPr>
          <a:xfrm>
            <a:off x="1655064" y="3616452"/>
            <a:ext cx="1152144" cy="246888"/>
          </a:xfrm>
          <a:prstGeom prst="rect">
            <a:avLst/>
          </a:prstGeom>
          <a:noFill/>
          <a:ln/>
        </p:spPr>
        <p:txBody>
          <a:bodyPr wrap="square" lIns="0" tIns="0" rIns="0" bIns="0" rtlCol="0" anchor="ctr"/>
          <a:lstStyle/>
          <a:p>
            <a:pPr marL="0" indent="0" algn="ctr">
              <a:buNone/>
            </a:pPr>
            <a:r>
              <a:rPr lang="en-US" sz="700" b="1" dirty="0">
                <a:solidFill>
                  <a:srgbClr val="1A6B3C"/>
                </a:solidFill>
                <a:latin typeface="Calibri" pitchFamily="34" charset="0"/>
                <a:ea typeface="Calibri" pitchFamily="34" charset="-122"/>
                <a:cs typeface="Calibri" pitchFamily="34" charset="-120"/>
              </a:rPr>
              <a:t>Strategy</a:t>
            </a:r>
            <a:endParaRPr lang="en-US" sz="700" dirty="0"/>
          </a:p>
          <a:p>
            <a:pPr marL="0" indent="0" algn="ctr">
              <a:buNone/>
            </a:pPr>
            <a:r>
              <a:rPr lang="en-US" sz="700" b="1" dirty="0">
                <a:solidFill>
                  <a:srgbClr val="1A6B3C"/>
                </a:solidFill>
                <a:latin typeface="Calibri" pitchFamily="34" charset="0"/>
                <a:ea typeface="Calibri" pitchFamily="34" charset="-122"/>
                <a:cs typeface="Calibri" pitchFamily="34" charset="-120"/>
              </a:rPr>
              <a:t>+ setup</a:t>
            </a:r>
            <a:endParaRPr lang="en-US" sz="700" dirty="0"/>
          </a:p>
        </p:txBody>
      </p:sp>
      <p:sp>
        <p:nvSpPr>
          <p:cNvPr id="71" name="Shape 69"/>
          <p:cNvSpPr/>
          <p:nvPr/>
        </p:nvSpPr>
        <p:spPr>
          <a:xfrm>
            <a:off x="2926080" y="3598164"/>
            <a:ext cx="1207008" cy="283464"/>
          </a:xfrm>
          <a:prstGeom prst="roundRect">
            <a:avLst>
              <a:gd name="adj" fmla="val 16129"/>
            </a:avLst>
          </a:prstGeom>
          <a:solidFill>
            <a:srgbClr val="FFFFFF"/>
          </a:solidFill>
          <a:ln w="12700">
            <a:solidFill>
              <a:srgbClr val="1A6B3C"/>
            </a:solidFill>
            <a:prstDash val="solid"/>
          </a:ln>
        </p:spPr>
        <p:txBody>
          <a:bodyPr/>
          <a:lstStyle/>
          <a:p>
            <a:endParaRPr lang="en-US"/>
          </a:p>
        </p:txBody>
      </p:sp>
      <p:sp>
        <p:nvSpPr>
          <p:cNvPr id="72" name="Text 70"/>
          <p:cNvSpPr/>
          <p:nvPr/>
        </p:nvSpPr>
        <p:spPr>
          <a:xfrm>
            <a:off x="2953512" y="3616452"/>
            <a:ext cx="1152144" cy="246888"/>
          </a:xfrm>
          <a:prstGeom prst="rect">
            <a:avLst/>
          </a:prstGeom>
          <a:noFill/>
          <a:ln/>
        </p:spPr>
        <p:txBody>
          <a:bodyPr wrap="square" lIns="0" tIns="0" rIns="0" bIns="0" rtlCol="0" anchor="ctr"/>
          <a:lstStyle/>
          <a:p>
            <a:pPr marL="0" indent="0" algn="ctr">
              <a:buNone/>
            </a:pPr>
            <a:r>
              <a:rPr lang="en-US" sz="700" b="1" dirty="0">
                <a:solidFill>
                  <a:srgbClr val="1A6B3C"/>
                </a:solidFill>
                <a:latin typeface="Calibri" pitchFamily="34" charset="0"/>
                <a:ea typeface="Calibri" pitchFamily="34" charset="-122"/>
                <a:cs typeface="Calibri" pitchFamily="34" charset="-120"/>
              </a:rPr>
              <a:t>Content</a:t>
            </a:r>
            <a:endParaRPr lang="en-US" sz="700" dirty="0"/>
          </a:p>
          <a:p>
            <a:pPr marL="0" indent="0" algn="ctr">
              <a:buNone/>
            </a:pPr>
            <a:r>
              <a:rPr lang="en-US" sz="700" b="1" dirty="0">
                <a:solidFill>
                  <a:srgbClr val="1A6B3C"/>
                </a:solidFill>
                <a:latin typeface="Calibri" pitchFamily="34" charset="0"/>
                <a:ea typeface="Calibri" pitchFamily="34" charset="-122"/>
                <a:cs typeface="Calibri" pitchFamily="34" charset="-120"/>
              </a:rPr>
              <a:t>strategy</a:t>
            </a:r>
            <a:endParaRPr lang="en-US" sz="700" dirty="0"/>
          </a:p>
        </p:txBody>
      </p:sp>
      <p:sp>
        <p:nvSpPr>
          <p:cNvPr id="73" name="Shape 71"/>
          <p:cNvSpPr/>
          <p:nvPr/>
        </p:nvSpPr>
        <p:spPr>
          <a:xfrm>
            <a:off x="4224528" y="3598164"/>
            <a:ext cx="1481328" cy="283464"/>
          </a:xfrm>
          <a:prstGeom prst="roundRect">
            <a:avLst>
              <a:gd name="adj" fmla="val 16129"/>
            </a:avLst>
          </a:prstGeom>
          <a:solidFill>
            <a:srgbClr val="FFFFFF"/>
          </a:solidFill>
          <a:ln w="12700">
            <a:solidFill>
              <a:srgbClr val="1A6B3C"/>
            </a:solidFill>
            <a:prstDash val="solid"/>
          </a:ln>
        </p:spPr>
        <p:txBody>
          <a:bodyPr/>
          <a:lstStyle/>
          <a:p>
            <a:endParaRPr lang="en-US"/>
          </a:p>
        </p:txBody>
      </p:sp>
      <p:sp>
        <p:nvSpPr>
          <p:cNvPr id="74" name="Text 72"/>
          <p:cNvSpPr/>
          <p:nvPr/>
        </p:nvSpPr>
        <p:spPr>
          <a:xfrm>
            <a:off x="4251960" y="3616452"/>
            <a:ext cx="1426464" cy="246888"/>
          </a:xfrm>
          <a:prstGeom prst="rect">
            <a:avLst/>
          </a:prstGeom>
          <a:noFill/>
          <a:ln/>
        </p:spPr>
        <p:txBody>
          <a:bodyPr wrap="square" lIns="0" tIns="0" rIns="0" bIns="0" rtlCol="0" anchor="ctr"/>
          <a:lstStyle/>
          <a:p>
            <a:pPr marL="0" indent="0" algn="ctr">
              <a:buNone/>
            </a:pPr>
            <a:r>
              <a:rPr lang="en-US" sz="700" b="1" dirty="0">
                <a:solidFill>
                  <a:srgbClr val="1A6B3C"/>
                </a:solidFill>
                <a:latin typeface="Calibri" pitchFamily="34" charset="0"/>
                <a:ea typeface="Calibri" pitchFamily="34" charset="-122"/>
                <a:cs typeface="Calibri" pitchFamily="34" charset="-120"/>
              </a:rPr>
              <a:t>Weekly</a:t>
            </a:r>
            <a:endParaRPr lang="en-US" sz="700" dirty="0"/>
          </a:p>
          <a:p>
            <a:pPr marL="0" indent="0" algn="ctr">
              <a:buNone/>
            </a:pPr>
            <a:r>
              <a:rPr lang="en-US" sz="700" b="1" dirty="0">
                <a:solidFill>
                  <a:srgbClr val="1A6B3C"/>
                </a:solidFill>
                <a:latin typeface="Calibri" pitchFamily="34" charset="0"/>
                <a:ea typeface="Calibri" pitchFamily="34" charset="-122"/>
                <a:cs typeface="Calibri" pitchFamily="34" charset="-120"/>
              </a:rPr>
              <a:t>publishing</a:t>
            </a:r>
            <a:endParaRPr lang="en-US" sz="700" dirty="0"/>
          </a:p>
        </p:txBody>
      </p:sp>
      <p:sp>
        <p:nvSpPr>
          <p:cNvPr id="75" name="Shape 73"/>
          <p:cNvSpPr/>
          <p:nvPr/>
        </p:nvSpPr>
        <p:spPr>
          <a:xfrm>
            <a:off x="5797296" y="3598164"/>
            <a:ext cx="1170432" cy="283464"/>
          </a:xfrm>
          <a:prstGeom prst="roundRect">
            <a:avLst>
              <a:gd name="adj" fmla="val 16129"/>
            </a:avLst>
          </a:prstGeom>
          <a:solidFill>
            <a:srgbClr val="FFFFFF"/>
          </a:solidFill>
          <a:ln w="12700">
            <a:solidFill>
              <a:srgbClr val="1A6B3C"/>
            </a:solidFill>
            <a:prstDash val="solid"/>
          </a:ln>
        </p:spPr>
        <p:txBody>
          <a:bodyPr/>
          <a:lstStyle/>
          <a:p>
            <a:endParaRPr lang="en-US"/>
          </a:p>
        </p:txBody>
      </p:sp>
      <p:sp>
        <p:nvSpPr>
          <p:cNvPr id="76" name="Text 74"/>
          <p:cNvSpPr/>
          <p:nvPr/>
        </p:nvSpPr>
        <p:spPr>
          <a:xfrm>
            <a:off x="5824728" y="3616452"/>
            <a:ext cx="1115568" cy="246888"/>
          </a:xfrm>
          <a:prstGeom prst="rect">
            <a:avLst/>
          </a:prstGeom>
          <a:noFill/>
          <a:ln/>
        </p:spPr>
        <p:txBody>
          <a:bodyPr wrap="square" lIns="0" tIns="0" rIns="0" bIns="0" rtlCol="0" anchor="ctr"/>
          <a:lstStyle/>
          <a:p>
            <a:pPr marL="0" indent="0" algn="ctr">
              <a:buNone/>
            </a:pPr>
            <a:r>
              <a:rPr lang="en-US" sz="700" b="1" dirty="0">
                <a:solidFill>
                  <a:srgbClr val="1A6B3C"/>
                </a:solidFill>
                <a:latin typeface="Calibri" pitchFamily="34" charset="0"/>
                <a:ea typeface="Calibri" pitchFamily="34" charset="-122"/>
                <a:cs typeface="Calibri" pitchFamily="34" charset="-120"/>
              </a:rPr>
              <a:t>Build</a:t>
            </a:r>
            <a:endParaRPr lang="en-US" sz="700" dirty="0"/>
          </a:p>
          <a:p>
            <a:pPr marL="0" indent="0" algn="ctr">
              <a:buNone/>
            </a:pPr>
            <a:r>
              <a:rPr lang="en-US" sz="700" b="1" dirty="0">
                <a:solidFill>
                  <a:srgbClr val="1A6B3C"/>
                </a:solidFill>
                <a:latin typeface="Calibri" pitchFamily="34" charset="0"/>
                <a:ea typeface="Calibri" pitchFamily="34" charset="-122"/>
                <a:cs typeface="Calibri" pitchFamily="34" charset="-120"/>
              </a:rPr>
              <a:t>audience</a:t>
            </a:r>
            <a:endParaRPr lang="en-US" sz="700" dirty="0"/>
          </a:p>
        </p:txBody>
      </p:sp>
      <p:sp>
        <p:nvSpPr>
          <p:cNvPr id="77" name="Shape 75"/>
          <p:cNvSpPr/>
          <p:nvPr/>
        </p:nvSpPr>
        <p:spPr>
          <a:xfrm>
            <a:off x="7059168" y="3598164"/>
            <a:ext cx="896112" cy="283464"/>
          </a:xfrm>
          <a:prstGeom prst="roundRect">
            <a:avLst>
              <a:gd name="adj" fmla="val 16129"/>
            </a:avLst>
          </a:prstGeom>
          <a:solidFill>
            <a:srgbClr val="FFFFFF"/>
          </a:solidFill>
          <a:ln w="12700">
            <a:solidFill>
              <a:srgbClr val="1A6B3C"/>
            </a:solidFill>
            <a:prstDash val="solid"/>
          </a:ln>
        </p:spPr>
        <p:txBody>
          <a:bodyPr/>
          <a:lstStyle/>
          <a:p>
            <a:endParaRPr lang="en-US"/>
          </a:p>
        </p:txBody>
      </p:sp>
      <p:sp>
        <p:nvSpPr>
          <p:cNvPr id="78" name="Text 76"/>
          <p:cNvSpPr/>
          <p:nvPr/>
        </p:nvSpPr>
        <p:spPr>
          <a:xfrm>
            <a:off x="7086600" y="3616452"/>
            <a:ext cx="841248" cy="246888"/>
          </a:xfrm>
          <a:prstGeom prst="rect">
            <a:avLst/>
          </a:prstGeom>
          <a:noFill/>
          <a:ln/>
        </p:spPr>
        <p:txBody>
          <a:bodyPr wrap="square" lIns="0" tIns="0" rIns="0" bIns="0" rtlCol="0" anchor="ctr"/>
          <a:lstStyle/>
          <a:p>
            <a:pPr marL="0" indent="0" algn="ctr">
              <a:buNone/>
            </a:pPr>
            <a:r>
              <a:rPr lang="en-US" sz="700" b="1" dirty="0">
                <a:solidFill>
                  <a:srgbClr val="1A6B3C"/>
                </a:solidFill>
                <a:latin typeface="Calibri" pitchFamily="34" charset="0"/>
                <a:ea typeface="Calibri" pitchFamily="34" charset="-122"/>
                <a:cs typeface="Calibri" pitchFamily="34" charset="-120"/>
              </a:rPr>
              <a:t>Release</a:t>
            </a:r>
            <a:endParaRPr lang="en-US" sz="700" dirty="0"/>
          </a:p>
          <a:p>
            <a:pPr marL="0" indent="0" algn="ctr">
              <a:buNone/>
            </a:pPr>
            <a:r>
              <a:rPr lang="en-US" sz="700" b="1" dirty="0">
                <a:solidFill>
                  <a:srgbClr val="1A6B3C"/>
                </a:solidFill>
                <a:latin typeface="Calibri" pitchFamily="34" charset="0"/>
                <a:ea typeface="Calibri" pitchFamily="34" charset="-122"/>
                <a:cs typeface="Calibri" pitchFamily="34" charset="-120"/>
              </a:rPr>
              <a:t>launch</a:t>
            </a:r>
            <a:endParaRPr lang="en-US" sz="700" dirty="0"/>
          </a:p>
        </p:txBody>
      </p:sp>
      <p:sp>
        <p:nvSpPr>
          <p:cNvPr id="79" name="Shape 77"/>
          <p:cNvSpPr/>
          <p:nvPr/>
        </p:nvSpPr>
        <p:spPr>
          <a:xfrm>
            <a:off x="8046720" y="3598164"/>
            <a:ext cx="804672" cy="283464"/>
          </a:xfrm>
          <a:prstGeom prst="roundRect">
            <a:avLst>
              <a:gd name="adj" fmla="val 16129"/>
            </a:avLst>
          </a:prstGeom>
          <a:solidFill>
            <a:srgbClr val="FFFFFF"/>
          </a:solidFill>
          <a:ln w="12700">
            <a:solidFill>
              <a:srgbClr val="1A6B3C"/>
            </a:solidFill>
            <a:prstDash val="solid"/>
          </a:ln>
        </p:spPr>
        <p:txBody>
          <a:bodyPr/>
          <a:lstStyle/>
          <a:p>
            <a:endParaRPr lang="en-US"/>
          </a:p>
        </p:txBody>
      </p:sp>
      <p:sp>
        <p:nvSpPr>
          <p:cNvPr id="80" name="Text 78"/>
          <p:cNvSpPr/>
          <p:nvPr/>
        </p:nvSpPr>
        <p:spPr>
          <a:xfrm>
            <a:off x="8074152" y="3616452"/>
            <a:ext cx="749808" cy="246888"/>
          </a:xfrm>
          <a:prstGeom prst="rect">
            <a:avLst/>
          </a:prstGeom>
          <a:noFill/>
          <a:ln/>
        </p:spPr>
        <p:txBody>
          <a:bodyPr wrap="square" lIns="0" tIns="0" rIns="0" bIns="0" rtlCol="0" anchor="ctr"/>
          <a:lstStyle/>
          <a:p>
            <a:pPr marL="0" indent="0" algn="ctr">
              <a:buNone/>
            </a:pPr>
            <a:r>
              <a:rPr lang="en-US" sz="700" b="1" dirty="0">
                <a:solidFill>
                  <a:srgbClr val="1A6B3C"/>
                </a:solidFill>
                <a:latin typeface="Calibri" pitchFamily="34" charset="0"/>
                <a:ea typeface="Calibri" pitchFamily="34" charset="-122"/>
                <a:cs typeface="Calibri" pitchFamily="34" charset="-120"/>
              </a:rPr>
              <a:t>Event</a:t>
            </a:r>
            <a:endParaRPr lang="en-US" sz="700" dirty="0"/>
          </a:p>
          <a:p>
            <a:pPr marL="0" indent="0" algn="ctr">
              <a:buNone/>
            </a:pPr>
            <a:r>
              <a:rPr lang="en-US" sz="700" b="1" dirty="0">
                <a:solidFill>
                  <a:srgbClr val="1A6B3C"/>
                </a:solidFill>
                <a:latin typeface="Calibri" pitchFamily="34" charset="0"/>
                <a:ea typeface="Calibri" pitchFamily="34" charset="-122"/>
                <a:cs typeface="Calibri" pitchFamily="34" charset="-120"/>
              </a:rPr>
              <a:t>promo</a:t>
            </a:r>
            <a:endParaRPr lang="en-US" sz="700" dirty="0"/>
          </a:p>
        </p:txBody>
      </p:sp>
      <p:sp>
        <p:nvSpPr>
          <p:cNvPr id="81" name="Shape 79"/>
          <p:cNvSpPr/>
          <p:nvPr/>
        </p:nvSpPr>
        <p:spPr>
          <a:xfrm>
            <a:off x="8001000" y="1682496"/>
            <a:ext cx="896112" cy="2286000"/>
          </a:xfrm>
          <a:prstGeom prst="rect">
            <a:avLst/>
          </a:prstGeom>
          <a:solidFill>
            <a:srgbClr val="1A6B3C">
              <a:alpha val="12000"/>
            </a:srgbClr>
          </a:solidFill>
          <a:ln w="12700">
            <a:solidFill>
              <a:srgbClr val="1A6B3C">
                <a:alpha val="0"/>
              </a:srgbClr>
            </a:solidFill>
            <a:prstDash val="solid"/>
          </a:ln>
        </p:spPr>
        <p:txBody>
          <a:bodyPr/>
          <a:lstStyle/>
          <a:p>
            <a:endParaRPr lang="en-US"/>
          </a:p>
        </p:txBody>
      </p:sp>
      <p:sp>
        <p:nvSpPr>
          <p:cNvPr id="82" name="Shape 80"/>
          <p:cNvSpPr/>
          <p:nvPr/>
        </p:nvSpPr>
        <p:spPr>
          <a:xfrm>
            <a:off x="320040" y="4059936"/>
            <a:ext cx="8577072" cy="0"/>
          </a:xfrm>
          <a:prstGeom prst="line">
            <a:avLst/>
          </a:prstGeom>
          <a:noFill/>
          <a:ln w="12700">
            <a:solidFill>
              <a:srgbClr val="D1D5DB"/>
            </a:solidFill>
            <a:prstDash val="solid"/>
          </a:ln>
        </p:spPr>
        <p:txBody>
          <a:bodyPr/>
          <a:lstStyle/>
          <a:p>
            <a:endParaRPr lang="en-US"/>
          </a:p>
        </p:txBody>
      </p:sp>
      <p:sp>
        <p:nvSpPr>
          <p:cNvPr id="83" name="Text 81"/>
          <p:cNvSpPr/>
          <p:nvPr/>
        </p:nvSpPr>
        <p:spPr>
          <a:xfrm>
            <a:off x="320040" y="4096512"/>
            <a:ext cx="1463040" cy="201168"/>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Key Dependencies:</a:t>
            </a:r>
            <a:endParaRPr lang="en-US" sz="900" dirty="0"/>
          </a:p>
        </p:txBody>
      </p:sp>
      <p:sp>
        <p:nvSpPr>
          <p:cNvPr id="84" name="Text 82"/>
          <p:cNvSpPr/>
          <p:nvPr/>
        </p:nvSpPr>
        <p:spPr>
          <a:xfrm>
            <a:off x="1828800" y="4078224"/>
            <a:ext cx="7269480" cy="658368"/>
          </a:xfrm>
          <a:prstGeom prst="rect">
            <a:avLst/>
          </a:prstGeom>
          <a:noFill/>
          <a:ln/>
        </p:spPr>
        <p:txBody>
          <a:bodyPr wrap="square" lIns="0" tIns="0" rIns="0" bIns="0" rtlCol="0" anchor="ctr"/>
          <a:lstStyle/>
          <a:p>
            <a:pPr marL="342900" indent="-342900">
              <a:spcAft>
                <a:spcPts val="100"/>
              </a:spcAft>
              <a:buSzPct val="100000"/>
              <a:buChar char="•"/>
            </a:pPr>
            <a:r>
              <a:rPr lang="en-US" sz="850" dirty="0">
                <a:solidFill>
                  <a:srgbClr val="111111"/>
                </a:solidFill>
                <a:latin typeface="Calibri" pitchFamily="34" charset="0"/>
                <a:ea typeface="Calibri" pitchFamily="34" charset="-122"/>
                <a:cs typeface="Calibri" pitchFamily="34" charset="-120"/>
              </a:rPr>
              <a:t>File system (June M1) must exist before ANY footage is uploaded</a:t>
            </a:r>
            <a:endParaRPr lang="en-US" sz="850" dirty="0"/>
          </a:p>
          <a:p>
            <a:pPr marL="342900" indent="-342900">
              <a:spcAft>
                <a:spcPts val="100"/>
              </a:spcAft>
              <a:buSzPct val="100000"/>
              <a:buChar char="•"/>
            </a:pPr>
            <a:r>
              <a:rPr lang="en-US" sz="850" dirty="0">
                <a:solidFill>
                  <a:srgbClr val="111111"/>
                </a:solidFill>
                <a:latin typeface="Calibri" pitchFamily="34" charset="0"/>
                <a:ea typeface="Calibri" pitchFamily="34" charset="-122"/>
                <a:cs typeface="Calibri" pitchFamily="34" charset="-120"/>
              </a:rPr>
              <a:t>DOP calls (July M2) must complete before protagonist recording begins</a:t>
            </a:r>
            <a:endParaRPr lang="en-US" sz="850" dirty="0"/>
          </a:p>
          <a:p>
            <a:pPr marL="342900" indent="-342900">
              <a:spcAft>
                <a:spcPts val="100"/>
              </a:spcAft>
              <a:buSzPct val="100000"/>
              <a:buChar char="•"/>
            </a:pPr>
            <a:r>
              <a:rPr lang="en-US" sz="850" dirty="0">
                <a:solidFill>
                  <a:srgbClr val="111111"/>
                </a:solidFill>
                <a:latin typeface="Calibri" pitchFamily="34" charset="0"/>
                <a:ea typeface="Calibri" pitchFamily="34" charset="-122"/>
                <a:cs typeface="Calibri" pitchFamily="34" charset="-120"/>
              </a:rPr>
              <a:t>Protagonist selection (June) unlocks People Operations onboarding</a:t>
            </a:r>
            <a:endParaRPr lang="en-US" sz="850" dirty="0"/>
          </a:p>
          <a:p>
            <a:pPr marL="342900" indent="-342900">
              <a:spcAft>
                <a:spcPts val="100"/>
              </a:spcAft>
              <a:buSzPct val="100000"/>
              <a:buChar char="•"/>
            </a:pPr>
            <a:r>
              <a:rPr lang="en-US" sz="850" dirty="0">
                <a:solidFill>
                  <a:srgbClr val="111111"/>
                </a:solidFill>
                <a:latin typeface="Calibri" pitchFamily="34" charset="0"/>
                <a:ea typeface="Calibri" pitchFamily="34" charset="-122"/>
                <a:cs typeface="Calibri" pitchFamily="34" charset="-120"/>
              </a:rPr>
              <a:t>Content &amp; Post edit (Aug–Sep M5) depends on Story &amp; Creative paper edit completing first</a:t>
            </a:r>
            <a:endParaRPr lang="en-US" sz="850" dirty="0"/>
          </a:p>
          <a:p>
            <a:pPr marL="342900" indent="-342900">
              <a:spcAft>
                <a:spcPts val="100"/>
              </a:spcAft>
              <a:buSzPct val="100000"/>
              <a:buChar char="•"/>
            </a:pPr>
            <a:r>
              <a:rPr lang="en-US" sz="850" dirty="0">
                <a:solidFill>
                  <a:srgbClr val="111111"/>
                </a:solidFill>
                <a:latin typeface="Calibri" pitchFamily="34" charset="0"/>
                <a:ea typeface="Calibri" pitchFamily="34" charset="-122"/>
                <a:cs typeface="Calibri" pitchFamily="34" charset="-120"/>
              </a:rPr>
              <a:t>Music/Audio Design must be confirmed owner before M5 (Aug–Sep) begins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WELCOME EMAIL — FOR REVIEW AND APPROVAL BEFORE SENDING</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Welcome Email — For Approval</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Sent by Shefali to all 30 ACES members, Week 1 of June. Peer-to-peer tone — not a formal production announcement.</a:t>
            </a:r>
            <a:endParaRPr lang="en-US" sz="1100" dirty="0"/>
          </a:p>
        </p:txBody>
      </p:sp>
      <p:sp>
        <p:nvSpPr>
          <p:cNvPr id="6" name="Shape 4"/>
          <p:cNvSpPr/>
          <p:nvPr/>
        </p:nvSpPr>
        <p:spPr>
          <a:xfrm>
            <a:off x="347472" y="1280160"/>
            <a:ext cx="8430768" cy="256032"/>
          </a:xfrm>
          <a:prstGeom prst="rect">
            <a:avLst/>
          </a:prstGeom>
          <a:solidFill>
            <a:srgbClr val="F3E8FF"/>
          </a:solidFill>
          <a:ln w="12700">
            <a:solidFill>
              <a:srgbClr val="6B21A8"/>
            </a:solidFill>
            <a:prstDash val="solid"/>
          </a:ln>
        </p:spPr>
        <p:txBody>
          <a:bodyPr/>
          <a:lstStyle/>
          <a:p>
            <a:endParaRPr lang="en-US"/>
          </a:p>
        </p:txBody>
      </p:sp>
      <p:sp>
        <p:nvSpPr>
          <p:cNvPr id="7" name="Text 5"/>
          <p:cNvSpPr/>
          <p:nvPr/>
        </p:nvSpPr>
        <p:spPr>
          <a:xfrm>
            <a:off x="457200" y="1316736"/>
            <a:ext cx="8229600" cy="182880"/>
          </a:xfrm>
          <a:prstGeom prst="rect">
            <a:avLst/>
          </a:prstGeom>
          <a:noFill/>
          <a:ln/>
        </p:spPr>
        <p:txBody>
          <a:bodyPr wrap="square" lIns="0" tIns="0" rIns="0" bIns="0" rtlCol="0" anchor="ctr"/>
          <a:lstStyle/>
          <a:p>
            <a:pPr marL="0" indent="0">
              <a:buNone/>
            </a:pPr>
            <a:r>
              <a:rPr lang="en-US" sz="850" b="1" dirty="0">
                <a:solidFill>
                  <a:srgbClr val="6B21A8"/>
                </a:solidFill>
                <a:latin typeface="Calibri" pitchFamily="34" charset="0"/>
                <a:ea typeface="Calibri" pitchFamily="34" charset="-122"/>
                <a:cs typeface="Calibri" pitchFamily="34" charset="-120"/>
              </a:rPr>
              <a:t>FROM: Shefali Mody   |   TO: All 30 ACES members (BCC)   |   SUBJECT: Something we're building — and I need your help (5 min read)</a:t>
            </a:r>
            <a:endParaRPr lang="en-US" sz="850" dirty="0"/>
          </a:p>
        </p:txBody>
      </p:sp>
      <p:sp>
        <p:nvSpPr>
          <p:cNvPr id="8" name="Shape 6"/>
          <p:cNvSpPr/>
          <p:nvPr/>
        </p:nvSpPr>
        <p:spPr>
          <a:xfrm>
            <a:off x="347472" y="1554480"/>
            <a:ext cx="8430768" cy="3200400"/>
          </a:xfrm>
          <a:prstGeom prst="rect">
            <a:avLst/>
          </a:prstGeom>
          <a:solidFill>
            <a:srgbClr val="FFFFFF"/>
          </a:solidFill>
          <a:ln w="12700">
            <a:solidFill>
              <a:srgbClr val="D1D5DB"/>
            </a:solidFill>
            <a:prstDash val="solid"/>
          </a:ln>
        </p:spPr>
        <p:txBody>
          <a:bodyPr/>
          <a:lstStyle/>
          <a:p>
            <a:endParaRPr lang="en-US"/>
          </a:p>
        </p:txBody>
      </p:sp>
      <p:sp>
        <p:nvSpPr>
          <p:cNvPr id="9" name="Text 7"/>
          <p:cNvSpPr/>
          <p:nvPr/>
        </p:nvSpPr>
        <p:spPr>
          <a:xfrm>
            <a:off x="512064" y="1645920"/>
            <a:ext cx="8101584" cy="246888"/>
          </a:xfrm>
          <a:prstGeom prst="rect">
            <a:avLst/>
          </a:prstGeom>
          <a:noFill/>
          <a:ln/>
        </p:spPr>
        <p:txBody>
          <a:bodyPr wrap="square" lIns="0" tIns="0" rIns="0" bIns="0" rtlCol="0" anchor="ctr"/>
          <a:lstStyle/>
          <a:p>
            <a:pPr marL="0" indent="0">
              <a:buNone/>
            </a:pPr>
            <a:r>
              <a:rPr lang="en-US" sz="950" b="1" dirty="0">
                <a:solidFill>
                  <a:srgbClr val="111111"/>
                </a:solidFill>
                <a:latin typeface="Calibri" pitchFamily="34" charset="0"/>
                <a:ea typeface="Calibri" pitchFamily="34" charset="-122"/>
                <a:cs typeface="Calibri" pitchFamily="34" charset="-120"/>
              </a:rPr>
              <a:t>Hi [Name],</a:t>
            </a:r>
            <a:endParaRPr lang="en-US" sz="950" dirty="0"/>
          </a:p>
        </p:txBody>
      </p:sp>
      <p:sp>
        <p:nvSpPr>
          <p:cNvPr id="10" name="Text 8"/>
          <p:cNvSpPr/>
          <p:nvPr/>
        </p:nvSpPr>
        <p:spPr>
          <a:xfrm>
            <a:off x="512064" y="1883664"/>
            <a:ext cx="8101584" cy="40233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I want to tell you about something that's happening alongside this program — and to ask if you'd like to be part of it.</a:t>
            </a:r>
            <a:endParaRPr lang="en-US" sz="950" dirty="0"/>
          </a:p>
        </p:txBody>
      </p:sp>
      <p:sp>
        <p:nvSpPr>
          <p:cNvPr id="11" name="Text 9"/>
          <p:cNvSpPr/>
          <p:nvPr/>
        </p:nvSpPr>
        <p:spPr>
          <a:xfrm>
            <a:off x="512064" y="2276856"/>
            <a:ext cx="8101584" cy="55778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I'm one of you. I'm in this cohort, doing this course, trying to build something with AI that I've never built before. And somewhere in the chaos of the first week I started thinking: this story is extraordinary. And somebody should capture it.</a:t>
            </a:r>
            <a:endParaRPr lang="en-US" sz="950" dirty="0"/>
          </a:p>
        </p:txBody>
      </p:sp>
      <p:sp>
        <p:nvSpPr>
          <p:cNvPr id="12" name="Text 10"/>
          <p:cNvSpPr/>
          <p:nvPr/>
        </p:nvSpPr>
        <p:spPr>
          <a:xfrm>
            <a:off x="512064" y="2825496"/>
            <a:ext cx="8101584" cy="713232"/>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So we're making a documentary. Not a polished, corporate, 'here's-what-AI-can-do' documentary. A real one. About what it actually feels like to be a non-technical person thrown into a room with 29 strangers from around the world, all trying to learn something hard together, all secretly terrified, all somehow becoming each other's support system.</a:t>
            </a:r>
            <a:endParaRPr lang="en-US" sz="950" dirty="0"/>
          </a:p>
        </p:txBody>
      </p:sp>
      <p:sp>
        <p:nvSpPr>
          <p:cNvPr id="13" name="Text 11"/>
          <p:cNvSpPr/>
          <p:nvPr/>
        </p:nvSpPr>
        <p:spPr>
          <a:xfrm>
            <a:off x="512064" y="3406140"/>
            <a:ext cx="8101584" cy="40233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Munish Bhardwaj is directing it. He's also making a documentary for the first time — which, as you might appreciate, fits the theme perfectly.</a:t>
            </a:r>
            <a:endParaRPr lang="en-US" sz="950" dirty="0"/>
          </a:p>
        </p:txBody>
      </p:sp>
      <p:sp>
        <p:nvSpPr>
          <p:cNvPr id="14" name="Text 12"/>
          <p:cNvSpPr/>
          <p:nvPr/>
        </p:nvSpPr>
        <p:spPr>
          <a:xfrm>
            <a:off x="475488" y="3557016"/>
            <a:ext cx="8101584" cy="713232"/>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Here's what I'm asking: a short questionnaire. Nothing technical. Just honest answers about where you are and what this means to you. At the end, you can say whether you'd like to be in the documentary — and whether you'd like to be considered as one of five protagonists we follow in depth. Both completely optional.</a:t>
            </a:r>
            <a:endParaRPr lang="en-US" sz="950" dirty="0"/>
          </a:p>
        </p:txBody>
      </p:sp>
      <p:sp>
        <p:nvSpPr>
          <p:cNvPr id="15" name="Text 13"/>
          <p:cNvSpPr/>
          <p:nvPr/>
        </p:nvSpPr>
        <p:spPr>
          <a:xfrm>
            <a:off x="512064" y="4462272"/>
            <a:ext cx="8101584" cy="246888"/>
          </a:xfrm>
          <a:prstGeom prst="rect">
            <a:avLst/>
          </a:prstGeom>
          <a:noFill/>
          <a:ln/>
        </p:spPr>
        <p:txBody>
          <a:bodyPr wrap="square" lIns="0" tIns="0" rIns="0" bIns="0" rtlCol="0" anchor="ctr"/>
          <a:lstStyle/>
          <a:p>
            <a:pPr marL="0" indent="0">
              <a:buNone/>
            </a:pPr>
            <a:r>
              <a:rPr lang="en-US" sz="950" b="1" dirty="0">
                <a:solidFill>
                  <a:srgbClr val="111111"/>
                </a:solidFill>
                <a:latin typeface="Calibri" pitchFamily="34" charset="0"/>
                <a:ea typeface="Calibri" pitchFamily="34" charset="-122"/>
                <a:cs typeface="Calibri" pitchFamily="34" charset="-120"/>
              </a:rPr>
              <a:t>Takes about 15 minutes. No right answers.   [LINK TO QUESTIONNAIRE]</a:t>
            </a:r>
            <a:endParaRPr lang="en-US" sz="950" dirty="0"/>
          </a:p>
        </p:txBody>
      </p:sp>
      <p:sp>
        <p:nvSpPr>
          <p:cNvPr id="16" name="Text 14"/>
          <p:cNvSpPr/>
          <p:nvPr/>
        </p:nvSpPr>
        <p:spPr>
          <a:xfrm>
            <a:off x="512064" y="4864608"/>
            <a:ext cx="8101584" cy="246888"/>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Your answers are read by me and Munish only. You can opt out at any point, no questions asked.</a:t>
            </a:r>
            <a:endParaRPr lang="en-US" sz="950" dirty="0"/>
          </a:p>
        </p:txBody>
      </p:sp>
      <p:sp>
        <p:nvSpPr>
          <p:cNvPr id="17" name="Text 15"/>
          <p:cNvSpPr/>
          <p:nvPr/>
        </p:nvSpPr>
        <p:spPr>
          <a:xfrm>
            <a:off x="457200" y="4101084"/>
            <a:ext cx="8101584" cy="402336"/>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With warmth and mild chaos,</a:t>
            </a:r>
            <a:endParaRPr lang="en-US" sz="950" dirty="0"/>
          </a:p>
          <a:p>
            <a:pPr marL="0" indent="0">
              <a:buNone/>
            </a:pPr>
            <a:r>
              <a:rPr lang="en-US" sz="950" dirty="0">
                <a:solidFill>
                  <a:srgbClr val="111111"/>
                </a:solidFill>
                <a:latin typeface="Calibri" pitchFamily="34" charset="0"/>
                <a:ea typeface="Calibri" pitchFamily="34" charset="-122"/>
                <a:cs typeface="Calibri" pitchFamily="34" charset="-120"/>
              </a:rPr>
              <a:t>Shefali — Showrunner / Narrator / Story Producer / Project Manager, and just like you, figuring it out as she goes.</a:t>
            </a:r>
            <a:endParaRPr lang="en-US" sz="950" dirty="0"/>
          </a:p>
        </p:txBody>
      </p:sp>
      <p:sp>
        <p:nvSpPr>
          <p:cNvPr id="18" name="Shape 16"/>
          <p:cNvSpPr/>
          <p:nvPr/>
        </p:nvSpPr>
        <p:spPr>
          <a:xfrm>
            <a:off x="347472" y="4828032"/>
            <a:ext cx="8430768" cy="219456"/>
          </a:xfrm>
          <a:prstGeom prst="roundRect">
            <a:avLst>
              <a:gd name="adj" fmla="val 16667"/>
            </a:avLst>
          </a:prstGeom>
          <a:solidFill>
            <a:srgbClr val="E8EDF4"/>
          </a:solidFill>
          <a:ln w="12700">
            <a:solidFill>
              <a:srgbClr val="1A2B4A"/>
            </a:solidFill>
            <a:prstDash val="solid"/>
          </a:ln>
        </p:spPr>
        <p:txBody>
          <a:bodyPr/>
          <a:lstStyle/>
          <a:p>
            <a:endParaRPr lang="en-US"/>
          </a:p>
        </p:txBody>
      </p:sp>
      <p:sp>
        <p:nvSpPr>
          <p:cNvPr id="19" name="Text 17"/>
          <p:cNvSpPr/>
          <p:nvPr/>
        </p:nvSpPr>
        <p:spPr>
          <a:xfrm>
            <a:off x="475488" y="4864608"/>
            <a:ext cx="8229600" cy="146304"/>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ACTION REQUIRED: Munish to review and approve this email before Shefali sends. Reply with any changes.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ALL-30 QUESTIONNAIRE — FOR REVIEW AND APPROVAL BEFORE SENDING</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All-30 Questionnaire — For Approval</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Sent to all 30 ACES members with the Welcome Email. Self-completion. Includes opt-in checkbox for protagonist interest.</a:t>
            </a:r>
            <a:endParaRPr lang="en-US" sz="1100" dirty="0"/>
          </a:p>
        </p:txBody>
      </p:sp>
      <p:sp>
        <p:nvSpPr>
          <p:cNvPr id="6" name="Shape 4"/>
          <p:cNvSpPr/>
          <p:nvPr/>
        </p:nvSpPr>
        <p:spPr>
          <a:xfrm>
            <a:off x="347472" y="1280160"/>
            <a:ext cx="8229600" cy="219456"/>
          </a:xfrm>
          <a:prstGeom prst="roundRect">
            <a:avLst>
              <a:gd name="adj" fmla="val 16667"/>
            </a:avLst>
          </a:prstGeom>
          <a:solidFill>
            <a:srgbClr val="E8EDF4"/>
          </a:solidFill>
          <a:ln w="12700">
            <a:solidFill>
              <a:srgbClr val="1A2B4A"/>
            </a:solidFill>
            <a:prstDash val="solid"/>
          </a:ln>
        </p:spPr>
        <p:txBody>
          <a:bodyPr/>
          <a:lstStyle/>
          <a:p>
            <a:endParaRPr lang="en-US"/>
          </a:p>
        </p:txBody>
      </p:sp>
      <p:sp>
        <p:nvSpPr>
          <p:cNvPr id="7" name="Text 5"/>
          <p:cNvSpPr/>
          <p:nvPr/>
        </p:nvSpPr>
        <p:spPr>
          <a:xfrm>
            <a:off x="475488" y="1316736"/>
            <a:ext cx="8229600" cy="146304"/>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ACTION REQUIRED: Munish to review and approve before Shefali sends. Estimated 15 minutes for participants to complete.</a:t>
            </a:r>
            <a:endParaRPr lang="en-US" sz="900" dirty="0"/>
          </a:p>
        </p:txBody>
      </p:sp>
      <p:sp>
        <p:nvSpPr>
          <p:cNvPr id="8" name="Shape 6"/>
          <p:cNvSpPr/>
          <p:nvPr/>
        </p:nvSpPr>
        <p:spPr>
          <a:xfrm>
            <a:off x="347472" y="1554480"/>
            <a:ext cx="4069080" cy="237744"/>
          </a:xfrm>
          <a:prstGeom prst="rect">
            <a:avLst/>
          </a:prstGeom>
          <a:solidFill>
            <a:srgbClr val="1A2B4A"/>
          </a:solidFill>
          <a:ln w="12700">
            <a:solidFill>
              <a:srgbClr val="1A2B4A"/>
            </a:solidFill>
            <a:prstDash val="solid"/>
          </a:ln>
        </p:spPr>
        <p:txBody>
          <a:bodyPr/>
          <a:lstStyle/>
          <a:p>
            <a:endParaRPr lang="en-US"/>
          </a:p>
        </p:txBody>
      </p:sp>
      <p:sp>
        <p:nvSpPr>
          <p:cNvPr id="9" name="Text 7"/>
          <p:cNvSpPr/>
          <p:nvPr/>
        </p:nvSpPr>
        <p:spPr>
          <a:xfrm>
            <a:off x="420624" y="1591056"/>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A — Starting Point</a:t>
            </a:r>
            <a:endParaRPr lang="en-US" sz="900" dirty="0"/>
          </a:p>
        </p:txBody>
      </p:sp>
      <p:sp>
        <p:nvSpPr>
          <p:cNvPr id="10" name="Shape 8"/>
          <p:cNvSpPr/>
          <p:nvPr/>
        </p:nvSpPr>
        <p:spPr>
          <a:xfrm>
            <a:off x="347472" y="1792224"/>
            <a:ext cx="4069080" cy="236220"/>
          </a:xfrm>
          <a:prstGeom prst="rect">
            <a:avLst/>
          </a:prstGeom>
          <a:solidFill>
            <a:srgbClr val="FFFFFF"/>
          </a:solidFill>
          <a:ln w="12700">
            <a:solidFill>
              <a:srgbClr val="D1D5DB"/>
            </a:solidFill>
            <a:prstDash val="solid"/>
          </a:ln>
        </p:spPr>
        <p:txBody>
          <a:bodyPr/>
          <a:lstStyle/>
          <a:p>
            <a:endParaRPr lang="en-US"/>
          </a:p>
        </p:txBody>
      </p:sp>
      <p:sp>
        <p:nvSpPr>
          <p:cNvPr id="11" name="Text 9"/>
          <p:cNvSpPr/>
          <p:nvPr/>
        </p:nvSpPr>
        <p:spPr>
          <a:xfrm>
            <a:off x="438912" y="1828800"/>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1.  What is your background? (profession, industry, country)</a:t>
            </a:r>
            <a:endParaRPr lang="en-US" sz="900" dirty="0"/>
          </a:p>
        </p:txBody>
      </p:sp>
      <p:sp>
        <p:nvSpPr>
          <p:cNvPr id="12" name="Shape 10"/>
          <p:cNvSpPr/>
          <p:nvPr/>
        </p:nvSpPr>
        <p:spPr>
          <a:xfrm>
            <a:off x="347472" y="2028444"/>
            <a:ext cx="4069080" cy="236220"/>
          </a:xfrm>
          <a:prstGeom prst="rect">
            <a:avLst/>
          </a:prstGeom>
          <a:solidFill>
            <a:srgbClr val="F3F4F6"/>
          </a:solidFill>
          <a:ln w="12700">
            <a:solidFill>
              <a:srgbClr val="D1D5DB"/>
            </a:solidFill>
            <a:prstDash val="solid"/>
          </a:ln>
        </p:spPr>
        <p:txBody>
          <a:bodyPr/>
          <a:lstStyle/>
          <a:p>
            <a:endParaRPr lang="en-US"/>
          </a:p>
        </p:txBody>
      </p:sp>
      <p:sp>
        <p:nvSpPr>
          <p:cNvPr id="13" name="Text 11"/>
          <p:cNvSpPr/>
          <p:nvPr/>
        </p:nvSpPr>
        <p:spPr>
          <a:xfrm>
            <a:off x="438912" y="2065020"/>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2.  Have you ever built an app or written code before?</a:t>
            </a:r>
            <a:endParaRPr lang="en-US" sz="900" dirty="0"/>
          </a:p>
        </p:txBody>
      </p:sp>
      <p:sp>
        <p:nvSpPr>
          <p:cNvPr id="14" name="Shape 12"/>
          <p:cNvSpPr/>
          <p:nvPr/>
        </p:nvSpPr>
        <p:spPr>
          <a:xfrm>
            <a:off x="347472" y="2264664"/>
            <a:ext cx="4069080" cy="236220"/>
          </a:xfrm>
          <a:prstGeom prst="rect">
            <a:avLst/>
          </a:prstGeom>
          <a:solidFill>
            <a:srgbClr val="FFFFFF"/>
          </a:solidFill>
          <a:ln w="12700">
            <a:solidFill>
              <a:srgbClr val="D1D5DB"/>
            </a:solidFill>
            <a:prstDash val="solid"/>
          </a:ln>
        </p:spPr>
        <p:txBody>
          <a:bodyPr/>
          <a:lstStyle/>
          <a:p>
            <a:endParaRPr lang="en-US"/>
          </a:p>
        </p:txBody>
      </p:sp>
      <p:sp>
        <p:nvSpPr>
          <p:cNvPr id="15" name="Text 13"/>
          <p:cNvSpPr/>
          <p:nvPr/>
        </p:nvSpPr>
        <p:spPr>
          <a:xfrm>
            <a:off x="438912" y="2301240"/>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3.  On a scale of 1–10, how technical do you consider yourself?</a:t>
            </a:r>
            <a:endParaRPr lang="en-US" sz="900" dirty="0"/>
          </a:p>
        </p:txBody>
      </p:sp>
      <p:sp>
        <p:nvSpPr>
          <p:cNvPr id="16" name="Shape 14"/>
          <p:cNvSpPr/>
          <p:nvPr/>
        </p:nvSpPr>
        <p:spPr>
          <a:xfrm>
            <a:off x="347472" y="2500884"/>
            <a:ext cx="4069080" cy="236220"/>
          </a:xfrm>
          <a:prstGeom prst="rect">
            <a:avLst/>
          </a:prstGeom>
          <a:solidFill>
            <a:srgbClr val="F3F4F6"/>
          </a:solidFill>
          <a:ln w="12700">
            <a:solidFill>
              <a:srgbClr val="D1D5DB"/>
            </a:solidFill>
            <a:prstDash val="solid"/>
          </a:ln>
        </p:spPr>
        <p:txBody>
          <a:bodyPr/>
          <a:lstStyle/>
          <a:p>
            <a:endParaRPr lang="en-US"/>
          </a:p>
        </p:txBody>
      </p:sp>
      <p:sp>
        <p:nvSpPr>
          <p:cNvPr id="17" name="Text 15"/>
          <p:cNvSpPr/>
          <p:nvPr/>
        </p:nvSpPr>
        <p:spPr>
          <a:xfrm>
            <a:off x="438912" y="2537460"/>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4.  What made you join the 100X program?</a:t>
            </a:r>
            <a:endParaRPr lang="en-US" sz="900" dirty="0"/>
          </a:p>
        </p:txBody>
      </p:sp>
      <p:sp>
        <p:nvSpPr>
          <p:cNvPr id="18" name="Shape 16"/>
          <p:cNvSpPr/>
          <p:nvPr/>
        </p:nvSpPr>
        <p:spPr>
          <a:xfrm>
            <a:off x="347472" y="2737104"/>
            <a:ext cx="4069080" cy="237744"/>
          </a:xfrm>
          <a:prstGeom prst="rect">
            <a:avLst/>
          </a:prstGeom>
          <a:solidFill>
            <a:srgbClr val="6B21A8"/>
          </a:solidFill>
          <a:ln w="12700">
            <a:solidFill>
              <a:srgbClr val="6B21A8"/>
            </a:solidFill>
            <a:prstDash val="solid"/>
          </a:ln>
        </p:spPr>
        <p:txBody>
          <a:bodyPr/>
          <a:lstStyle/>
          <a:p>
            <a:endParaRPr lang="en-US"/>
          </a:p>
        </p:txBody>
      </p:sp>
      <p:sp>
        <p:nvSpPr>
          <p:cNvPr id="19" name="Text 17"/>
          <p:cNvSpPr/>
          <p:nvPr/>
        </p:nvSpPr>
        <p:spPr>
          <a:xfrm>
            <a:off x="420624" y="2773680"/>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B — Your Why</a:t>
            </a:r>
            <a:endParaRPr lang="en-US" sz="900" dirty="0"/>
          </a:p>
        </p:txBody>
      </p:sp>
      <p:sp>
        <p:nvSpPr>
          <p:cNvPr id="20" name="Shape 18"/>
          <p:cNvSpPr/>
          <p:nvPr/>
        </p:nvSpPr>
        <p:spPr>
          <a:xfrm>
            <a:off x="347472" y="2974848"/>
            <a:ext cx="4069080" cy="236220"/>
          </a:xfrm>
          <a:prstGeom prst="rect">
            <a:avLst/>
          </a:prstGeom>
          <a:solidFill>
            <a:srgbClr val="FFFFFF"/>
          </a:solidFill>
          <a:ln w="12700">
            <a:solidFill>
              <a:srgbClr val="D1D5DB"/>
            </a:solidFill>
            <a:prstDash val="solid"/>
          </a:ln>
        </p:spPr>
        <p:txBody>
          <a:bodyPr/>
          <a:lstStyle/>
          <a:p>
            <a:endParaRPr lang="en-US"/>
          </a:p>
        </p:txBody>
      </p:sp>
      <p:sp>
        <p:nvSpPr>
          <p:cNvPr id="21" name="Text 19"/>
          <p:cNvSpPr/>
          <p:nvPr/>
        </p:nvSpPr>
        <p:spPr>
          <a:xfrm>
            <a:off x="438912" y="3011424"/>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1.  What app are you trying to build, and why does it matter to you?</a:t>
            </a:r>
            <a:endParaRPr lang="en-US" sz="900" dirty="0"/>
          </a:p>
        </p:txBody>
      </p:sp>
      <p:sp>
        <p:nvSpPr>
          <p:cNvPr id="22" name="Shape 20"/>
          <p:cNvSpPr/>
          <p:nvPr/>
        </p:nvSpPr>
        <p:spPr>
          <a:xfrm>
            <a:off x="347472" y="3211068"/>
            <a:ext cx="4069080" cy="236220"/>
          </a:xfrm>
          <a:prstGeom prst="rect">
            <a:avLst/>
          </a:prstGeom>
          <a:solidFill>
            <a:srgbClr val="F3F4F6"/>
          </a:solidFill>
          <a:ln w="12700">
            <a:solidFill>
              <a:srgbClr val="D1D5DB"/>
            </a:solidFill>
            <a:prstDash val="solid"/>
          </a:ln>
        </p:spPr>
        <p:txBody>
          <a:bodyPr/>
          <a:lstStyle/>
          <a:p>
            <a:endParaRPr lang="en-US"/>
          </a:p>
        </p:txBody>
      </p:sp>
      <p:sp>
        <p:nvSpPr>
          <p:cNvPr id="23" name="Text 21"/>
          <p:cNvSpPr/>
          <p:nvPr/>
        </p:nvSpPr>
        <p:spPr>
          <a:xfrm>
            <a:off x="438912" y="3247644"/>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2.  What is the thing you are most afraid of in this process?</a:t>
            </a:r>
            <a:endParaRPr lang="en-US" sz="900" dirty="0"/>
          </a:p>
        </p:txBody>
      </p:sp>
      <p:sp>
        <p:nvSpPr>
          <p:cNvPr id="24" name="Shape 22"/>
          <p:cNvSpPr/>
          <p:nvPr/>
        </p:nvSpPr>
        <p:spPr>
          <a:xfrm>
            <a:off x="347472" y="3447288"/>
            <a:ext cx="4069080" cy="236220"/>
          </a:xfrm>
          <a:prstGeom prst="rect">
            <a:avLst/>
          </a:prstGeom>
          <a:solidFill>
            <a:srgbClr val="FFFFFF"/>
          </a:solidFill>
          <a:ln w="12700">
            <a:solidFill>
              <a:srgbClr val="D1D5DB"/>
            </a:solidFill>
            <a:prstDash val="solid"/>
          </a:ln>
        </p:spPr>
        <p:txBody>
          <a:bodyPr/>
          <a:lstStyle/>
          <a:p>
            <a:endParaRPr lang="en-US"/>
          </a:p>
        </p:txBody>
      </p:sp>
      <p:sp>
        <p:nvSpPr>
          <p:cNvPr id="25" name="Text 23"/>
          <p:cNvSpPr/>
          <p:nvPr/>
        </p:nvSpPr>
        <p:spPr>
          <a:xfrm>
            <a:off x="438912" y="3483864"/>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3.  What would it mean to you if this actually worked?</a:t>
            </a:r>
            <a:endParaRPr lang="en-US" sz="900" dirty="0"/>
          </a:p>
        </p:txBody>
      </p:sp>
      <p:sp>
        <p:nvSpPr>
          <p:cNvPr id="26" name="Shape 24"/>
          <p:cNvSpPr/>
          <p:nvPr/>
        </p:nvSpPr>
        <p:spPr>
          <a:xfrm>
            <a:off x="347472" y="3683508"/>
            <a:ext cx="4069080" cy="236220"/>
          </a:xfrm>
          <a:prstGeom prst="rect">
            <a:avLst/>
          </a:prstGeom>
          <a:solidFill>
            <a:srgbClr val="F3F4F6"/>
          </a:solidFill>
          <a:ln w="12700">
            <a:solidFill>
              <a:srgbClr val="D1D5DB"/>
            </a:solidFill>
            <a:prstDash val="solid"/>
          </a:ln>
        </p:spPr>
        <p:txBody>
          <a:bodyPr/>
          <a:lstStyle/>
          <a:p>
            <a:endParaRPr lang="en-US"/>
          </a:p>
        </p:txBody>
      </p:sp>
      <p:sp>
        <p:nvSpPr>
          <p:cNvPr id="27" name="Text 25"/>
          <p:cNvSpPr/>
          <p:nvPr/>
        </p:nvSpPr>
        <p:spPr>
          <a:xfrm>
            <a:off x="438912" y="3720084"/>
            <a:ext cx="3941064" cy="1813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4.  What does 'success' look like for you personally at the end of this?</a:t>
            </a:r>
            <a:endParaRPr lang="en-US" sz="900" dirty="0"/>
          </a:p>
        </p:txBody>
      </p:sp>
      <p:sp>
        <p:nvSpPr>
          <p:cNvPr id="28" name="Shape 26"/>
          <p:cNvSpPr/>
          <p:nvPr/>
        </p:nvSpPr>
        <p:spPr>
          <a:xfrm>
            <a:off x="347472" y="3919728"/>
            <a:ext cx="4069080" cy="237744"/>
          </a:xfrm>
          <a:prstGeom prst="rect">
            <a:avLst/>
          </a:prstGeom>
          <a:solidFill>
            <a:srgbClr val="0D7377"/>
          </a:solidFill>
          <a:ln w="12700">
            <a:solidFill>
              <a:srgbClr val="0D7377"/>
            </a:solidFill>
            <a:prstDash val="solid"/>
          </a:ln>
        </p:spPr>
        <p:txBody>
          <a:bodyPr/>
          <a:lstStyle/>
          <a:p>
            <a:endParaRPr lang="en-US"/>
          </a:p>
        </p:txBody>
      </p:sp>
      <p:sp>
        <p:nvSpPr>
          <p:cNvPr id="29" name="Text 27"/>
          <p:cNvSpPr/>
          <p:nvPr/>
        </p:nvSpPr>
        <p:spPr>
          <a:xfrm>
            <a:off x="420624" y="3956304"/>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C — Your Story</a:t>
            </a:r>
            <a:endParaRPr lang="en-US" sz="900" dirty="0"/>
          </a:p>
        </p:txBody>
      </p:sp>
      <p:sp>
        <p:nvSpPr>
          <p:cNvPr id="30" name="Shape 28"/>
          <p:cNvSpPr/>
          <p:nvPr/>
        </p:nvSpPr>
        <p:spPr>
          <a:xfrm>
            <a:off x="347472" y="4157472"/>
            <a:ext cx="4069080" cy="314960"/>
          </a:xfrm>
          <a:prstGeom prst="rect">
            <a:avLst/>
          </a:prstGeom>
          <a:solidFill>
            <a:srgbClr val="FFFFFF"/>
          </a:solidFill>
          <a:ln w="12700">
            <a:solidFill>
              <a:srgbClr val="D1D5DB"/>
            </a:solidFill>
            <a:prstDash val="solid"/>
          </a:ln>
        </p:spPr>
        <p:txBody>
          <a:bodyPr/>
          <a:lstStyle/>
          <a:p>
            <a:endParaRPr lang="en-US"/>
          </a:p>
        </p:txBody>
      </p:sp>
      <p:sp>
        <p:nvSpPr>
          <p:cNvPr id="31" name="Text 29"/>
          <p:cNvSpPr/>
          <p:nvPr/>
        </p:nvSpPr>
        <p:spPr>
          <a:xfrm>
            <a:off x="438912" y="4194048"/>
            <a:ext cx="3941064" cy="26009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1.  Is there a moment — in life or work — that led you here? Describe it.</a:t>
            </a:r>
            <a:endParaRPr lang="en-US" sz="900" dirty="0"/>
          </a:p>
        </p:txBody>
      </p:sp>
      <p:sp>
        <p:nvSpPr>
          <p:cNvPr id="32" name="Shape 30"/>
          <p:cNvSpPr/>
          <p:nvPr/>
        </p:nvSpPr>
        <p:spPr>
          <a:xfrm>
            <a:off x="347472" y="4472432"/>
            <a:ext cx="4069080" cy="314960"/>
          </a:xfrm>
          <a:prstGeom prst="rect">
            <a:avLst/>
          </a:prstGeom>
          <a:solidFill>
            <a:srgbClr val="F3F4F6"/>
          </a:solidFill>
          <a:ln w="12700">
            <a:solidFill>
              <a:srgbClr val="D1D5DB"/>
            </a:solidFill>
            <a:prstDash val="solid"/>
          </a:ln>
        </p:spPr>
        <p:txBody>
          <a:bodyPr/>
          <a:lstStyle/>
          <a:p>
            <a:endParaRPr lang="en-US"/>
          </a:p>
        </p:txBody>
      </p:sp>
      <p:sp>
        <p:nvSpPr>
          <p:cNvPr id="33" name="Text 31"/>
          <p:cNvSpPr/>
          <p:nvPr/>
        </p:nvSpPr>
        <p:spPr>
          <a:xfrm>
            <a:off x="438912" y="4509008"/>
            <a:ext cx="3941064" cy="26009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2.  What have you tried to build or create before that didn't work? What happened?</a:t>
            </a:r>
            <a:endParaRPr lang="en-US" sz="900" dirty="0"/>
          </a:p>
        </p:txBody>
      </p:sp>
      <p:sp>
        <p:nvSpPr>
          <p:cNvPr id="34" name="Shape 32"/>
          <p:cNvSpPr/>
          <p:nvPr/>
        </p:nvSpPr>
        <p:spPr>
          <a:xfrm>
            <a:off x="347472" y="4787392"/>
            <a:ext cx="4069080" cy="314960"/>
          </a:xfrm>
          <a:prstGeom prst="rect">
            <a:avLst/>
          </a:prstGeom>
          <a:solidFill>
            <a:srgbClr val="FFFFFF"/>
          </a:solidFill>
          <a:ln w="12700">
            <a:solidFill>
              <a:srgbClr val="D1D5DB"/>
            </a:solidFill>
            <a:prstDash val="solid"/>
          </a:ln>
        </p:spPr>
        <p:txBody>
          <a:bodyPr/>
          <a:lstStyle/>
          <a:p>
            <a:endParaRPr lang="en-US"/>
          </a:p>
        </p:txBody>
      </p:sp>
      <p:sp>
        <p:nvSpPr>
          <p:cNvPr id="35" name="Text 33"/>
          <p:cNvSpPr/>
          <p:nvPr/>
        </p:nvSpPr>
        <p:spPr>
          <a:xfrm>
            <a:off x="438912" y="4823968"/>
            <a:ext cx="3941064" cy="26009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3.  What do the people closest to you think about what you're doing?</a:t>
            </a:r>
            <a:endParaRPr lang="en-US" sz="900" dirty="0"/>
          </a:p>
        </p:txBody>
      </p:sp>
      <p:sp>
        <p:nvSpPr>
          <p:cNvPr id="36" name="Shape 34"/>
          <p:cNvSpPr/>
          <p:nvPr/>
        </p:nvSpPr>
        <p:spPr>
          <a:xfrm>
            <a:off x="4507992" y="1554480"/>
            <a:ext cx="4069080" cy="237744"/>
          </a:xfrm>
          <a:prstGeom prst="rect">
            <a:avLst/>
          </a:prstGeom>
          <a:solidFill>
            <a:srgbClr val="C05621"/>
          </a:solidFill>
          <a:ln w="12700">
            <a:solidFill>
              <a:srgbClr val="C05621"/>
            </a:solidFill>
            <a:prstDash val="solid"/>
          </a:ln>
        </p:spPr>
        <p:txBody>
          <a:bodyPr/>
          <a:lstStyle/>
          <a:p>
            <a:endParaRPr lang="en-US"/>
          </a:p>
        </p:txBody>
      </p:sp>
      <p:sp>
        <p:nvSpPr>
          <p:cNvPr id="37" name="Text 35"/>
          <p:cNvSpPr/>
          <p:nvPr/>
        </p:nvSpPr>
        <p:spPr>
          <a:xfrm>
            <a:off x="4581144" y="1591056"/>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D — Hardware &amp; Filming Logistics</a:t>
            </a:r>
            <a:endParaRPr lang="en-US" sz="900" dirty="0"/>
          </a:p>
        </p:txBody>
      </p:sp>
      <p:sp>
        <p:nvSpPr>
          <p:cNvPr id="38" name="Shape 36"/>
          <p:cNvSpPr/>
          <p:nvPr/>
        </p:nvSpPr>
        <p:spPr>
          <a:xfrm>
            <a:off x="4507992" y="1792224"/>
            <a:ext cx="4069080" cy="401787"/>
          </a:xfrm>
          <a:prstGeom prst="rect">
            <a:avLst/>
          </a:prstGeom>
          <a:solidFill>
            <a:srgbClr val="FFFFFF"/>
          </a:solidFill>
          <a:ln w="12700">
            <a:solidFill>
              <a:srgbClr val="D1D5DB"/>
            </a:solidFill>
            <a:prstDash val="solid"/>
          </a:ln>
        </p:spPr>
        <p:txBody>
          <a:bodyPr/>
          <a:lstStyle/>
          <a:p>
            <a:endParaRPr lang="en-US"/>
          </a:p>
        </p:txBody>
      </p:sp>
      <p:sp>
        <p:nvSpPr>
          <p:cNvPr id="39" name="Text 37"/>
          <p:cNvSpPr/>
          <p:nvPr/>
        </p:nvSpPr>
        <p:spPr>
          <a:xfrm>
            <a:off x="4599432" y="1828800"/>
            <a:ext cx="3941064" cy="346923"/>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1.  What device do you work on most? (laptop/desktop/tablet — model if you know it)</a:t>
            </a:r>
            <a:endParaRPr lang="en-US" sz="900" dirty="0"/>
          </a:p>
        </p:txBody>
      </p:sp>
      <p:sp>
        <p:nvSpPr>
          <p:cNvPr id="40" name="Shape 38"/>
          <p:cNvSpPr/>
          <p:nvPr/>
        </p:nvSpPr>
        <p:spPr>
          <a:xfrm>
            <a:off x="4507992" y="2194011"/>
            <a:ext cx="4069080" cy="401787"/>
          </a:xfrm>
          <a:prstGeom prst="rect">
            <a:avLst/>
          </a:prstGeom>
          <a:solidFill>
            <a:srgbClr val="F3F4F6"/>
          </a:solidFill>
          <a:ln w="12700">
            <a:solidFill>
              <a:srgbClr val="D1D5DB"/>
            </a:solidFill>
            <a:prstDash val="solid"/>
          </a:ln>
        </p:spPr>
        <p:txBody>
          <a:bodyPr/>
          <a:lstStyle/>
          <a:p>
            <a:endParaRPr lang="en-US"/>
          </a:p>
        </p:txBody>
      </p:sp>
      <p:sp>
        <p:nvSpPr>
          <p:cNvPr id="41" name="Text 39"/>
          <p:cNvSpPr/>
          <p:nvPr/>
        </p:nvSpPr>
        <p:spPr>
          <a:xfrm>
            <a:off x="4599432" y="2230587"/>
            <a:ext cx="3941064" cy="346923"/>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2.  Do you have a decent webcam or external camera available?</a:t>
            </a:r>
            <a:endParaRPr lang="en-US" sz="900" dirty="0"/>
          </a:p>
        </p:txBody>
      </p:sp>
      <p:sp>
        <p:nvSpPr>
          <p:cNvPr id="42" name="Shape 40"/>
          <p:cNvSpPr/>
          <p:nvPr/>
        </p:nvSpPr>
        <p:spPr>
          <a:xfrm>
            <a:off x="4507992" y="2595799"/>
            <a:ext cx="4069080" cy="401787"/>
          </a:xfrm>
          <a:prstGeom prst="rect">
            <a:avLst/>
          </a:prstGeom>
          <a:solidFill>
            <a:srgbClr val="FFFFFF"/>
          </a:solidFill>
          <a:ln w="12700">
            <a:solidFill>
              <a:srgbClr val="D1D5DB"/>
            </a:solidFill>
            <a:prstDash val="solid"/>
          </a:ln>
        </p:spPr>
        <p:txBody>
          <a:bodyPr/>
          <a:lstStyle/>
          <a:p>
            <a:endParaRPr lang="en-US"/>
          </a:p>
        </p:txBody>
      </p:sp>
      <p:sp>
        <p:nvSpPr>
          <p:cNvPr id="43" name="Text 41"/>
          <p:cNvSpPr/>
          <p:nvPr/>
        </p:nvSpPr>
        <p:spPr>
          <a:xfrm>
            <a:off x="4599432" y="2632375"/>
            <a:ext cx="3941064" cy="346923"/>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3.  Are you comfortable recording short clips of yourself working? (screen + face)</a:t>
            </a:r>
            <a:endParaRPr lang="en-US" sz="900" dirty="0"/>
          </a:p>
        </p:txBody>
      </p:sp>
      <p:sp>
        <p:nvSpPr>
          <p:cNvPr id="44" name="Shape 42"/>
          <p:cNvSpPr/>
          <p:nvPr/>
        </p:nvSpPr>
        <p:spPr>
          <a:xfrm>
            <a:off x="4507992" y="2997586"/>
            <a:ext cx="4069080" cy="401787"/>
          </a:xfrm>
          <a:prstGeom prst="rect">
            <a:avLst/>
          </a:prstGeom>
          <a:solidFill>
            <a:srgbClr val="F3F4F6"/>
          </a:solidFill>
          <a:ln w="12700">
            <a:solidFill>
              <a:srgbClr val="D1D5DB"/>
            </a:solidFill>
            <a:prstDash val="solid"/>
          </a:ln>
        </p:spPr>
        <p:txBody>
          <a:bodyPr/>
          <a:lstStyle/>
          <a:p>
            <a:endParaRPr lang="en-US"/>
          </a:p>
        </p:txBody>
      </p:sp>
      <p:sp>
        <p:nvSpPr>
          <p:cNvPr id="45" name="Text 43"/>
          <p:cNvSpPr/>
          <p:nvPr/>
        </p:nvSpPr>
        <p:spPr>
          <a:xfrm>
            <a:off x="4599432" y="3034162"/>
            <a:ext cx="3941064" cy="346923"/>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4.  What is your available filming environment? (home office, café, shared space, other)</a:t>
            </a:r>
            <a:endParaRPr lang="en-US" sz="900" dirty="0"/>
          </a:p>
        </p:txBody>
      </p:sp>
      <p:sp>
        <p:nvSpPr>
          <p:cNvPr id="46" name="Shape 44"/>
          <p:cNvSpPr/>
          <p:nvPr/>
        </p:nvSpPr>
        <p:spPr>
          <a:xfrm>
            <a:off x="4507992" y="3399373"/>
            <a:ext cx="4069080" cy="237744"/>
          </a:xfrm>
          <a:prstGeom prst="rect">
            <a:avLst/>
          </a:prstGeom>
          <a:solidFill>
            <a:srgbClr val="1A6B3C"/>
          </a:solidFill>
          <a:ln w="12700">
            <a:solidFill>
              <a:srgbClr val="1A6B3C"/>
            </a:solidFill>
            <a:prstDash val="solid"/>
          </a:ln>
        </p:spPr>
        <p:txBody>
          <a:bodyPr/>
          <a:lstStyle/>
          <a:p>
            <a:endParaRPr lang="en-US"/>
          </a:p>
        </p:txBody>
      </p:sp>
      <p:sp>
        <p:nvSpPr>
          <p:cNvPr id="47" name="Text 45"/>
          <p:cNvSpPr/>
          <p:nvPr/>
        </p:nvSpPr>
        <p:spPr>
          <a:xfrm>
            <a:off x="4581144" y="3435949"/>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PART E — Documentary Opt-In</a:t>
            </a:r>
            <a:endParaRPr lang="en-US" sz="900" dirty="0"/>
          </a:p>
        </p:txBody>
      </p:sp>
      <p:sp>
        <p:nvSpPr>
          <p:cNvPr id="48" name="Shape 46"/>
          <p:cNvSpPr/>
          <p:nvPr/>
        </p:nvSpPr>
        <p:spPr>
          <a:xfrm>
            <a:off x="4507992" y="3637117"/>
            <a:ext cx="4069080" cy="488412"/>
          </a:xfrm>
          <a:prstGeom prst="rect">
            <a:avLst/>
          </a:prstGeom>
          <a:solidFill>
            <a:srgbClr val="FFFFFF"/>
          </a:solidFill>
          <a:ln w="12700">
            <a:solidFill>
              <a:srgbClr val="D1D5DB"/>
            </a:solidFill>
            <a:prstDash val="solid"/>
          </a:ln>
        </p:spPr>
        <p:txBody>
          <a:bodyPr/>
          <a:lstStyle/>
          <a:p>
            <a:endParaRPr lang="en-US"/>
          </a:p>
        </p:txBody>
      </p:sp>
      <p:sp>
        <p:nvSpPr>
          <p:cNvPr id="49" name="Text 47"/>
          <p:cNvSpPr/>
          <p:nvPr/>
        </p:nvSpPr>
        <p:spPr>
          <a:xfrm>
            <a:off x="4599432" y="3673693"/>
            <a:ext cx="3941064" cy="433548"/>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1.  ☐  I am happy for my responses to be used as background context for the documentary.</a:t>
            </a:r>
            <a:endParaRPr lang="en-US" sz="900" dirty="0"/>
          </a:p>
        </p:txBody>
      </p:sp>
      <p:sp>
        <p:nvSpPr>
          <p:cNvPr id="50" name="Shape 48"/>
          <p:cNvSpPr/>
          <p:nvPr/>
        </p:nvSpPr>
        <p:spPr>
          <a:xfrm>
            <a:off x="4507992" y="4125529"/>
            <a:ext cx="4069080" cy="488412"/>
          </a:xfrm>
          <a:prstGeom prst="rect">
            <a:avLst/>
          </a:prstGeom>
          <a:solidFill>
            <a:srgbClr val="F3F4F6"/>
          </a:solidFill>
          <a:ln w="12700">
            <a:solidFill>
              <a:srgbClr val="D1D5DB"/>
            </a:solidFill>
            <a:prstDash val="solid"/>
          </a:ln>
        </p:spPr>
        <p:txBody>
          <a:bodyPr/>
          <a:lstStyle/>
          <a:p>
            <a:endParaRPr lang="en-US"/>
          </a:p>
        </p:txBody>
      </p:sp>
      <p:sp>
        <p:nvSpPr>
          <p:cNvPr id="51" name="Text 49"/>
          <p:cNvSpPr/>
          <p:nvPr/>
        </p:nvSpPr>
        <p:spPr>
          <a:xfrm>
            <a:off x="4599432" y="4162105"/>
            <a:ext cx="3941064" cy="433548"/>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2.  ☐  I would like to be considered as one of five protagonists followed in depth.</a:t>
            </a:r>
            <a:endParaRPr lang="en-US" sz="900" dirty="0"/>
          </a:p>
          <a:p>
            <a:pPr marL="0" indent="0">
              <a:buNone/>
            </a:pPr>
            <a:r>
              <a:rPr lang="en-US" sz="900" dirty="0">
                <a:solidFill>
                  <a:srgbClr val="111111"/>
                </a:solidFill>
                <a:latin typeface="Calibri" pitchFamily="34" charset="0"/>
                <a:ea typeface="Calibri" pitchFamily="34" charset="-122"/>
                <a:cs typeface="Calibri" pitchFamily="34" charset="-120"/>
              </a:rPr>
              <a:t>     (This means regular filming, Zoom interviews, and sharing your journey in real time.)</a:t>
            </a:r>
            <a:endParaRPr lang="en-US" sz="900" dirty="0"/>
          </a:p>
        </p:txBody>
      </p:sp>
      <p:sp>
        <p:nvSpPr>
          <p:cNvPr id="52" name="Shape 50"/>
          <p:cNvSpPr/>
          <p:nvPr/>
        </p:nvSpPr>
        <p:spPr>
          <a:xfrm>
            <a:off x="4507992" y="4613940"/>
            <a:ext cx="4069080" cy="488412"/>
          </a:xfrm>
          <a:prstGeom prst="rect">
            <a:avLst/>
          </a:prstGeom>
          <a:solidFill>
            <a:srgbClr val="FFFFFF"/>
          </a:solidFill>
          <a:ln w="12700">
            <a:solidFill>
              <a:srgbClr val="D1D5DB"/>
            </a:solidFill>
            <a:prstDash val="solid"/>
          </a:ln>
        </p:spPr>
        <p:txBody>
          <a:bodyPr/>
          <a:lstStyle/>
          <a:p>
            <a:endParaRPr lang="en-US"/>
          </a:p>
        </p:txBody>
      </p:sp>
      <p:sp>
        <p:nvSpPr>
          <p:cNvPr id="53" name="Text 51"/>
          <p:cNvSpPr/>
          <p:nvPr/>
        </p:nvSpPr>
        <p:spPr>
          <a:xfrm>
            <a:off x="4599432" y="4650516"/>
            <a:ext cx="3941064" cy="433548"/>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3.  ☐  I do NOT wish to participate beyond this questionnaire. (No further contact.)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PROTAGONIST SELECTION RUBRIC  —  COMPLETED  |  SHEFALI + MUNISH</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Protagonist Selection Rubric</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Used after questionnaire responses are in. Shefali and Munish score each respondent independently, then compare. Target shortlist: 8–10 candidates.</a:t>
            </a:r>
            <a:endParaRPr lang="en-US" sz="1100" dirty="0"/>
          </a:p>
        </p:txBody>
      </p:sp>
      <p:sp>
        <p:nvSpPr>
          <p:cNvPr id="6" name="Shape 4"/>
          <p:cNvSpPr/>
          <p:nvPr/>
        </p:nvSpPr>
        <p:spPr>
          <a:xfrm>
            <a:off x="347472" y="1280160"/>
            <a:ext cx="8229600" cy="219456"/>
          </a:xfrm>
          <a:prstGeom prst="roundRect">
            <a:avLst>
              <a:gd name="adj" fmla="val 16667"/>
            </a:avLst>
          </a:prstGeom>
          <a:solidFill>
            <a:srgbClr val="E6F4ED"/>
          </a:solidFill>
          <a:ln w="12700">
            <a:solidFill>
              <a:srgbClr val="1A6B3C"/>
            </a:solidFill>
            <a:prstDash val="solid"/>
          </a:ln>
        </p:spPr>
        <p:txBody>
          <a:bodyPr/>
          <a:lstStyle/>
          <a:p>
            <a:endParaRPr lang="en-US"/>
          </a:p>
        </p:txBody>
      </p:sp>
      <p:sp>
        <p:nvSpPr>
          <p:cNvPr id="7" name="Text 5"/>
          <p:cNvSpPr/>
          <p:nvPr/>
        </p:nvSpPr>
        <p:spPr>
          <a:xfrm>
            <a:off x="475488" y="1316736"/>
            <a:ext cx="8229600" cy="146304"/>
          </a:xfrm>
          <a:prstGeom prst="rect">
            <a:avLst/>
          </a:prstGeom>
          <a:noFill/>
          <a:ln/>
        </p:spPr>
        <p:txBody>
          <a:bodyPr wrap="square" lIns="0" tIns="0" rIns="0" bIns="0" rtlCol="0" anchor="ctr"/>
          <a:lstStyle/>
          <a:p>
            <a:pPr marL="0" indent="0">
              <a:buNone/>
            </a:pPr>
            <a:r>
              <a:rPr lang="en-US" sz="900" b="1" dirty="0">
                <a:solidFill>
                  <a:srgbClr val="1A6B3C"/>
                </a:solidFill>
                <a:latin typeface="Calibri" pitchFamily="34" charset="0"/>
                <a:ea typeface="Calibri" pitchFamily="34" charset="-122"/>
                <a:cs typeface="Calibri" pitchFamily="34" charset="-120"/>
              </a:rPr>
              <a:t>✓  DONE — Rubric created and distributed. Apply when questionnaire responses are in (M1 Week 2).</a:t>
            </a:r>
            <a:endParaRPr lang="en-US" sz="900" dirty="0"/>
          </a:p>
        </p:txBody>
      </p:sp>
      <p:sp>
        <p:nvSpPr>
          <p:cNvPr id="8" name="Shape 6"/>
          <p:cNvSpPr/>
          <p:nvPr/>
        </p:nvSpPr>
        <p:spPr>
          <a:xfrm>
            <a:off x="347472" y="1572768"/>
            <a:ext cx="4096512" cy="1444752"/>
          </a:xfrm>
          <a:prstGeom prst="roundRect">
            <a:avLst>
              <a:gd name="adj" fmla="val 5063"/>
            </a:avLst>
          </a:prstGeom>
          <a:solidFill>
            <a:srgbClr val="FFFFFF"/>
          </a:solidFill>
          <a:ln w="12700">
            <a:solidFill>
              <a:srgbClr val="6B21A8"/>
            </a:solidFill>
            <a:prstDash val="solid"/>
          </a:ln>
          <a:effectLst>
            <a:outerShdw blurRad="76200" dist="25400" dir="2700000" algn="bl" rotWithShape="0">
              <a:srgbClr val="000000">
                <a:alpha val="8000"/>
              </a:srgbClr>
            </a:outerShdw>
          </a:effectLst>
        </p:spPr>
        <p:txBody>
          <a:bodyPr/>
          <a:lstStyle/>
          <a:p>
            <a:endParaRPr lang="en-US"/>
          </a:p>
        </p:txBody>
      </p:sp>
      <p:sp>
        <p:nvSpPr>
          <p:cNvPr id="9" name="Shape 7"/>
          <p:cNvSpPr/>
          <p:nvPr/>
        </p:nvSpPr>
        <p:spPr>
          <a:xfrm>
            <a:off x="347472" y="1572768"/>
            <a:ext cx="4096512" cy="310896"/>
          </a:xfrm>
          <a:prstGeom prst="roundRect">
            <a:avLst>
              <a:gd name="adj" fmla="val 23529"/>
            </a:avLst>
          </a:prstGeom>
          <a:solidFill>
            <a:srgbClr val="6B21A8"/>
          </a:solidFill>
          <a:ln w="12700">
            <a:solidFill>
              <a:srgbClr val="6B21A8"/>
            </a:solidFill>
            <a:prstDash val="solid"/>
          </a:ln>
        </p:spPr>
        <p:txBody>
          <a:bodyPr/>
          <a:lstStyle/>
          <a:p>
            <a:endParaRPr lang="en-US"/>
          </a:p>
        </p:txBody>
      </p:sp>
      <p:sp>
        <p:nvSpPr>
          <p:cNvPr id="10" name="Shape 8"/>
          <p:cNvSpPr/>
          <p:nvPr/>
        </p:nvSpPr>
        <p:spPr>
          <a:xfrm>
            <a:off x="347472" y="1755648"/>
            <a:ext cx="4096512" cy="128016"/>
          </a:xfrm>
          <a:prstGeom prst="rect">
            <a:avLst/>
          </a:prstGeom>
          <a:solidFill>
            <a:srgbClr val="6B21A8"/>
          </a:solidFill>
          <a:ln w="12700">
            <a:solidFill>
              <a:srgbClr val="6B21A8"/>
            </a:solidFill>
            <a:prstDash val="solid"/>
          </a:ln>
        </p:spPr>
        <p:txBody>
          <a:bodyPr/>
          <a:lstStyle/>
          <a:p>
            <a:endParaRPr lang="en-US"/>
          </a:p>
        </p:txBody>
      </p:sp>
      <p:sp>
        <p:nvSpPr>
          <p:cNvPr id="11" name="Shape 9"/>
          <p:cNvSpPr/>
          <p:nvPr/>
        </p:nvSpPr>
        <p:spPr>
          <a:xfrm>
            <a:off x="438912" y="1627632"/>
            <a:ext cx="219456" cy="219456"/>
          </a:xfrm>
          <a:prstGeom prst="ellipse">
            <a:avLst/>
          </a:prstGeom>
          <a:solidFill>
            <a:srgbClr val="FFFFFF"/>
          </a:solidFill>
          <a:ln w="12700">
            <a:solidFill>
              <a:srgbClr val="FFFFFF"/>
            </a:solidFill>
            <a:prstDash val="solid"/>
          </a:ln>
        </p:spPr>
        <p:txBody>
          <a:bodyPr/>
          <a:lstStyle/>
          <a:p>
            <a:endParaRPr lang="en-US"/>
          </a:p>
        </p:txBody>
      </p:sp>
      <p:sp>
        <p:nvSpPr>
          <p:cNvPr id="12" name="Text 10"/>
          <p:cNvSpPr/>
          <p:nvPr/>
        </p:nvSpPr>
        <p:spPr>
          <a:xfrm>
            <a:off x="438912" y="1645920"/>
            <a:ext cx="219456" cy="182880"/>
          </a:xfrm>
          <a:prstGeom prst="rect">
            <a:avLst/>
          </a:prstGeom>
          <a:noFill/>
          <a:ln/>
        </p:spPr>
        <p:txBody>
          <a:bodyPr wrap="square" lIns="0" tIns="0" rIns="0" bIns="0" rtlCol="0" anchor="ctr"/>
          <a:lstStyle/>
          <a:p>
            <a:pPr marL="0" indent="0" algn="ctr">
              <a:buNone/>
            </a:pPr>
            <a:r>
              <a:rPr lang="en-US" sz="900" b="1" dirty="0">
                <a:solidFill>
                  <a:srgbClr val="6B21A8"/>
                </a:solidFill>
                <a:latin typeface="Calibri" pitchFamily="34" charset="0"/>
                <a:ea typeface="Calibri" pitchFamily="34" charset="-122"/>
                <a:cs typeface="Calibri" pitchFamily="34" charset="-120"/>
              </a:rPr>
              <a:t>1</a:t>
            </a:r>
            <a:endParaRPr lang="en-US" sz="900" dirty="0"/>
          </a:p>
        </p:txBody>
      </p:sp>
      <p:sp>
        <p:nvSpPr>
          <p:cNvPr id="13" name="Text 11"/>
          <p:cNvSpPr/>
          <p:nvPr/>
        </p:nvSpPr>
        <p:spPr>
          <a:xfrm>
            <a:off x="731520" y="1636776"/>
            <a:ext cx="3621024" cy="20116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Specificity</a:t>
            </a:r>
            <a:endParaRPr lang="en-US" sz="1200" dirty="0"/>
          </a:p>
        </p:txBody>
      </p:sp>
      <p:sp>
        <p:nvSpPr>
          <p:cNvPr id="14" name="Text 12"/>
          <p:cNvSpPr/>
          <p:nvPr/>
        </p:nvSpPr>
        <p:spPr>
          <a:xfrm>
            <a:off x="438912" y="1938528"/>
            <a:ext cx="3913632" cy="6766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Are their answers specific and personal — or generic and polished? Specific fear beats vague fear. A named person in the stakes question scores higher than 'my family'. Look for: proper nouns, exact moments, concrete consequences.</a:t>
            </a:r>
            <a:endParaRPr lang="en-US" sz="900" dirty="0"/>
          </a:p>
        </p:txBody>
      </p:sp>
      <p:sp>
        <p:nvSpPr>
          <p:cNvPr id="15" name="Shape 13"/>
          <p:cNvSpPr/>
          <p:nvPr/>
        </p:nvSpPr>
        <p:spPr>
          <a:xfrm>
            <a:off x="438912" y="2642616"/>
            <a:ext cx="3913632" cy="0"/>
          </a:xfrm>
          <a:prstGeom prst="line">
            <a:avLst/>
          </a:prstGeom>
          <a:noFill/>
          <a:ln w="12700">
            <a:solidFill>
              <a:srgbClr val="D1D5DB"/>
            </a:solidFill>
            <a:prstDash val="solid"/>
          </a:ln>
        </p:spPr>
        <p:txBody>
          <a:bodyPr/>
          <a:lstStyle/>
          <a:p>
            <a:endParaRPr lang="en-US"/>
          </a:p>
        </p:txBody>
      </p:sp>
      <p:sp>
        <p:nvSpPr>
          <p:cNvPr id="16" name="Text 14"/>
          <p:cNvSpPr/>
          <p:nvPr/>
        </p:nvSpPr>
        <p:spPr>
          <a:xfrm>
            <a:off x="438912" y="2688336"/>
            <a:ext cx="1938528" cy="25603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0–1  Generic answers. Could apply to anyone.</a:t>
            </a:r>
            <a:endParaRPr lang="en-US" sz="800" dirty="0"/>
          </a:p>
        </p:txBody>
      </p:sp>
      <p:sp>
        <p:nvSpPr>
          <p:cNvPr id="17" name="Text 15"/>
          <p:cNvSpPr/>
          <p:nvPr/>
        </p:nvSpPr>
        <p:spPr>
          <a:xfrm>
            <a:off x="2414016" y="2688336"/>
            <a:ext cx="1920240" cy="256032"/>
          </a:xfrm>
          <a:prstGeom prst="rect">
            <a:avLst/>
          </a:prstGeom>
          <a:noFill/>
          <a:ln/>
        </p:spPr>
        <p:txBody>
          <a:bodyPr wrap="square" lIns="0" tIns="0" rIns="0" bIns="0" rtlCol="0" anchor="ctr"/>
          <a:lstStyle/>
          <a:p>
            <a:pPr marL="0" indent="0">
              <a:buNone/>
            </a:pPr>
            <a:r>
              <a:rPr lang="en-US" sz="800" i="1" dirty="0">
                <a:solidFill>
                  <a:srgbClr val="6B21A8"/>
                </a:solidFill>
                <a:latin typeface="Calibri" pitchFamily="34" charset="0"/>
                <a:ea typeface="Calibri" pitchFamily="34" charset="-122"/>
                <a:cs typeface="Calibri" pitchFamily="34" charset="-120"/>
              </a:rPr>
              <a:t>4–5  Answers that only this person could give.</a:t>
            </a:r>
            <a:endParaRPr lang="en-US" sz="800" dirty="0"/>
          </a:p>
        </p:txBody>
      </p:sp>
      <p:sp>
        <p:nvSpPr>
          <p:cNvPr id="18" name="Shape 16"/>
          <p:cNvSpPr/>
          <p:nvPr/>
        </p:nvSpPr>
        <p:spPr>
          <a:xfrm>
            <a:off x="4535424" y="1572768"/>
            <a:ext cx="4096512" cy="1444752"/>
          </a:xfrm>
          <a:prstGeom prst="roundRect">
            <a:avLst>
              <a:gd name="adj" fmla="val 5063"/>
            </a:avLst>
          </a:prstGeom>
          <a:solidFill>
            <a:srgbClr val="FFFFFF"/>
          </a:solidFill>
          <a:ln w="12700">
            <a:solidFill>
              <a:srgbClr val="1A2B4A"/>
            </a:solidFill>
            <a:prstDash val="solid"/>
          </a:ln>
          <a:effectLst>
            <a:outerShdw blurRad="76200" dist="25400" dir="2700000" algn="bl" rotWithShape="0">
              <a:srgbClr val="000000">
                <a:alpha val="8000"/>
              </a:srgbClr>
            </a:outerShdw>
          </a:effectLst>
        </p:spPr>
        <p:txBody>
          <a:bodyPr/>
          <a:lstStyle/>
          <a:p>
            <a:endParaRPr lang="en-US"/>
          </a:p>
        </p:txBody>
      </p:sp>
      <p:sp>
        <p:nvSpPr>
          <p:cNvPr id="19" name="Shape 17"/>
          <p:cNvSpPr/>
          <p:nvPr/>
        </p:nvSpPr>
        <p:spPr>
          <a:xfrm>
            <a:off x="4535424" y="1572768"/>
            <a:ext cx="4096512" cy="310896"/>
          </a:xfrm>
          <a:prstGeom prst="roundRect">
            <a:avLst>
              <a:gd name="adj" fmla="val 23529"/>
            </a:avLst>
          </a:prstGeom>
          <a:solidFill>
            <a:srgbClr val="1A2B4A"/>
          </a:solidFill>
          <a:ln w="12700">
            <a:solidFill>
              <a:srgbClr val="1A2B4A"/>
            </a:solidFill>
            <a:prstDash val="solid"/>
          </a:ln>
        </p:spPr>
        <p:txBody>
          <a:bodyPr/>
          <a:lstStyle/>
          <a:p>
            <a:endParaRPr lang="en-US"/>
          </a:p>
        </p:txBody>
      </p:sp>
      <p:sp>
        <p:nvSpPr>
          <p:cNvPr id="20" name="Shape 18"/>
          <p:cNvSpPr/>
          <p:nvPr/>
        </p:nvSpPr>
        <p:spPr>
          <a:xfrm>
            <a:off x="4535424" y="1755648"/>
            <a:ext cx="4096512" cy="128016"/>
          </a:xfrm>
          <a:prstGeom prst="rect">
            <a:avLst/>
          </a:prstGeom>
          <a:solidFill>
            <a:srgbClr val="1A2B4A"/>
          </a:solidFill>
          <a:ln w="12700">
            <a:solidFill>
              <a:srgbClr val="1A2B4A"/>
            </a:solidFill>
            <a:prstDash val="solid"/>
          </a:ln>
        </p:spPr>
        <p:txBody>
          <a:bodyPr/>
          <a:lstStyle/>
          <a:p>
            <a:endParaRPr lang="en-US"/>
          </a:p>
        </p:txBody>
      </p:sp>
      <p:sp>
        <p:nvSpPr>
          <p:cNvPr id="21" name="Shape 19"/>
          <p:cNvSpPr/>
          <p:nvPr/>
        </p:nvSpPr>
        <p:spPr>
          <a:xfrm>
            <a:off x="4626864" y="1627632"/>
            <a:ext cx="219456" cy="219456"/>
          </a:xfrm>
          <a:prstGeom prst="ellipse">
            <a:avLst/>
          </a:prstGeom>
          <a:solidFill>
            <a:srgbClr val="FFFFFF"/>
          </a:solidFill>
          <a:ln w="12700">
            <a:solidFill>
              <a:srgbClr val="FFFFFF"/>
            </a:solidFill>
            <a:prstDash val="solid"/>
          </a:ln>
        </p:spPr>
        <p:txBody>
          <a:bodyPr/>
          <a:lstStyle/>
          <a:p>
            <a:endParaRPr lang="en-US"/>
          </a:p>
        </p:txBody>
      </p:sp>
      <p:sp>
        <p:nvSpPr>
          <p:cNvPr id="22" name="Text 20"/>
          <p:cNvSpPr/>
          <p:nvPr/>
        </p:nvSpPr>
        <p:spPr>
          <a:xfrm>
            <a:off x="4626864" y="1645920"/>
            <a:ext cx="219456" cy="182880"/>
          </a:xfrm>
          <a:prstGeom prst="rect">
            <a:avLst/>
          </a:prstGeom>
          <a:noFill/>
          <a:ln/>
        </p:spPr>
        <p:txBody>
          <a:bodyPr wrap="square" lIns="0" tIns="0" rIns="0" bIns="0" rtlCol="0" anchor="ctr"/>
          <a:lstStyle/>
          <a:p>
            <a:pPr marL="0" indent="0" algn="ctr">
              <a:buNone/>
            </a:pPr>
            <a:r>
              <a:rPr lang="en-US" sz="900" b="1" dirty="0">
                <a:solidFill>
                  <a:srgbClr val="1A2B4A"/>
                </a:solidFill>
                <a:latin typeface="Calibri" pitchFamily="34" charset="0"/>
                <a:ea typeface="Calibri" pitchFamily="34" charset="-122"/>
                <a:cs typeface="Calibri" pitchFamily="34" charset="-120"/>
              </a:rPr>
              <a:t>2</a:t>
            </a:r>
            <a:endParaRPr lang="en-US" sz="900" dirty="0"/>
          </a:p>
        </p:txBody>
      </p:sp>
      <p:sp>
        <p:nvSpPr>
          <p:cNvPr id="23" name="Text 21"/>
          <p:cNvSpPr/>
          <p:nvPr/>
        </p:nvSpPr>
        <p:spPr>
          <a:xfrm>
            <a:off x="4919472" y="1636776"/>
            <a:ext cx="3621024" cy="20116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Emotional Stakes</a:t>
            </a:r>
            <a:endParaRPr lang="en-US" sz="1200" dirty="0"/>
          </a:p>
        </p:txBody>
      </p:sp>
      <p:sp>
        <p:nvSpPr>
          <p:cNvPr id="24" name="Text 22"/>
          <p:cNvSpPr/>
          <p:nvPr/>
        </p:nvSpPr>
        <p:spPr>
          <a:xfrm>
            <a:off x="4626864" y="1938528"/>
            <a:ext cx="3913632" cy="6766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Is there something genuinely at risk for this person? Not just 'I want to learn' — something where failure would actually hurt. Look for: career pivots, personal proving grounds, people they need to show something to, things they've already failed at.</a:t>
            </a:r>
            <a:endParaRPr lang="en-US" sz="900" dirty="0"/>
          </a:p>
        </p:txBody>
      </p:sp>
      <p:sp>
        <p:nvSpPr>
          <p:cNvPr id="25" name="Shape 23"/>
          <p:cNvSpPr/>
          <p:nvPr/>
        </p:nvSpPr>
        <p:spPr>
          <a:xfrm>
            <a:off x="4626864" y="2642616"/>
            <a:ext cx="3913632" cy="0"/>
          </a:xfrm>
          <a:prstGeom prst="line">
            <a:avLst/>
          </a:prstGeom>
          <a:noFill/>
          <a:ln w="12700">
            <a:solidFill>
              <a:srgbClr val="D1D5DB"/>
            </a:solidFill>
            <a:prstDash val="solid"/>
          </a:ln>
        </p:spPr>
        <p:txBody>
          <a:bodyPr/>
          <a:lstStyle/>
          <a:p>
            <a:endParaRPr lang="en-US"/>
          </a:p>
        </p:txBody>
      </p:sp>
      <p:sp>
        <p:nvSpPr>
          <p:cNvPr id="26" name="Text 24"/>
          <p:cNvSpPr/>
          <p:nvPr/>
        </p:nvSpPr>
        <p:spPr>
          <a:xfrm>
            <a:off x="4626864" y="2688336"/>
            <a:ext cx="1938528" cy="25603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0–1  Learning goal. Safe aspiration.</a:t>
            </a:r>
            <a:endParaRPr lang="en-US" sz="800" dirty="0"/>
          </a:p>
        </p:txBody>
      </p:sp>
      <p:sp>
        <p:nvSpPr>
          <p:cNvPr id="27" name="Text 25"/>
          <p:cNvSpPr/>
          <p:nvPr/>
        </p:nvSpPr>
        <p:spPr>
          <a:xfrm>
            <a:off x="6601968" y="2688336"/>
            <a:ext cx="1920240" cy="256032"/>
          </a:xfrm>
          <a:prstGeom prst="rect">
            <a:avLst/>
          </a:prstGeom>
          <a:noFill/>
          <a:ln/>
        </p:spPr>
        <p:txBody>
          <a:bodyPr wrap="square" lIns="0" tIns="0" rIns="0" bIns="0" rtlCol="0" anchor="ctr"/>
          <a:lstStyle/>
          <a:p>
            <a:pPr marL="0" indent="0">
              <a:buNone/>
            </a:pPr>
            <a:r>
              <a:rPr lang="en-US" sz="800" i="1" dirty="0">
                <a:solidFill>
                  <a:srgbClr val="1A2B4A"/>
                </a:solidFill>
                <a:latin typeface="Calibri" pitchFamily="34" charset="0"/>
                <a:ea typeface="Calibri" pitchFamily="34" charset="-122"/>
                <a:cs typeface="Calibri" pitchFamily="34" charset="-120"/>
              </a:rPr>
              <a:t>4–5  Real cost to failing. Real person watching.</a:t>
            </a:r>
            <a:endParaRPr lang="en-US" sz="800" dirty="0"/>
          </a:p>
        </p:txBody>
      </p:sp>
      <p:sp>
        <p:nvSpPr>
          <p:cNvPr id="28" name="Shape 26"/>
          <p:cNvSpPr/>
          <p:nvPr/>
        </p:nvSpPr>
        <p:spPr>
          <a:xfrm>
            <a:off x="347472" y="3108960"/>
            <a:ext cx="4096512" cy="1444752"/>
          </a:xfrm>
          <a:prstGeom prst="roundRect">
            <a:avLst>
              <a:gd name="adj" fmla="val 5063"/>
            </a:avLst>
          </a:prstGeom>
          <a:solidFill>
            <a:srgbClr val="FFFFFF"/>
          </a:solidFill>
          <a:ln w="12700">
            <a:solidFill>
              <a:srgbClr val="0D7377"/>
            </a:solidFill>
            <a:prstDash val="solid"/>
          </a:ln>
          <a:effectLst>
            <a:outerShdw blurRad="76200" dist="25400" dir="2700000" algn="bl" rotWithShape="0">
              <a:srgbClr val="000000">
                <a:alpha val="8000"/>
              </a:srgbClr>
            </a:outerShdw>
          </a:effectLst>
        </p:spPr>
        <p:txBody>
          <a:bodyPr/>
          <a:lstStyle/>
          <a:p>
            <a:endParaRPr lang="en-US"/>
          </a:p>
        </p:txBody>
      </p:sp>
      <p:sp>
        <p:nvSpPr>
          <p:cNvPr id="29" name="Shape 27"/>
          <p:cNvSpPr/>
          <p:nvPr/>
        </p:nvSpPr>
        <p:spPr>
          <a:xfrm>
            <a:off x="347472" y="3108960"/>
            <a:ext cx="4096512" cy="310896"/>
          </a:xfrm>
          <a:prstGeom prst="roundRect">
            <a:avLst>
              <a:gd name="adj" fmla="val 23529"/>
            </a:avLst>
          </a:prstGeom>
          <a:solidFill>
            <a:srgbClr val="0D7377"/>
          </a:solidFill>
          <a:ln w="12700">
            <a:solidFill>
              <a:srgbClr val="0D7377"/>
            </a:solidFill>
            <a:prstDash val="solid"/>
          </a:ln>
        </p:spPr>
        <p:txBody>
          <a:bodyPr/>
          <a:lstStyle/>
          <a:p>
            <a:endParaRPr lang="en-US"/>
          </a:p>
        </p:txBody>
      </p:sp>
      <p:sp>
        <p:nvSpPr>
          <p:cNvPr id="30" name="Shape 28"/>
          <p:cNvSpPr/>
          <p:nvPr/>
        </p:nvSpPr>
        <p:spPr>
          <a:xfrm>
            <a:off x="347472" y="3291840"/>
            <a:ext cx="4096512" cy="128016"/>
          </a:xfrm>
          <a:prstGeom prst="rect">
            <a:avLst/>
          </a:prstGeom>
          <a:solidFill>
            <a:srgbClr val="0D7377"/>
          </a:solidFill>
          <a:ln w="12700">
            <a:solidFill>
              <a:srgbClr val="0D7377"/>
            </a:solidFill>
            <a:prstDash val="solid"/>
          </a:ln>
        </p:spPr>
        <p:txBody>
          <a:bodyPr/>
          <a:lstStyle/>
          <a:p>
            <a:endParaRPr lang="en-US"/>
          </a:p>
        </p:txBody>
      </p:sp>
      <p:sp>
        <p:nvSpPr>
          <p:cNvPr id="31" name="Shape 29"/>
          <p:cNvSpPr/>
          <p:nvPr/>
        </p:nvSpPr>
        <p:spPr>
          <a:xfrm>
            <a:off x="438912" y="3163824"/>
            <a:ext cx="219456" cy="219456"/>
          </a:xfrm>
          <a:prstGeom prst="ellipse">
            <a:avLst/>
          </a:prstGeom>
          <a:solidFill>
            <a:srgbClr val="FFFFFF"/>
          </a:solidFill>
          <a:ln w="12700">
            <a:solidFill>
              <a:srgbClr val="FFFFFF"/>
            </a:solidFill>
            <a:prstDash val="solid"/>
          </a:ln>
        </p:spPr>
        <p:txBody>
          <a:bodyPr/>
          <a:lstStyle/>
          <a:p>
            <a:endParaRPr lang="en-US"/>
          </a:p>
        </p:txBody>
      </p:sp>
      <p:sp>
        <p:nvSpPr>
          <p:cNvPr id="32" name="Text 30"/>
          <p:cNvSpPr/>
          <p:nvPr/>
        </p:nvSpPr>
        <p:spPr>
          <a:xfrm>
            <a:off x="438912" y="3182112"/>
            <a:ext cx="219456" cy="182880"/>
          </a:xfrm>
          <a:prstGeom prst="rect">
            <a:avLst/>
          </a:prstGeom>
          <a:noFill/>
          <a:ln/>
        </p:spPr>
        <p:txBody>
          <a:bodyPr wrap="square" lIns="0" tIns="0" rIns="0" bIns="0" rtlCol="0" anchor="ctr"/>
          <a:lstStyle/>
          <a:p>
            <a:pPr marL="0" indent="0" algn="ctr">
              <a:buNone/>
            </a:pPr>
            <a:r>
              <a:rPr lang="en-US" sz="900" b="1" dirty="0">
                <a:solidFill>
                  <a:srgbClr val="0D7377"/>
                </a:solidFill>
                <a:latin typeface="Calibri" pitchFamily="34" charset="0"/>
                <a:ea typeface="Calibri" pitchFamily="34" charset="-122"/>
                <a:cs typeface="Calibri" pitchFamily="34" charset="-120"/>
              </a:rPr>
              <a:t>3</a:t>
            </a:r>
            <a:endParaRPr lang="en-US" sz="900" dirty="0"/>
          </a:p>
        </p:txBody>
      </p:sp>
      <p:sp>
        <p:nvSpPr>
          <p:cNvPr id="33" name="Text 31"/>
          <p:cNvSpPr/>
          <p:nvPr/>
        </p:nvSpPr>
        <p:spPr>
          <a:xfrm>
            <a:off x="731520" y="3172968"/>
            <a:ext cx="3621024" cy="20116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Contrast Potential</a:t>
            </a:r>
            <a:endParaRPr lang="en-US" sz="1200" dirty="0"/>
          </a:p>
        </p:txBody>
      </p:sp>
      <p:sp>
        <p:nvSpPr>
          <p:cNvPr id="34" name="Text 32"/>
          <p:cNvSpPr/>
          <p:nvPr/>
        </p:nvSpPr>
        <p:spPr>
          <a:xfrm>
            <a:off x="438912" y="3474720"/>
            <a:ext cx="3913632" cy="6766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Does this person offer something different from the others already on the shortlist? The ensemble needs contrast — age, country, background, starting point, archetype. Score higher if they fill a gap. Score lower if they duplicate someone already shortlisted.</a:t>
            </a:r>
            <a:endParaRPr lang="en-US" sz="900" dirty="0"/>
          </a:p>
        </p:txBody>
      </p:sp>
      <p:sp>
        <p:nvSpPr>
          <p:cNvPr id="35" name="Shape 33"/>
          <p:cNvSpPr/>
          <p:nvPr/>
        </p:nvSpPr>
        <p:spPr>
          <a:xfrm>
            <a:off x="438912" y="4178808"/>
            <a:ext cx="3913632" cy="0"/>
          </a:xfrm>
          <a:prstGeom prst="line">
            <a:avLst/>
          </a:prstGeom>
          <a:noFill/>
          <a:ln w="12700">
            <a:solidFill>
              <a:srgbClr val="D1D5DB"/>
            </a:solidFill>
            <a:prstDash val="solid"/>
          </a:ln>
        </p:spPr>
        <p:txBody>
          <a:bodyPr/>
          <a:lstStyle/>
          <a:p>
            <a:endParaRPr lang="en-US"/>
          </a:p>
        </p:txBody>
      </p:sp>
      <p:sp>
        <p:nvSpPr>
          <p:cNvPr id="36" name="Text 34"/>
          <p:cNvSpPr/>
          <p:nvPr/>
        </p:nvSpPr>
        <p:spPr>
          <a:xfrm>
            <a:off x="438912" y="4224528"/>
            <a:ext cx="1938528" cy="25603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0–1  Similar to someone already on the list.</a:t>
            </a:r>
            <a:endParaRPr lang="en-US" sz="800" dirty="0"/>
          </a:p>
        </p:txBody>
      </p:sp>
      <p:sp>
        <p:nvSpPr>
          <p:cNvPr id="37" name="Text 35"/>
          <p:cNvSpPr/>
          <p:nvPr/>
        </p:nvSpPr>
        <p:spPr>
          <a:xfrm>
            <a:off x="2414016" y="4224528"/>
            <a:ext cx="1920240" cy="256032"/>
          </a:xfrm>
          <a:prstGeom prst="rect">
            <a:avLst/>
          </a:prstGeom>
          <a:noFill/>
          <a:ln/>
        </p:spPr>
        <p:txBody>
          <a:bodyPr wrap="square" lIns="0" tIns="0" rIns="0" bIns="0" rtlCol="0" anchor="ctr"/>
          <a:lstStyle/>
          <a:p>
            <a:pPr marL="0" indent="0">
              <a:buNone/>
            </a:pPr>
            <a:r>
              <a:rPr lang="en-US" sz="800" i="1" dirty="0">
                <a:solidFill>
                  <a:srgbClr val="0D7377"/>
                </a:solidFill>
                <a:latin typeface="Calibri" pitchFamily="34" charset="0"/>
                <a:ea typeface="Calibri" pitchFamily="34" charset="-122"/>
                <a:cs typeface="Calibri" pitchFamily="34" charset="-120"/>
              </a:rPr>
              <a:t>4–5  Fills a gap — age, country, archetype, starting point.</a:t>
            </a:r>
            <a:endParaRPr lang="en-US" sz="800" dirty="0"/>
          </a:p>
        </p:txBody>
      </p:sp>
      <p:sp>
        <p:nvSpPr>
          <p:cNvPr id="38" name="Shape 36"/>
          <p:cNvSpPr/>
          <p:nvPr/>
        </p:nvSpPr>
        <p:spPr>
          <a:xfrm>
            <a:off x="4535424" y="3108960"/>
            <a:ext cx="4096512" cy="1444752"/>
          </a:xfrm>
          <a:prstGeom prst="roundRect">
            <a:avLst>
              <a:gd name="adj" fmla="val 5063"/>
            </a:avLst>
          </a:prstGeom>
          <a:solidFill>
            <a:srgbClr val="FFFFFF"/>
          </a:solidFill>
          <a:ln w="12700">
            <a:solidFill>
              <a:srgbClr val="C05621"/>
            </a:solidFill>
            <a:prstDash val="solid"/>
          </a:ln>
          <a:effectLst>
            <a:outerShdw blurRad="76200" dist="25400" dir="2700000" algn="bl" rotWithShape="0">
              <a:srgbClr val="000000">
                <a:alpha val="8000"/>
              </a:srgbClr>
            </a:outerShdw>
          </a:effectLst>
        </p:spPr>
        <p:txBody>
          <a:bodyPr/>
          <a:lstStyle/>
          <a:p>
            <a:endParaRPr lang="en-US"/>
          </a:p>
        </p:txBody>
      </p:sp>
      <p:sp>
        <p:nvSpPr>
          <p:cNvPr id="39" name="Shape 37"/>
          <p:cNvSpPr/>
          <p:nvPr/>
        </p:nvSpPr>
        <p:spPr>
          <a:xfrm>
            <a:off x="4535424" y="3108960"/>
            <a:ext cx="4096512" cy="310896"/>
          </a:xfrm>
          <a:prstGeom prst="roundRect">
            <a:avLst>
              <a:gd name="adj" fmla="val 23529"/>
            </a:avLst>
          </a:prstGeom>
          <a:solidFill>
            <a:srgbClr val="C05621"/>
          </a:solidFill>
          <a:ln w="12700">
            <a:solidFill>
              <a:srgbClr val="C05621"/>
            </a:solidFill>
            <a:prstDash val="solid"/>
          </a:ln>
        </p:spPr>
        <p:txBody>
          <a:bodyPr/>
          <a:lstStyle/>
          <a:p>
            <a:endParaRPr lang="en-US"/>
          </a:p>
        </p:txBody>
      </p:sp>
      <p:sp>
        <p:nvSpPr>
          <p:cNvPr id="40" name="Shape 38"/>
          <p:cNvSpPr/>
          <p:nvPr/>
        </p:nvSpPr>
        <p:spPr>
          <a:xfrm>
            <a:off x="4535424" y="3291840"/>
            <a:ext cx="4096512" cy="128016"/>
          </a:xfrm>
          <a:prstGeom prst="rect">
            <a:avLst/>
          </a:prstGeom>
          <a:solidFill>
            <a:srgbClr val="C05621"/>
          </a:solidFill>
          <a:ln w="12700">
            <a:solidFill>
              <a:srgbClr val="C05621"/>
            </a:solidFill>
            <a:prstDash val="solid"/>
          </a:ln>
        </p:spPr>
        <p:txBody>
          <a:bodyPr/>
          <a:lstStyle/>
          <a:p>
            <a:endParaRPr lang="en-US"/>
          </a:p>
        </p:txBody>
      </p:sp>
      <p:sp>
        <p:nvSpPr>
          <p:cNvPr id="41" name="Shape 39"/>
          <p:cNvSpPr/>
          <p:nvPr/>
        </p:nvSpPr>
        <p:spPr>
          <a:xfrm>
            <a:off x="4626864" y="3163824"/>
            <a:ext cx="219456" cy="219456"/>
          </a:xfrm>
          <a:prstGeom prst="ellipse">
            <a:avLst/>
          </a:prstGeom>
          <a:solidFill>
            <a:srgbClr val="FFFFFF"/>
          </a:solidFill>
          <a:ln w="12700">
            <a:solidFill>
              <a:srgbClr val="FFFFFF"/>
            </a:solidFill>
            <a:prstDash val="solid"/>
          </a:ln>
        </p:spPr>
        <p:txBody>
          <a:bodyPr/>
          <a:lstStyle/>
          <a:p>
            <a:endParaRPr lang="en-US"/>
          </a:p>
        </p:txBody>
      </p:sp>
      <p:sp>
        <p:nvSpPr>
          <p:cNvPr id="42" name="Text 40"/>
          <p:cNvSpPr/>
          <p:nvPr/>
        </p:nvSpPr>
        <p:spPr>
          <a:xfrm>
            <a:off x="4626864" y="3182112"/>
            <a:ext cx="219456" cy="182880"/>
          </a:xfrm>
          <a:prstGeom prst="rect">
            <a:avLst/>
          </a:prstGeom>
          <a:noFill/>
          <a:ln/>
        </p:spPr>
        <p:txBody>
          <a:bodyPr wrap="square" lIns="0" tIns="0" rIns="0" bIns="0" rtlCol="0" anchor="ctr"/>
          <a:lstStyle/>
          <a:p>
            <a:pPr marL="0" indent="0" algn="ctr">
              <a:buNone/>
            </a:pPr>
            <a:r>
              <a:rPr lang="en-US" sz="900" b="1" dirty="0">
                <a:solidFill>
                  <a:srgbClr val="C05621"/>
                </a:solidFill>
                <a:latin typeface="Calibri" pitchFamily="34" charset="0"/>
                <a:ea typeface="Calibri" pitchFamily="34" charset="-122"/>
                <a:cs typeface="Calibri" pitchFamily="34" charset="-120"/>
              </a:rPr>
              <a:t>4</a:t>
            </a:r>
            <a:endParaRPr lang="en-US" sz="900" dirty="0"/>
          </a:p>
        </p:txBody>
      </p:sp>
      <p:sp>
        <p:nvSpPr>
          <p:cNvPr id="43" name="Text 41"/>
          <p:cNvSpPr/>
          <p:nvPr/>
        </p:nvSpPr>
        <p:spPr>
          <a:xfrm>
            <a:off x="4919472" y="3172968"/>
            <a:ext cx="3621024" cy="201168"/>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Surprise Factor</a:t>
            </a:r>
            <a:endParaRPr lang="en-US" sz="1200" dirty="0"/>
          </a:p>
        </p:txBody>
      </p:sp>
      <p:sp>
        <p:nvSpPr>
          <p:cNvPr id="44" name="Text 42"/>
          <p:cNvSpPr/>
          <p:nvPr/>
        </p:nvSpPr>
        <p:spPr>
          <a:xfrm>
            <a:off x="4626864" y="3474720"/>
            <a:ext cx="3913632" cy="676656"/>
          </a:xfrm>
          <a:prstGeom prst="rect">
            <a:avLst/>
          </a:prstGeom>
          <a:noFill/>
          <a:ln/>
        </p:spPr>
        <p:txBody>
          <a:bodyPr wrap="square" lIns="0" tIns="0" rIns="0" bIns="0" rtlCol="0" anchor="ctr"/>
          <a:lstStyle/>
          <a:p>
            <a:pPr marL="0" indent="0">
              <a:buNone/>
            </a:pPr>
            <a:r>
              <a:rPr lang="en-US" sz="900" dirty="0">
                <a:solidFill>
                  <a:srgbClr val="111111"/>
                </a:solidFill>
                <a:latin typeface="Calibri" pitchFamily="34" charset="0"/>
                <a:ea typeface="Calibri" pitchFamily="34" charset="-122"/>
                <a:cs typeface="Calibri" pitchFamily="34" charset="-120"/>
              </a:rPr>
              <a:t>Did any answer genuinely surprise you? Did they subvert an assumption? Did they say something you didn't expect from someone in their situation? The wildcard protagonist lives here. Even one surprising answer is worth noting.</a:t>
            </a:r>
            <a:endParaRPr lang="en-US" sz="900" dirty="0"/>
          </a:p>
        </p:txBody>
      </p:sp>
      <p:sp>
        <p:nvSpPr>
          <p:cNvPr id="45" name="Shape 43"/>
          <p:cNvSpPr/>
          <p:nvPr/>
        </p:nvSpPr>
        <p:spPr>
          <a:xfrm>
            <a:off x="4626864" y="4178808"/>
            <a:ext cx="3913632" cy="0"/>
          </a:xfrm>
          <a:prstGeom prst="line">
            <a:avLst/>
          </a:prstGeom>
          <a:noFill/>
          <a:ln w="12700">
            <a:solidFill>
              <a:srgbClr val="D1D5DB"/>
            </a:solidFill>
            <a:prstDash val="solid"/>
          </a:ln>
        </p:spPr>
        <p:txBody>
          <a:bodyPr/>
          <a:lstStyle/>
          <a:p>
            <a:endParaRPr lang="en-US"/>
          </a:p>
        </p:txBody>
      </p:sp>
      <p:sp>
        <p:nvSpPr>
          <p:cNvPr id="46" name="Text 44"/>
          <p:cNvSpPr/>
          <p:nvPr/>
        </p:nvSpPr>
        <p:spPr>
          <a:xfrm>
            <a:off x="4626864" y="4224528"/>
            <a:ext cx="1938528" cy="256032"/>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0–1  Answers landed as expected.</a:t>
            </a:r>
            <a:endParaRPr lang="en-US" sz="800" dirty="0"/>
          </a:p>
        </p:txBody>
      </p:sp>
      <p:sp>
        <p:nvSpPr>
          <p:cNvPr id="47" name="Text 45"/>
          <p:cNvSpPr/>
          <p:nvPr/>
        </p:nvSpPr>
        <p:spPr>
          <a:xfrm>
            <a:off x="6601968" y="4224528"/>
            <a:ext cx="1920240" cy="256032"/>
          </a:xfrm>
          <a:prstGeom prst="rect">
            <a:avLst/>
          </a:prstGeom>
          <a:noFill/>
          <a:ln/>
        </p:spPr>
        <p:txBody>
          <a:bodyPr wrap="square" lIns="0" tIns="0" rIns="0" bIns="0" rtlCol="0" anchor="ctr"/>
          <a:lstStyle/>
          <a:p>
            <a:pPr marL="0" indent="0">
              <a:buNone/>
            </a:pPr>
            <a:r>
              <a:rPr lang="en-US" sz="800" i="1" dirty="0">
                <a:solidFill>
                  <a:srgbClr val="C05621"/>
                </a:solidFill>
                <a:latin typeface="Calibri" pitchFamily="34" charset="0"/>
                <a:ea typeface="Calibri" pitchFamily="34" charset="-122"/>
                <a:cs typeface="Calibri" pitchFamily="34" charset="-120"/>
              </a:rPr>
              <a:t>4–5  At least one answer stopped you. You didn't see it coming.</a:t>
            </a:r>
            <a:endParaRPr lang="en-US" sz="800" dirty="0"/>
          </a:p>
        </p:txBody>
      </p:sp>
      <p:sp>
        <p:nvSpPr>
          <p:cNvPr id="48" name="Shape 46"/>
          <p:cNvSpPr/>
          <p:nvPr/>
        </p:nvSpPr>
        <p:spPr>
          <a:xfrm>
            <a:off x="347472" y="4663440"/>
            <a:ext cx="8284464" cy="420624"/>
          </a:xfrm>
          <a:prstGeom prst="roundRect">
            <a:avLst>
              <a:gd name="adj" fmla="val 13043"/>
            </a:avLst>
          </a:prstGeom>
          <a:solidFill>
            <a:srgbClr val="1A2B4A"/>
          </a:solidFill>
          <a:ln w="12700">
            <a:solidFill>
              <a:srgbClr val="1A2B4A"/>
            </a:solidFill>
            <a:prstDash val="solid"/>
          </a:ln>
        </p:spPr>
        <p:txBody>
          <a:bodyPr/>
          <a:lstStyle/>
          <a:p>
            <a:endParaRPr lang="en-US"/>
          </a:p>
        </p:txBody>
      </p:sp>
      <p:sp>
        <p:nvSpPr>
          <p:cNvPr id="49" name="Text 47"/>
          <p:cNvSpPr/>
          <p:nvPr/>
        </p:nvSpPr>
        <p:spPr>
          <a:xfrm>
            <a:off x="475488" y="4754880"/>
            <a:ext cx="8229600"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SCORING:  Each criterion is scored 0–5.  Maximum score: 20  ·  Shortlist target: score 14+  ·  Discuss 10–13 with Munish  ·  Pass below 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PROTAGONIST ZOOM INTERVIEW QUESTIONS — FOR REVIEW AND APPROVAL BEFORE USE</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Protagonist Zoom Interview Questions — For Approval</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Used in Step 10: Zoom interviews with the 5 selected protagonists only. Shefali leads. Eddie as second. ~60 minutes per person.</a:t>
            </a:r>
            <a:endParaRPr lang="en-US" sz="1100" dirty="0"/>
          </a:p>
        </p:txBody>
      </p:sp>
      <p:grpSp>
        <p:nvGrpSpPr>
          <p:cNvPr id="55" name="Group 54">
            <a:extLst>
              <a:ext uri="{FF2B5EF4-FFF2-40B4-BE49-F238E27FC236}">
                <a16:creationId xmlns:a16="http://schemas.microsoft.com/office/drawing/2014/main" id="{11B71897-2F01-4658-67E1-95D3AFA28241}"/>
              </a:ext>
            </a:extLst>
          </p:cNvPr>
          <p:cNvGrpSpPr/>
          <p:nvPr/>
        </p:nvGrpSpPr>
        <p:grpSpPr>
          <a:xfrm>
            <a:off x="295385" y="1280160"/>
            <a:ext cx="8230711" cy="3511296"/>
            <a:chOff x="347472" y="1280160"/>
            <a:chExt cx="8357616" cy="3822192"/>
          </a:xfrm>
        </p:grpSpPr>
        <p:sp>
          <p:nvSpPr>
            <p:cNvPr id="6" name="Shape 4"/>
            <p:cNvSpPr/>
            <p:nvPr/>
          </p:nvSpPr>
          <p:spPr>
            <a:xfrm>
              <a:off x="347472" y="1280160"/>
              <a:ext cx="8229600" cy="219457"/>
            </a:xfrm>
            <a:prstGeom prst="roundRect">
              <a:avLst>
                <a:gd name="adj" fmla="val 16667"/>
              </a:avLst>
            </a:prstGeom>
            <a:solidFill>
              <a:srgbClr val="E8EDF4"/>
            </a:solidFill>
            <a:ln w="12700">
              <a:solidFill>
                <a:srgbClr val="1A2B4A"/>
              </a:solidFill>
              <a:prstDash val="solid"/>
            </a:ln>
          </p:spPr>
          <p:txBody>
            <a:bodyPr/>
            <a:lstStyle/>
            <a:p>
              <a:endParaRPr lang="en-US"/>
            </a:p>
          </p:txBody>
        </p:sp>
        <p:sp>
          <p:nvSpPr>
            <p:cNvPr id="7" name="Text 5"/>
            <p:cNvSpPr/>
            <p:nvPr/>
          </p:nvSpPr>
          <p:spPr>
            <a:xfrm>
              <a:off x="475488" y="1316736"/>
              <a:ext cx="8229600" cy="146304"/>
            </a:xfrm>
            <a:prstGeom prst="rect">
              <a:avLst/>
            </a:prstGeom>
            <a:noFill/>
            <a:ln/>
          </p:spPr>
          <p:txBody>
            <a:bodyPr wrap="square" lIns="0" tIns="0" rIns="0" bIns="0" rtlCol="0" anchor="ctr"/>
            <a:lstStyle/>
            <a:p>
              <a:pPr marL="0" indent="0">
                <a:buNone/>
              </a:pPr>
              <a:r>
                <a:rPr lang="en-US" sz="900" b="1" dirty="0">
                  <a:solidFill>
                    <a:srgbClr val="1A2B4A"/>
                  </a:solidFill>
                  <a:latin typeface="Calibri" pitchFamily="34" charset="0"/>
                  <a:ea typeface="Calibri" pitchFamily="34" charset="-122"/>
                  <a:cs typeface="Calibri" pitchFamily="34" charset="-120"/>
                </a:rPr>
                <a:t>ACTION REQUIRED: Munish to review and approve before interviews begin. These become the film's primary source material.</a:t>
              </a:r>
              <a:endParaRPr lang="en-US" sz="900" dirty="0"/>
            </a:p>
          </p:txBody>
        </p:sp>
        <p:sp>
          <p:nvSpPr>
            <p:cNvPr id="8" name="Shape 6"/>
            <p:cNvSpPr/>
            <p:nvPr/>
          </p:nvSpPr>
          <p:spPr>
            <a:xfrm>
              <a:off x="347472" y="1554480"/>
              <a:ext cx="4069080" cy="237744"/>
            </a:xfrm>
            <a:prstGeom prst="rect">
              <a:avLst/>
            </a:prstGeom>
            <a:solidFill>
              <a:srgbClr val="1A2B4A"/>
            </a:solidFill>
            <a:ln w="12700">
              <a:solidFill>
                <a:srgbClr val="1A2B4A"/>
              </a:solidFill>
              <a:prstDash val="solid"/>
            </a:ln>
          </p:spPr>
          <p:txBody>
            <a:bodyPr/>
            <a:lstStyle/>
            <a:p>
              <a:endParaRPr lang="en-US"/>
            </a:p>
          </p:txBody>
        </p:sp>
        <p:sp>
          <p:nvSpPr>
            <p:cNvPr id="9" name="Text 7"/>
            <p:cNvSpPr/>
            <p:nvPr/>
          </p:nvSpPr>
          <p:spPr>
            <a:xfrm>
              <a:off x="420624" y="1591056"/>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Opening — Identity &amp; Starting Point</a:t>
              </a:r>
              <a:endParaRPr lang="en-US" sz="900" dirty="0"/>
            </a:p>
          </p:txBody>
        </p:sp>
        <p:sp>
          <p:nvSpPr>
            <p:cNvPr id="10" name="Shape 8"/>
            <p:cNvSpPr/>
            <p:nvPr/>
          </p:nvSpPr>
          <p:spPr>
            <a:xfrm>
              <a:off x="347472" y="1792224"/>
              <a:ext cx="4069080" cy="512064"/>
            </a:xfrm>
            <a:prstGeom prst="rect">
              <a:avLst/>
            </a:prstGeom>
            <a:solidFill>
              <a:srgbClr val="FFFFFF"/>
            </a:solidFill>
            <a:ln w="12700">
              <a:solidFill>
                <a:srgbClr val="D1D5DB"/>
              </a:solidFill>
              <a:prstDash val="solid"/>
            </a:ln>
          </p:spPr>
          <p:txBody>
            <a:bodyPr/>
            <a:lstStyle/>
            <a:p>
              <a:endParaRPr lang="en-US"/>
            </a:p>
          </p:txBody>
        </p:sp>
        <p:sp>
          <p:nvSpPr>
            <p:cNvPr id="11" name="Shape 9"/>
            <p:cNvSpPr/>
            <p:nvPr/>
          </p:nvSpPr>
          <p:spPr>
            <a:xfrm>
              <a:off x="438912" y="1956816"/>
              <a:ext cx="182880" cy="182880"/>
            </a:xfrm>
            <a:prstGeom prst="ellipse">
              <a:avLst/>
            </a:prstGeom>
            <a:solidFill>
              <a:srgbClr val="1A2B4A"/>
            </a:solidFill>
            <a:ln w="12700">
              <a:solidFill>
                <a:srgbClr val="1A2B4A"/>
              </a:solidFill>
              <a:prstDash val="solid"/>
            </a:ln>
          </p:spPr>
          <p:txBody>
            <a:bodyPr/>
            <a:lstStyle/>
            <a:p>
              <a:endParaRPr lang="en-US"/>
            </a:p>
          </p:txBody>
        </p:sp>
        <p:sp>
          <p:nvSpPr>
            <p:cNvPr id="12" name="Text 10"/>
            <p:cNvSpPr/>
            <p:nvPr/>
          </p:nvSpPr>
          <p:spPr>
            <a:xfrm>
              <a:off x="676656" y="1847088"/>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Before we start — how are you feeling right now, on the eve of building something you've never built before?</a:t>
              </a:r>
              <a:endParaRPr lang="en-US" sz="950" dirty="0"/>
            </a:p>
          </p:txBody>
        </p:sp>
        <p:sp>
          <p:nvSpPr>
            <p:cNvPr id="13" name="Shape 11"/>
            <p:cNvSpPr/>
            <p:nvPr/>
          </p:nvSpPr>
          <p:spPr>
            <a:xfrm>
              <a:off x="347472" y="2304288"/>
              <a:ext cx="4069080" cy="512064"/>
            </a:xfrm>
            <a:prstGeom prst="rect">
              <a:avLst/>
            </a:prstGeom>
            <a:solidFill>
              <a:srgbClr val="F3F4F6"/>
            </a:solidFill>
            <a:ln w="12700">
              <a:solidFill>
                <a:srgbClr val="D1D5DB"/>
              </a:solidFill>
              <a:prstDash val="solid"/>
            </a:ln>
          </p:spPr>
          <p:txBody>
            <a:bodyPr/>
            <a:lstStyle/>
            <a:p>
              <a:endParaRPr lang="en-US"/>
            </a:p>
          </p:txBody>
        </p:sp>
        <p:sp>
          <p:nvSpPr>
            <p:cNvPr id="14" name="Shape 12"/>
            <p:cNvSpPr/>
            <p:nvPr/>
          </p:nvSpPr>
          <p:spPr>
            <a:xfrm>
              <a:off x="438912" y="2468880"/>
              <a:ext cx="182880" cy="182880"/>
            </a:xfrm>
            <a:prstGeom prst="ellipse">
              <a:avLst/>
            </a:prstGeom>
            <a:solidFill>
              <a:srgbClr val="1A2B4A"/>
            </a:solidFill>
            <a:ln w="12700">
              <a:solidFill>
                <a:srgbClr val="1A2B4A"/>
              </a:solidFill>
              <a:prstDash val="solid"/>
            </a:ln>
          </p:spPr>
          <p:txBody>
            <a:bodyPr/>
            <a:lstStyle/>
            <a:p>
              <a:endParaRPr lang="en-US"/>
            </a:p>
          </p:txBody>
        </p:sp>
        <p:sp>
          <p:nvSpPr>
            <p:cNvPr id="15" name="Text 13"/>
            <p:cNvSpPr/>
            <p:nvPr/>
          </p:nvSpPr>
          <p:spPr>
            <a:xfrm>
              <a:off x="676656" y="2359152"/>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Tell me who you are. Not your job title — who you actually are, and how you ended up here.</a:t>
              </a:r>
              <a:endParaRPr lang="en-US" sz="950" dirty="0"/>
            </a:p>
          </p:txBody>
        </p:sp>
        <p:sp>
          <p:nvSpPr>
            <p:cNvPr id="16" name="Shape 14"/>
            <p:cNvSpPr/>
            <p:nvPr/>
          </p:nvSpPr>
          <p:spPr>
            <a:xfrm>
              <a:off x="347472" y="2816352"/>
              <a:ext cx="4069080" cy="512064"/>
            </a:xfrm>
            <a:prstGeom prst="rect">
              <a:avLst/>
            </a:prstGeom>
            <a:solidFill>
              <a:srgbClr val="FFFFFF"/>
            </a:solidFill>
            <a:ln w="12700">
              <a:solidFill>
                <a:srgbClr val="D1D5DB"/>
              </a:solidFill>
              <a:prstDash val="solid"/>
            </a:ln>
          </p:spPr>
          <p:txBody>
            <a:bodyPr/>
            <a:lstStyle/>
            <a:p>
              <a:endParaRPr lang="en-US"/>
            </a:p>
          </p:txBody>
        </p:sp>
        <p:sp>
          <p:nvSpPr>
            <p:cNvPr id="17" name="Shape 15"/>
            <p:cNvSpPr/>
            <p:nvPr/>
          </p:nvSpPr>
          <p:spPr>
            <a:xfrm>
              <a:off x="438912" y="2980944"/>
              <a:ext cx="182880" cy="182880"/>
            </a:xfrm>
            <a:prstGeom prst="ellipse">
              <a:avLst/>
            </a:prstGeom>
            <a:solidFill>
              <a:srgbClr val="1A2B4A"/>
            </a:solidFill>
            <a:ln w="12700">
              <a:solidFill>
                <a:srgbClr val="1A2B4A"/>
              </a:solidFill>
              <a:prstDash val="solid"/>
            </a:ln>
          </p:spPr>
          <p:txBody>
            <a:bodyPr/>
            <a:lstStyle/>
            <a:p>
              <a:endParaRPr lang="en-US"/>
            </a:p>
          </p:txBody>
        </p:sp>
        <p:sp>
          <p:nvSpPr>
            <p:cNvPr id="18" name="Text 16"/>
            <p:cNvSpPr/>
            <p:nvPr/>
          </p:nvSpPr>
          <p:spPr>
            <a:xfrm>
              <a:off x="676656" y="2871216"/>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What did the people in your life say when you told them what you were doing?</a:t>
              </a:r>
              <a:endParaRPr lang="en-US" sz="950" dirty="0"/>
            </a:p>
          </p:txBody>
        </p:sp>
        <p:sp>
          <p:nvSpPr>
            <p:cNvPr id="19" name="Shape 17"/>
            <p:cNvSpPr/>
            <p:nvPr/>
          </p:nvSpPr>
          <p:spPr>
            <a:xfrm>
              <a:off x="347472" y="3328416"/>
              <a:ext cx="4069080" cy="237744"/>
            </a:xfrm>
            <a:prstGeom prst="rect">
              <a:avLst/>
            </a:prstGeom>
            <a:solidFill>
              <a:srgbClr val="6B21A8"/>
            </a:solidFill>
            <a:ln w="12700">
              <a:solidFill>
                <a:srgbClr val="6B21A8"/>
              </a:solidFill>
              <a:prstDash val="solid"/>
            </a:ln>
          </p:spPr>
          <p:txBody>
            <a:bodyPr/>
            <a:lstStyle/>
            <a:p>
              <a:endParaRPr lang="en-US"/>
            </a:p>
          </p:txBody>
        </p:sp>
        <p:sp>
          <p:nvSpPr>
            <p:cNvPr id="20" name="Text 18"/>
            <p:cNvSpPr/>
            <p:nvPr/>
          </p:nvSpPr>
          <p:spPr>
            <a:xfrm>
              <a:off x="420624" y="3364992"/>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The Decision</a:t>
              </a:r>
              <a:endParaRPr lang="en-US" sz="900" dirty="0"/>
            </a:p>
          </p:txBody>
        </p:sp>
        <p:sp>
          <p:nvSpPr>
            <p:cNvPr id="21" name="Shape 19"/>
            <p:cNvSpPr/>
            <p:nvPr/>
          </p:nvSpPr>
          <p:spPr>
            <a:xfrm>
              <a:off x="347472" y="3566160"/>
              <a:ext cx="4069080" cy="512064"/>
            </a:xfrm>
            <a:prstGeom prst="rect">
              <a:avLst/>
            </a:prstGeom>
            <a:solidFill>
              <a:srgbClr val="FFFFFF"/>
            </a:solidFill>
            <a:ln w="12700">
              <a:solidFill>
                <a:srgbClr val="D1D5DB"/>
              </a:solidFill>
              <a:prstDash val="solid"/>
            </a:ln>
          </p:spPr>
          <p:txBody>
            <a:bodyPr/>
            <a:lstStyle/>
            <a:p>
              <a:endParaRPr lang="en-US"/>
            </a:p>
          </p:txBody>
        </p:sp>
        <p:sp>
          <p:nvSpPr>
            <p:cNvPr id="22" name="Shape 20"/>
            <p:cNvSpPr/>
            <p:nvPr/>
          </p:nvSpPr>
          <p:spPr>
            <a:xfrm>
              <a:off x="438912" y="3730752"/>
              <a:ext cx="182880" cy="182880"/>
            </a:xfrm>
            <a:prstGeom prst="ellipse">
              <a:avLst/>
            </a:prstGeom>
            <a:solidFill>
              <a:srgbClr val="6B21A8"/>
            </a:solidFill>
            <a:ln w="12700">
              <a:solidFill>
                <a:srgbClr val="6B21A8"/>
              </a:solidFill>
              <a:prstDash val="solid"/>
            </a:ln>
          </p:spPr>
          <p:txBody>
            <a:bodyPr/>
            <a:lstStyle/>
            <a:p>
              <a:endParaRPr lang="en-US"/>
            </a:p>
          </p:txBody>
        </p:sp>
        <p:sp>
          <p:nvSpPr>
            <p:cNvPr id="23" name="Text 21"/>
            <p:cNvSpPr/>
            <p:nvPr/>
          </p:nvSpPr>
          <p:spPr>
            <a:xfrm>
              <a:off x="676656" y="3621024"/>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What's the idea you're building, and where did it come from? Was there a specific moment?</a:t>
              </a:r>
              <a:endParaRPr lang="en-US" sz="950" dirty="0"/>
            </a:p>
          </p:txBody>
        </p:sp>
        <p:sp>
          <p:nvSpPr>
            <p:cNvPr id="24" name="Shape 22"/>
            <p:cNvSpPr/>
            <p:nvPr/>
          </p:nvSpPr>
          <p:spPr>
            <a:xfrm>
              <a:off x="347472" y="4078224"/>
              <a:ext cx="4069080" cy="512064"/>
            </a:xfrm>
            <a:prstGeom prst="rect">
              <a:avLst/>
            </a:prstGeom>
            <a:solidFill>
              <a:srgbClr val="F3F4F6"/>
            </a:solidFill>
            <a:ln w="12700">
              <a:solidFill>
                <a:srgbClr val="D1D5DB"/>
              </a:solidFill>
              <a:prstDash val="solid"/>
            </a:ln>
          </p:spPr>
          <p:txBody>
            <a:bodyPr/>
            <a:lstStyle/>
            <a:p>
              <a:endParaRPr lang="en-US"/>
            </a:p>
          </p:txBody>
        </p:sp>
        <p:sp>
          <p:nvSpPr>
            <p:cNvPr id="25" name="Shape 23"/>
            <p:cNvSpPr/>
            <p:nvPr/>
          </p:nvSpPr>
          <p:spPr>
            <a:xfrm>
              <a:off x="438912" y="4242816"/>
              <a:ext cx="182880" cy="182880"/>
            </a:xfrm>
            <a:prstGeom prst="ellipse">
              <a:avLst/>
            </a:prstGeom>
            <a:solidFill>
              <a:srgbClr val="6B21A8"/>
            </a:solidFill>
            <a:ln w="12700">
              <a:solidFill>
                <a:srgbClr val="6B21A8"/>
              </a:solidFill>
              <a:prstDash val="solid"/>
            </a:ln>
          </p:spPr>
          <p:txBody>
            <a:bodyPr/>
            <a:lstStyle/>
            <a:p>
              <a:endParaRPr lang="en-US"/>
            </a:p>
          </p:txBody>
        </p:sp>
        <p:sp>
          <p:nvSpPr>
            <p:cNvPr id="26" name="Text 24"/>
            <p:cNvSpPr/>
            <p:nvPr/>
          </p:nvSpPr>
          <p:spPr>
            <a:xfrm>
              <a:off x="676656" y="4133088"/>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What have you tried to build or create in the past that didn't work? What happened, and what did you do with that?</a:t>
              </a:r>
              <a:endParaRPr lang="en-US" sz="950" dirty="0"/>
            </a:p>
          </p:txBody>
        </p:sp>
        <p:sp>
          <p:nvSpPr>
            <p:cNvPr id="27" name="Shape 25"/>
            <p:cNvSpPr/>
            <p:nvPr/>
          </p:nvSpPr>
          <p:spPr>
            <a:xfrm>
              <a:off x="347472" y="4590288"/>
              <a:ext cx="4069080" cy="512064"/>
            </a:xfrm>
            <a:prstGeom prst="rect">
              <a:avLst/>
            </a:prstGeom>
            <a:solidFill>
              <a:srgbClr val="FFFFFF"/>
            </a:solidFill>
            <a:ln w="12700">
              <a:solidFill>
                <a:srgbClr val="D1D5DB"/>
              </a:solidFill>
              <a:prstDash val="solid"/>
            </a:ln>
          </p:spPr>
          <p:txBody>
            <a:bodyPr/>
            <a:lstStyle/>
            <a:p>
              <a:endParaRPr lang="en-US"/>
            </a:p>
          </p:txBody>
        </p:sp>
        <p:sp>
          <p:nvSpPr>
            <p:cNvPr id="28" name="Shape 26"/>
            <p:cNvSpPr/>
            <p:nvPr/>
          </p:nvSpPr>
          <p:spPr>
            <a:xfrm>
              <a:off x="438912" y="4754880"/>
              <a:ext cx="182880" cy="182880"/>
            </a:xfrm>
            <a:prstGeom prst="ellipse">
              <a:avLst/>
            </a:prstGeom>
            <a:solidFill>
              <a:srgbClr val="6B21A8"/>
            </a:solidFill>
            <a:ln w="12700">
              <a:solidFill>
                <a:srgbClr val="6B21A8"/>
              </a:solidFill>
              <a:prstDash val="solid"/>
            </a:ln>
          </p:spPr>
          <p:txBody>
            <a:bodyPr/>
            <a:lstStyle/>
            <a:p>
              <a:endParaRPr lang="en-US"/>
            </a:p>
          </p:txBody>
        </p:sp>
        <p:sp>
          <p:nvSpPr>
            <p:cNvPr id="29" name="Text 27"/>
            <p:cNvSpPr/>
            <p:nvPr/>
          </p:nvSpPr>
          <p:spPr>
            <a:xfrm>
              <a:off x="676656" y="4645152"/>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What do you believe that most people around you don't? About technology, about yourself, about what's possible?</a:t>
              </a:r>
              <a:endParaRPr lang="en-US" sz="950" dirty="0"/>
            </a:p>
          </p:txBody>
        </p:sp>
        <p:sp>
          <p:nvSpPr>
            <p:cNvPr id="30" name="Shape 28"/>
            <p:cNvSpPr/>
            <p:nvPr/>
          </p:nvSpPr>
          <p:spPr>
            <a:xfrm>
              <a:off x="4507992" y="1554480"/>
              <a:ext cx="4069080" cy="237744"/>
            </a:xfrm>
            <a:prstGeom prst="rect">
              <a:avLst/>
            </a:prstGeom>
            <a:solidFill>
              <a:srgbClr val="0D7377"/>
            </a:solidFill>
            <a:ln w="12700">
              <a:solidFill>
                <a:srgbClr val="0D7377"/>
              </a:solidFill>
              <a:prstDash val="solid"/>
            </a:ln>
          </p:spPr>
          <p:txBody>
            <a:bodyPr/>
            <a:lstStyle/>
            <a:p>
              <a:endParaRPr lang="en-US"/>
            </a:p>
          </p:txBody>
        </p:sp>
        <p:sp>
          <p:nvSpPr>
            <p:cNvPr id="31" name="Text 29"/>
            <p:cNvSpPr/>
            <p:nvPr/>
          </p:nvSpPr>
          <p:spPr>
            <a:xfrm>
              <a:off x="4581144" y="1591056"/>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Doubt &amp; Pressure</a:t>
              </a:r>
              <a:endParaRPr lang="en-US" sz="900" dirty="0"/>
            </a:p>
          </p:txBody>
        </p:sp>
        <p:sp>
          <p:nvSpPr>
            <p:cNvPr id="32" name="Shape 30"/>
            <p:cNvSpPr/>
            <p:nvPr/>
          </p:nvSpPr>
          <p:spPr>
            <a:xfrm>
              <a:off x="4507992" y="1792224"/>
              <a:ext cx="4069080" cy="512064"/>
            </a:xfrm>
            <a:prstGeom prst="rect">
              <a:avLst/>
            </a:prstGeom>
            <a:solidFill>
              <a:srgbClr val="FFFFFF"/>
            </a:solidFill>
            <a:ln w="12700">
              <a:solidFill>
                <a:srgbClr val="D1D5DB"/>
              </a:solidFill>
              <a:prstDash val="solid"/>
            </a:ln>
          </p:spPr>
          <p:txBody>
            <a:bodyPr/>
            <a:lstStyle/>
            <a:p>
              <a:endParaRPr lang="en-US"/>
            </a:p>
          </p:txBody>
        </p:sp>
        <p:sp>
          <p:nvSpPr>
            <p:cNvPr id="33" name="Shape 31"/>
            <p:cNvSpPr/>
            <p:nvPr/>
          </p:nvSpPr>
          <p:spPr>
            <a:xfrm>
              <a:off x="4599432" y="1956816"/>
              <a:ext cx="182880" cy="182880"/>
            </a:xfrm>
            <a:prstGeom prst="ellipse">
              <a:avLst/>
            </a:prstGeom>
            <a:solidFill>
              <a:srgbClr val="0D7377"/>
            </a:solidFill>
            <a:ln w="12700">
              <a:solidFill>
                <a:srgbClr val="0D7377"/>
              </a:solidFill>
              <a:prstDash val="solid"/>
            </a:ln>
          </p:spPr>
          <p:txBody>
            <a:bodyPr/>
            <a:lstStyle/>
            <a:p>
              <a:endParaRPr lang="en-US"/>
            </a:p>
          </p:txBody>
        </p:sp>
        <p:sp>
          <p:nvSpPr>
            <p:cNvPr id="34" name="Text 32"/>
            <p:cNvSpPr/>
            <p:nvPr/>
          </p:nvSpPr>
          <p:spPr>
            <a:xfrm>
              <a:off x="4837176" y="1847088"/>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What's the thing you're most afraid of in this process? Not the practical fear — the deeper one.</a:t>
              </a:r>
              <a:endParaRPr lang="en-US" sz="950" dirty="0"/>
            </a:p>
          </p:txBody>
        </p:sp>
        <p:sp>
          <p:nvSpPr>
            <p:cNvPr id="35" name="Shape 33"/>
            <p:cNvSpPr/>
            <p:nvPr/>
          </p:nvSpPr>
          <p:spPr>
            <a:xfrm>
              <a:off x="4507992" y="2304288"/>
              <a:ext cx="4069080" cy="512064"/>
            </a:xfrm>
            <a:prstGeom prst="rect">
              <a:avLst/>
            </a:prstGeom>
            <a:solidFill>
              <a:srgbClr val="F3F4F6"/>
            </a:solidFill>
            <a:ln w="12700">
              <a:solidFill>
                <a:srgbClr val="D1D5DB"/>
              </a:solidFill>
              <a:prstDash val="solid"/>
            </a:ln>
          </p:spPr>
          <p:txBody>
            <a:bodyPr/>
            <a:lstStyle/>
            <a:p>
              <a:endParaRPr lang="en-US"/>
            </a:p>
          </p:txBody>
        </p:sp>
        <p:sp>
          <p:nvSpPr>
            <p:cNvPr id="36" name="Shape 34"/>
            <p:cNvSpPr/>
            <p:nvPr/>
          </p:nvSpPr>
          <p:spPr>
            <a:xfrm>
              <a:off x="4599432" y="2468880"/>
              <a:ext cx="182880" cy="182880"/>
            </a:xfrm>
            <a:prstGeom prst="ellipse">
              <a:avLst/>
            </a:prstGeom>
            <a:solidFill>
              <a:srgbClr val="0D7377"/>
            </a:solidFill>
            <a:ln w="12700">
              <a:solidFill>
                <a:srgbClr val="0D7377"/>
              </a:solidFill>
              <a:prstDash val="solid"/>
            </a:ln>
          </p:spPr>
          <p:txBody>
            <a:bodyPr/>
            <a:lstStyle/>
            <a:p>
              <a:endParaRPr lang="en-US"/>
            </a:p>
          </p:txBody>
        </p:sp>
        <p:sp>
          <p:nvSpPr>
            <p:cNvPr id="37" name="Text 35"/>
            <p:cNvSpPr/>
            <p:nvPr/>
          </p:nvSpPr>
          <p:spPr>
            <a:xfrm>
              <a:off x="4837176" y="2359152"/>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Is there a moment you can think of when you almost stopped? What kept you going?</a:t>
              </a:r>
              <a:endParaRPr lang="en-US" sz="950" dirty="0"/>
            </a:p>
          </p:txBody>
        </p:sp>
        <p:sp>
          <p:nvSpPr>
            <p:cNvPr id="38" name="Shape 36"/>
            <p:cNvSpPr/>
            <p:nvPr/>
          </p:nvSpPr>
          <p:spPr>
            <a:xfrm>
              <a:off x="4507992" y="2816352"/>
              <a:ext cx="4069080" cy="512064"/>
            </a:xfrm>
            <a:prstGeom prst="rect">
              <a:avLst/>
            </a:prstGeom>
            <a:solidFill>
              <a:srgbClr val="FFFFFF"/>
            </a:solidFill>
            <a:ln w="12700">
              <a:solidFill>
                <a:srgbClr val="D1D5DB"/>
              </a:solidFill>
              <a:prstDash val="solid"/>
            </a:ln>
          </p:spPr>
          <p:txBody>
            <a:bodyPr/>
            <a:lstStyle/>
            <a:p>
              <a:endParaRPr lang="en-US"/>
            </a:p>
          </p:txBody>
        </p:sp>
        <p:sp>
          <p:nvSpPr>
            <p:cNvPr id="39" name="Shape 37"/>
            <p:cNvSpPr/>
            <p:nvPr/>
          </p:nvSpPr>
          <p:spPr>
            <a:xfrm>
              <a:off x="4599432" y="2980944"/>
              <a:ext cx="182880" cy="182880"/>
            </a:xfrm>
            <a:prstGeom prst="ellipse">
              <a:avLst/>
            </a:prstGeom>
            <a:solidFill>
              <a:srgbClr val="0D7377"/>
            </a:solidFill>
            <a:ln w="12700">
              <a:solidFill>
                <a:srgbClr val="0D7377"/>
              </a:solidFill>
              <a:prstDash val="solid"/>
            </a:ln>
          </p:spPr>
          <p:txBody>
            <a:bodyPr/>
            <a:lstStyle/>
            <a:p>
              <a:endParaRPr lang="en-US"/>
            </a:p>
          </p:txBody>
        </p:sp>
        <p:sp>
          <p:nvSpPr>
            <p:cNvPr id="40" name="Text 38"/>
            <p:cNvSpPr/>
            <p:nvPr/>
          </p:nvSpPr>
          <p:spPr>
            <a:xfrm>
              <a:off x="4837176" y="2871216"/>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Who is this for? Is there a specific person — real or imagined — whose life this would change?</a:t>
              </a:r>
              <a:endParaRPr lang="en-US" sz="950" dirty="0"/>
            </a:p>
          </p:txBody>
        </p:sp>
        <p:sp>
          <p:nvSpPr>
            <p:cNvPr id="41" name="Shape 39"/>
            <p:cNvSpPr/>
            <p:nvPr/>
          </p:nvSpPr>
          <p:spPr>
            <a:xfrm>
              <a:off x="4507992" y="3328416"/>
              <a:ext cx="4069080" cy="237744"/>
            </a:xfrm>
            <a:prstGeom prst="rect">
              <a:avLst/>
            </a:prstGeom>
            <a:solidFill>
              <a:srgbClr val="C05621"/>
            </a:solidFill>
            <a:ln w="12700">
              <a:solidFill>
                <a:srgbClr val="C05621"/>
              </a:solidFill>
              <a:prstDash val="solid"/>
            </a:ln>
          </p:spPr>
          <p:txBody>
            <a:bodyPr/>
            <a:lstStyle/>
            <a:p>
              <a:endParaRPr lang="en-US"/>
            </a:p>
          </p:txBody>
        </p:sp>
        <p:sp>
          <p:nvSpPr>
            <p:cNvPr id="42" name="Text 40"/>
            <p:cNvSpPr/>
            <p:nvPr/>
          </p:nvSpPr>
          <p:spPr>
            <a:xfrm>
              <a:off x="4581144" y="3364992"/>
              <a:ext cx="3959352" cy="164592"/>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Stakes &amp; Closing</a:t>
              </a:r>
              <a:endParaRPr lang="en-US" sz="900" dirty="0"/>
            </a:p>
          </p:txBody>
        </p:sp>
        <p:sp>
          <p:nvSpPr>
            <p:cNvPr id="43" name="Shape 41"/>
            <p:cNvSpPr/>
            <p:nvPr/>
          </p:nvSpPr>
          <p:spPr>
            <a:xfrm>
              <a:off x="4507992" y="3566160"/>
              <a:ext cx="4069080" cy="512064"/>
            </a:xfrm>
            <a:prstGeom prst="rect">
              <a:avLst/>
            </a:prstGeom>
            <a:solidFill>
              <a:srgbClr val="FFFFFF"/>
            </a:solidFill>
            <a:ln w="12700">
              <a:solidFill>
                <a:srgbClr val="D1D5DB"/>
              </a:solidFill>
              <a:prstDash val="solid"/>
            </a:ln>
          </p:spPr>
          <p:txBody>
            <a:bodyPr/>
            <a:lstStyle/>
            <a:p>
              <a:endParaRPr lang="en-US"/>
            </a:p>
          </p:txBody>
        </p:sp>
        <p:sp>
          <p:nvSpPr>
            <p:cNvPr id="44" name="Shape 42"/>
            <p:cNvSpPr/>
            <p:nvPr/>
          </p:nvSpPr>
          <p:spPr>
            <a:xfrm>
              <a:off x="4599432" y="3730752"/>
              <a:ext cx="182880" cy="182880"/>
            </a:xfrm>
            <a:prstGeom prst="ellipse">
              <a:avLst/>
            </a:prstGeom>
            <a:solidFill>
              <a:srgbClr val="C05621"/>
            </a:solidFill>
            <a:ln w="12700">
              <a:solidFill>
                <a:srgbClr val="C05621"/>
              </a:solidFill>
              <a:prstDash val="solid"/>
            </a:ln>
          </p:spPr>
          <p:txBody>
            <a:bodyPr/>
            <a:lstStyle/>
            <a:p>
              <a:endParaRPr lang="en-US"/>
            </a:p>
          </p:txBody>
        </p:sp>
        <p:sp>
          <p:nvSpPr>
            <p:cNvPr id="45" name="Text 43"/>
            <p:cNvSpPr/>
            <p:nvPr/>
          </p:nvSpPr>
          <p:spPr>
            <a:xfrm>
              <a:off x="4837176" y="3621024"/>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What would it mean — really mean — to you if this worked? And what would it mean if it didn't?</a:t>
              </a:r>
              <a:endParaRPr lang="en-US" sz="950" dirty="0"/>
            </a:p>
          </p:txBody>
        </p:sp>
        <p:sp>
          <p:nvSpPr>
            <p:cNvPr id="46" name="Shape 44"/>
            <p:cNvSpPr/>
            <p:nvPr/>
          </p:nvSpPr>
          <p:spPr>
            <a:xfrm>
              <a:off x="4507992" y="4078224"/>
              <a:ext cx="4069080" cy="512064"/>
            </a:xfrm>
            <a:prstGeom prst="rect">
              <a:avLst/>
            </a:prstGeom>
            <a:solidFill>
              <a:srgbClr val="F3F4F6"/>
            </a:solidFill>
            <a:ln w="12700">
              <a:solidFill>
                <a:srgbClr val="D1D5DB"/>
              </a:solidFill>
              <a:prstDash val="solid"/>
            </a:ln>
          </p:spPr>
          <p:txBody>
            <a:bodyPr/>
            <a:lstStyle/>
            <a:p>
              <a:endParaRPr lang="en-US"/>
            </a:p>
          </p:txBody>
        </p:sp>
        <p:sp>
          <p:nvSpPr>
            <p:cNvPr id="47" name="Shape 45"/>
            <p:cNvSpPr/>
            <p:nvPr/>
          </p:nvSpPr>
          <p:spPr>
            <a:xfrm>
              <a:off x="4599432" y="4242816"/>
              <a:ext cx="182880" cy="182880"/>
            </a:xfrm>
            <a:prstGeom prst="ellipse">
              <a:avLst/>
            </a:prstGeom>
            <a:solidFill>
              <a:srgbClr val="C05621"/>
            </a:solidFill>
            <a:ln w="12700">
              <a:solidFill>
                <a:srgbClr val="C05621"/>
              </a:solidFill>
              <a:prstDash val="solid"/>
            </a:ln>
          </p:spPr>
          <p:txBody>
            <a:bodyPr/>
            <a:lstStyle/>
            <a:p>
              <a:endParaRPr lang="en-US"/>
            </a:p>
          </p:txBody>
        </p:sp>
        <p:sp>
          <p:nvSpPr>
            <p:cNvPr id="48" name="Text 46"/>
            <p:cNvSpPr/>
            <p:nvPr/>
          </p:nvSpPr>
          <p:spPr>
            <a:xfrm>
              <a:off x="4837176" y="4133088"/>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Six months from now, what do you hope you can say about this experience?</a:t>
              </a:r>
              <a:endParaRPr lang="en-US" sz="950" dirty="0"/>
            </a:p>
          </p:txBody>
        </p:sp>
        <p:sp>
          <p:nvSpPr>
            <p:cNvPr id="49" name="Shape 47"/>
            <p:cNvSpPr/>
            <p:nvPr/>
          </p:nvSpPr>
          <p:spPr>
            <a:xfrm>
              <a:off x="4507992" y="4590288"/>
              <a:ext cx="4069080" cy="512064"/>
            </a:xfrm>
            <a:prstGeom prst="rect">
              <a:avLst/>
            </a:prstGeom>
            <a:solidFill>
              <a:srgbClr val="FFFFFF"/>
            </a:solidFill>
            <a:ln w="12700">
              <a:solidFill>
                <a:srgbClr val="D1D5DB"/>
              </a:solidFill>
              <a:prstDash val="solid"/>
            </a:ln>
          </p:spPr>
          <p:txBody>
            <a:bodyPr/>
            <a:lstStyle/>
            <a:p>
              <a:endParaRPr lang="en-US"/>
            </a:p>
          </p:txBody>
        </p:sp>
        <p:sp>
          <p:nvSpPr>
            <p:cNvPr id="50" name="Shape 48"/>
            <p:cNvSpPr/>
            <p:nvPr/>
          </p:nvSpPr>
          <p:spPr>
            <a:xfrm>
              <a:off x="4599432" y="4754880"/>
              <a:ext cx="182880" cy="182880"/>
            </a:xfrm>
            <a:prstGeom prst="ellipse">
              <a:avLst/>
            </a:prstGeom>
            <a:solidFill>
              <a:srgbClr val="C05621"/>
            </a:solidFill>
            <a:ln w="12700">
              <a:solidFill>
                <a:srgbClr val="C05621"/>
              </a:solidFill>
              <a:prstDash val="solid"/>
            </a:ln>
          </p:spPr>
          <p:txBody>
            <a:bodyPr/>
            <a:lstStyle/>
            <a:p>
              <a:endParaRPr lang="en-US"/>
            </a:p>
          </p:txBody>
        </p:sp>
        <p:sp>
          <p:nvSpPr>
            <p:cNvPr id="51" name="Text 49"/>
            <p:cNvSpPr/>
            <p:nvPr/>
          </p:nvSpPr>
          <p:spPr>
            <a:xfrm>
              <a:off x="4837176" y="4645152"/>
              <a:ext cx="3666744"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Is there anything nobody has asked you yet — about this, about you — that you wish they would?</a:t>
              </a:r>
              <a:endParaRPr lang="en-US" sz="950" dirty="0"/>
            </a:p>
          </p:txBody>
        </p:sp>
        <p:sp>
          <p:nvSpPr>
            <p:cNvPr id="52" name="Shape 50"/>
            <p:cNvSpPr/>
            <p:nvPr/>
          </p:nvSpPr>
          <p:spPr>
            <a:xfrm>
              <a:off x="4343400" y="1554480"/>
              <a:ext cx="0" cy="3547872"/>
            </a:xfrm>
            <a:prstGeom prst="line">
              <a:avLst/>
            </a:prstGeom>
            <a:noFill/>
            <a:ln w="12700">
              <a:solidFill>
                <a:srgbClr val="D1D5DB"/>
              </a:solidFill>
              <a:prstDash val="solid"/>
            </a:ln>
          </p:spPr>
          <p:txBody>
            <a:bodyPr/>
            <a:lstStyle/>
            <a:p>
              <a:endParaRPr lang="en-US"/>
            </a:p>
          </p:txBody>
        </p:sp>
      </p:grpSp>
      <p:sp>
        <p:nvSpPr>
          <p:cNvPr id="53" name="Shape 51"/>
          <p:cNvSpPr/>
          <p:nvPr/>
        </p:nvSpPr>
        <p:spPr>
          <a:xfrm>
            <a:off x="295385" y="4805499"/>
            <a:ext cx="8104636" cy="274320"/>
          </a:xfrm>
          <a:prstGeom prst="roundRect">
            <a:avLst>
              <a:gd name="adj" fmla="val 13333"/>
            </a:avLst>
          </a:prstGeom>
          <a:solidFill>
            <a:srgbClr val="F3F4F6"/>
          </a:solidFill>
          <a:ln w="12700">
            <a:solidFill>
              <a:srgbClr val="D1D5DB"/>
            </a:solidFill>
            <a:prstDash val="solid"/>
          </a:ln>
        </p:spPr>
        <p:txBody>
          <a:bodyPr/>
          <a:lstStyle/>
          <a:p>
            <a:endParaRPr lang="en-US"/>
          </a:p>
        </p:txBody>
      </p:sp>
      <p:sp>
        <p:nvSpPr>
          <p:cNvPr id="54" name="Text 52"/>
          <p:cNvSpPr/>
          <p:nvPr/>
        </p:nvSpPr>
        <p:spPr>
          <a:xfrm>
            <a:off x="478265" y="4859312"/>
            <a:ext cx="8229600" cy="164592"/>
          </a:xfrm>
          <a:prstGeom prst="rect">
            <a:avLst/>
          </a:prstGeom>
          <a:noFill/>
          <a:ln/>
        </p:spPr>
        <p:txBody>
          <a:bodyPr wrap="square" lIns="0" tIns="0" rIns="0" bIns="0" rtlCol="0" anchor="ctr"/>
          <a:lstStyle/>
          <a:p>
            <a:pPr marL="0" indent="0">
              <a:buNone/>
            </a:pPr>
            <a:r>
              <a:rPr lang="en-US" sz="850" i="1" dirty="0">
                <a:solidFill>
                  <a:srgbClr val="6B7280"/>
                </a:solidFill>
                <a:latin typeface="Calibri" pitchFamily="34" charset="0"/>
                <a:ea typeface="Calibri" pitchFamily="34" charset="-122"/>
                <a:cs typeface="Calibri" pitchFamily="34" charset="-120"/>
              </a:rPr>
              <a:t>Interview notes:  Shefali leads all questions.  Eddie holds space — observes, does not redirect.  No rigid order — follow the person.  Record with consent.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B4A"/>
          </a:solidFill>
          <a:ln w="12700">
            <a:solidFill>
              <a:srgbClr val="1A2B4A"/>
            </a:solidFill>
            <a:prstDash val="solid"/>
          </a:ln>
        </p:spPr>
        <p:txBody>
          <a:bodyPr/>
          <a:lstStyle/>
          <a:p>
            <a:endParaRPr lang="en-US"/>
          </a:p>
        </p:txBody>
      </p:sp>
      <p:sp>
        <p:nvSpPr>
          <p:cNvPr id="3" name="Text 1"/>
          <p:cNvSpPr/>
          <p:nvPr/>
        </p:nvSpPr>
        <p:spPr>
          <a:xfrm>
            <a:off x="347472" y="91440"/>
            <a:ext cx="8449056" cy="32004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GITHUB SETUP GUIDE — FOR THE TEAM</a:t>
            </a:r>
            <a:endParaRPr lang="en-US" sz="1100" dirty="0"/>
          </a:p>
        </p:txBody>
      </p:sp>
      <p:sp>
        <p:nvSpPr>
          <p:cNvPr id="4" name="Text 2"/>
          <p:cNvSpPr/>
          <p:nvPr/>
        </p:nvSpPr>
        <p:spPr>
          <a:xfrm>
            <a:off x="347472" y="594360"/>
            <a:ext cx="8412480" cy="384048"/>
          </a:xfrm>
          <a:prstGeom prst="rect">
            <a:avLst/>
          </a:prstGeom>
          <a:noFill/>
          <a:ln/>
        </p:spPr>
        <p:txBody>
          <a:bodyPr wrap="square" lIns="0" tIns="0" rIns="0" bIns="0" rtlCol="0" anchor="ctr"/>
          <a:lstStyle/>
          <a:p>
            <a:pPr marL="0" indent="0">
              <a:buNone/>
            </a:pPr>
            <a:r>
              <a:rPr lang="en-US" sz="2400" b="1" dirty="0">
                <a:solidFill>
                  <a:srgbClr val="1A2B4A"/>
                </a:solidFill>
                <a:latin typeface="Cambria" pitchFamily="34" charset="0"/>
                <a:ea typeface="Cambria" pitchFamily="34" charset="-122"/>
                <a:cs typeface="Cambria" pitchFamily="34" charset="-120"/>
              </a:rPr>
              <a:t>GitHub — How We Use It</a:t>
            </a:r>
            <a:endParaRPr lang="en-US" sz="2400" dirty="0"/>
          </a:p>
        </p:txBody>
      </p:sp>
      <p:sp>
        <p:nvSpPr>
          <p:cNvPr id="5" name="Text 3"/>
          <p:cNvSpPr/>
          <p:nvPr/>
        </p:nvSpPr>
        <p:spPr>
          <a:xfrm>
            <a:off x="347472" y="987552"/>
            <a:ext cx="8412480" cy="237744"/>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GitHub is where all production documents live. The README is the team's shared pulse. Updated every Friday by each workstream owner.</a:t>
            </a:r>
            <a:endParaRPr lang="en-US" sz="1100" dirty="0"/>
          </a:p>
        </p:txBody>
      </p:sp>
      <p:sp>
        <p:nvSpPr>
          <p:cNvPr id="6" name="Text 4"/>
          <p:cNvSpPr/>
          <p:nvPr/>
        </p:nvSpPr>
        <p:spPr>
          <a:xfrm>
            <a:off x="347472" y="1298448"/>
            <a:ext cx="416052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5 Things You Need to Be Able to Do</a:t>
            </a:r>
            <a:endParaRPr lang="en-US" sz="1200" dirty="0"/>
          </a:p>
        </p:txBody>
      </p:sp>
      <p:sp>
        <p:nvSpPr>
          <p:cNvPr id="7" name="Shape 5"/>
          <p:cNvSpPr/>
          <p:nvPr/>
        </p:nvSpPr>
        <p:spPr>
          <a:xfrm>
            <a:off x="347472" y="1609344"/>
            <a:ext cx="4160520" cy="530352"/>
          </a:xfrm>
          <a:prstGeom prst="roundRect">
            <a:avLst>
              <a:gd name="adj" fmla="val 10345"/>
            </a:avLst>
          </a:prstGeom>
          <a:solidFill>
            <a:srgbClr val="FFFFFF"/>
          </a:solidFill>
          <a:ln w="12700">
            <a:solidFill>
              <a:srgbClr val="D1D5DB"/>
            </a:solidFill>
            <a:prstDash val="solid"/>
          </a:ln>
        </p:spPr>
        <p:txBody>
          <a:bodyPr/>
          <a:lstStyle/>
          <a:p>
            <a:endParaRPr lang="en-US"/>
          </a:p>
        </p:txBody>
      </p:sp>
      <p:sp>
        <p:nvSpPr>
          <p:cNvPr id="8" name="Shape 6"/>
          <p:cNvSpPr/>
          <p:nvPr/>
        </p:nvSpPr>
        <p:spPr>
          <a:xfrm>
            <a:off x="420624" y="1746504"/>
            <a:ext cx="256032" cy="256032"/>
          </a:xfrm>
          <a:prstGeom prst="ellipse">
            <a:avLst/>
          </a:prstGeom>
          <a:solidFill>
            <a:srgbClr val="1A2B4A"/>
          </a:solidFill>
          <a:ln w="12700">
            <a:solidFill>
              <a:srgbClr val="1A2B4A"/>
            </a:solidFill>
            <a:prstDash val="solid"/>
          </a:ln>
        </p:spPr>
        <p:txBody>
          <a:bodyPr/>
          <a:lstStyle/>
          <a:p>
            <a:endParaRPr lang="en-US"/>
          </a:p>
        </p:txBody>
      </p:sp>
      <p:sp>
        <p:nvSpPr>
          <p:cNvPr id="9" name="Text 7"/>
          <p:cNvSpPr/>
          <p:nvPr/>
        </p:nvSpPr>
        <p:spPr>
          <a:xfrm>
            <a:off x="420624" y="1764792"/>
            <a:ext cx="25603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749808" y="1664208"/>
            <a:ext cx="3657600"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Open the repo in a browser</a:t>
            </a:r>
            <a:endParaRPr lang="en-US" sz="950" dirty="0"/>
          </a:p>
          <a:p>
            <a:pPr marL="0" indent="0">
              <a:buNone/>
            </a:pPr>
            <a:r>
              <a:rPr lang="en-US" sz="950" dirty="0">
                <a:solidFill>
                  <a:srgbClr val="111111"/>
                </a:solidFill>
                <a:latin typeface="Calibri" pitchFamily="34" charset="0"/>
                <a:ea typeface="Calibri" pitchFamily="34" charset="-122"/>
                <a:cs typeface="Calibri" pitchFamily="34" charset="-120"/>
              </a:rPr>
              <a:t>Go to github.com → find the Zero to Hero repo → bookmark it.</a:t>
            </a:r>
            <a:endParaRPr lang="en-US" sz="950" dirty="0"/>
          </a:p>
        </p:txBody>
      </p:sp>
      <p:sp>
        <p:nvSpPr>
          <p:cNvPr id="11" name="Shape 9"/>
          <p:cNvSpPr/>
          <p:nvPr/>
        </p:nvSpPr>
        <p:spPr>
          <a:xfrm>
            <a:off x="347472" y="2194560"/>
            <a:ext cx="4160520" cy="530352"/>
          </a:xfrm>
          <a:prstGeom prst="roundRect">
            <a:avLst>
              <a:gd name="adj" fmla="val 10345"/>
            </a:avLst>
          </a:prstGeom>
          <a:solidFill>
            <a:srgbClr val="F3F4F6"/>
          </a:solidFill>
          <a:ln w="12700">
            <a:solidFill>
              <a:srgbClr val="D1D5DB"/>
            </a:solidFill>
            <a:prstDash val="solid"/>
          </a:ln>
        </p:spPr>
        <p:txBody>
          <a:bodyPr/>
          <a:lstStyle/>
          <a:p>
            <a:endParaRPr lang="en-US"/>
          </a:p>
        </p:txBody>
      </p:sp>
      <p:sp>
        <p:nvSpPr>
          <p:cNvPr id="12" name="Shape 10"/>
          <p:cNvSpPr/>
          <p:nvPr/>
        </p:nvSpPr>
        <p:spPr>
          <a:xfrm>
            <a:off x="420624" y="2331720"/>
            <a:ext cx="256032" cy="256032"/>
          </a:xfrm>
          <a:prstGeom prst="ellipse">
            <a:avLst/>
          </a:prstGeom>
          <a:solidFill>
            <a:srgbClr val="1A2B4A"/>
          </a:solidFill>
          <a:ln w="12700">
            <a:solidFill>
              <a:srgbClr val="1A2B4A"/>
            </a:solidFill>
            <a:prstDash val="solid"/>
          </a:ln>
        </p:spPr>
        <p:txBody>
          <a:bodyPr/>
          <a:lstStyle/>
          <a:p>
            <a:endParaRPr lang="en-US"/>
          </a:p>
        </p:txBody>
      </p:sp>
      <p:sp>
        <p:nvSpPr>
          <p:cNvPr id="13" name="Text 11"/>
          <p:cNvSpPr/>
          <p:nvPr/>
        </p:nvSpPr>
        <p:spPr>
          <a:xfrm>
            <a:off x="420624" y="2350008"/>
            <a:ext cx="25603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749808" y="2249424"/>
            <a:ext cx="3657600"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Read the README</a:t>
            </a:r>
            <a:endParaRPr lang="en-US" sz="950" dirty="0"/>
          </a:p>
          <a:p>
            <a:pPr marL="0" indent="0">
              <a:buNone/>
            </a:pPr>
            <a:r>
              <a:rPr lang="en-US" sz="950" dirty="0">
                <a:solidFill>
                  <a:srgbClr val="111111"/>
                </a:solidFill>
                <a:latin typeface="Calibri" pitchFamily="34" charset="0"/>
                <a:ea typeface="Calibri" pitchFamily="34" charset="-122"/>
                <a:cs typeface="Calibri" pitchFamily="34" charset="-120"/>
              </a:rPr>
              <a:t>The README is on the front page of the repo. This is your weekly status update.</a:t>
            </a:r>
            <a:endParaRPr lang="en-US" sz="950" dirty="0"/>
          </a:p>
        </p:txBody>
      </p:sp>
      <p:sp>
        <p:nvSpPr>
          <p:cNvPr id="15" name="Shape 13"/>
          <p:cNvSpPr/>
          <p:nvPr/>
        </p:nvSpPr>
        <p:spPr>
          <a:xfrm>
            <a:off x="347472" y="2779776"/>
            <a:ext cx="4160520" cy="530352"/>
          </a:xfrm>
          <a:prstGeom prst="roundRect">
            <a:avLst>
              <a:gd name="adj" fmla="val 10345"/>
            </a:avLst>
          </a:prstGeom>
          <a:solidFill>
            <a:srgbClr val="FFFFFF"/>
          </a:solidFill>
          <a:ln w="12700">
            <a:solidFill>
              <a:srgbClr val="D1D5DB"/>
            </a:solidFill>
            <a:prstDash val="solid"/>
          </a:ln>
        </p:spPr>
        <p:txBody>
          <a:bodyPr/>
          <a:lstStyle/>
          <a:p>
            <a:endParaRPr lang="en-US"/>
          </a:p>
        </p:txBody>
      </p:sp>
      <p:sp>
        <p:nvSpPr>
          <p:cNvPr id="16" name="Shape 14"/>
          <p:cNvSpPr/>
          <p:nvPr/>
        </p:nvSpPr>
        <p:spPr>
          <a:xfrm>
            <a:off x="420624" y="2916936"/>
            <a:ext cx="256032" cy="256032"/>
          </a:xfrm>
          <a:prstGeom prst="ellipse">
            <a:avLst/>
          </a:prstGeom>
          <a:solidFill>
            <a:srgbClr val="1A2B4A"/>
          </a:solidFill>
          <a:ln w="12700">
            <a:solidFill>
              <a:srgbClr val="1A2B4A"/>
            </a:solidFill>
            <a:prstDash val="solid"/>
          </a:ln>
        </p:spPr>
        <p:txBody>
          <a:bodyPr/>
          <a:lstStyle/>
          <a:p>
            <a:endParaRPr lang="en-US"/>
          </a:p>
        </p:txBody>
      </p:sp>
      <p:sp>
        <p:nvSpPr>
          <p:cNvPr id="17" name="Text 15"/>
          <p:cNvSpPr/>
          <p:nvPr/>
        </p:nvSpPr>
        <p:spPr>
          <a:xfrm>
            <a:off x="420624" y="2935224"/>
            <a:ext cx="25603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8" name="Text 16"/>
          <p:cNvSpPr/>
          <p:nvPr/>
        </p:nvSpPr>
        <p:spPr>
          <a:xfrm>
            <a:off x="749808" y="2834640"/>
            <a:ext cx="3657600"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Edit your section of the README</a:t>
            </a:r>
            <a:endParaRPr lang="en-US" sz="950" dirty="0"/>
          </a:p>
          <a:p>
            <a:pPr marL="0" indent="0">
              <a:buNone/>
            </a:pPr>
            <a:r>
              <a:rPr lang="en-US" sz="950" dirty="0">
                <a:solidFill>
                  <a:srgbClr val="111111"/>
                </a:solidFill>
                <a:latin typeface="Calibri" pitchFamily="34" charset="0"/>
                <a:ea typeface="Calibri" pitchFamily="34" charset="-122"/>
                <a:cs typeface="Calibri" pitchFamily="34" charset="-120"/>
              </a:rPr>
              <a:t>Click the pencil icon. Find your workstream section. Update your 3 lines. Click 'Commit changes'.</a:t>
            </a:r>
            <a:endParaRPr lang="en-US" sz="950" dirty="0"/>
          </a:p>
        </p:txBody>
      </p:sp>
      <p:sp>
        <p:nvSpPr>
          <p:cNvPr id="19" name="Shape 17"/>
          <p:cNvSpPr/>
          <p:nvPr/>
        </p:nvSpPr>
        <p:spPr>
          <a:xfrm>
            <a:off x="347472" y="3364992"/>
            <a:ext cx="4160520" cy="530352"/>
          </a:xfrm>
          <a:prstGeom prst="roundRect">
            <a:avLst>
              <a:gd name="adj" fmla="val 10345"/>
            </a:avLst>
          </a:prstGeom>
          <a:solidFill>
            <a:srgbClr val="F3F4F6"/>
          </a:solidFill>
          <a:ln w="12700">
            <a:solidFill>
              <a:srgbClr val="D1D5DB"/>
            </a:solidFill>
            <a:prstDash val="solid"/>
          </a:ln>
        </p:spPr>
        <p:txBody>
          <a:bodyPr/>
          <a:lstStyle/>
          <a:p>
            <a:endParaRPr lang="en-US"/>
          </a:p>
        </p:txBody>
      </p:sp>
      <p:sp>
        <p:nvSpPr>
          <p:cNvPr id="20" name="Shape 18"/>
          <p:cNvSpPr/>
          <p:nvPr/>
        </p:nvSpPr>
        <p:spPr>
          <a:xfrm>
            <a:off x="420624" y="3502152"/>
            <a:ext cx="256032" cy="256032"/>
          </a:xfrm>
          <a:prstGeom prst="ellipse">
            <a:avLst/>
          </a:prstGeom>
          <a:solidFill>
            <a:srgbClr val="1A2B4A"/>
          </a:solidFill>
          <a:ln w="12700">
            <a:solidFill>
              <a:srgbClr val="1A2B4A"/>
            </a:solidFill>
            <a:prstDash val="solid"/>
          </a:ln>
        </p:spPr>
        <p:txBody>
          <a:bodyPr/>
          <a:lstStyle/>
          <a:p>
            <a:endParaRPr lang="en-US"/>
          </a:p>
        </p:txBody>
      </p:sp>
      <p:sp>
        <p:nvSpPr>
          <p:cNvPr id="21" name="Text 19"/>
          <p:cNvSpPr/>
          <p:nvPr/>
        </p:nvSpPr>
        <p:spPr>
          <a:xfrm>
            <a:off x="420624" y="3520440"/>
            <a:ext cx="25603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2" name="Text 20"/>
          <p:cNvSpPr/>
          <p:nvPr/>
        </p:nvSpPr>
        <p:spPr>
          <a:xfrm>
            <a:off x="749808" y="3419856"/>
            <a:ext cx="3657600"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Upload a file</a:t>
            </a:r>
            <a:endParaRPr lang="en-US" sz="950" dirty="0"/>
          </a:p>
          <a:p>
            <a:pPr marL="0" indent="0">
              <a:buNone/>
            </a:pPr>
            <a:r>
              <a:rPr lang="en-US" sz="950" dirty="0">
                <a:solidFill>
                  <a:srgbClr val="111111"/>
                </a:solidFill>
                <a:latin typeface="Calibri" pitchFamily="34" charset="0"/>
                <a:ea typeface="Calibri" pitchFamily="34" charset="-122"/>
                <a:cs typeface="Calibri" pitchFamily="34" charset="-120"/>
              </a:rPr>
              <a:t>Drag and drop your file into the right folder. Add a commit message. Click 'Commit changes'.</a:t>
            </a:r>
            <a:endParaRPr lang="en-US" sz="950" dirty="0"/>
          </a:p>
        </p:txBody>
      </p:sp>
      <p:sp>
        <p:nvSpPr>
          <p:cNvPr id="23" name="Shape 21"/>
          <p:cNvSpPr/>
          <p:nvPr/>
        </p:nvSpPr>
        <p:spPr>
          <a:xfrm>
            <a:off x="347472" y="3950208"/>
            <a:ext cx="4160520" cy="530352"/>
          </a:xfrm>
          <a:prstGeom prst="roundRect">
            <a:avLst>
              <a:gd name="adj" fmla="val 10345"/>
            </a:avLst>
          </a:prstGeom>
          <a:solidFill>
            <a:srgbClr val="FFFFFF"/>
          </a:solidFill>
          <a:ln w="12700">
            <a:solidFill>
              <a:srgbClr val="D1D5DB"/>
            </a:solidFill>
            <a:prstDash val="solid"/>
          </a:ln>
        </p:spPr>
        <p:txBody>
          <a:bodyPr/>
          <a:lstStyle/>
          <a:p>
            <a:endParaRPr lang="en-US"/>
          </a:p>
        </p:txBody>
      </p:sp>
      <p:sp>
        <p:nvSpPr>
          <p:cNvPr id="24" name="Shape 22"/>
          <p:cNvSpPr/>
          <p:nvPr/>
        </p:nvSpPr>
        <p:spPr>
          <a:xfrm>
            <a:off x="420624" y="4087368"/>
            <a:ext cx="256032" cy="256032"/>
          </a:xfrm>
          <a:prstGeom prst="ellipse">
            <a:avLst/>
          </a:prstGeom>
          <a:solidFill>
            <a:srgbClr val="1A2B4A"/>
          </a:solidFill>
          <a:ln w="12700">
            <a:solidFill>
              <a:srgbClr val="1A2B4A"/>
            </a:solidFill>
            <a:prstDash val="solid"/>
          </a:ln>
        </p:spPr>
        <p:txBody>
          <a:bodyPr/>
          <a:lstStyle/>
          <a:p>
            <a:endParaRPr lang="en-US"/>
          </a:p>
        </p:txBody>
      </p:sp>
      <p:sp>
        <p:nvSpPr>
          <p:cNvPr id="25" name="Text 23"/>
          <p:cNvSpPr/>
          <p:nvPr/>
        </p:nvSpPr>
        <p:spPr>
          <a:xfrm>
            <a:off x="420624" y="4105656"/>
            <a:ext cx="25603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6" name="Text 24"/>
          <p:cNvSpPr/>
          <p:nvPr/>
        </p:nvSpPr>
        <p:spPr>
          <a:xfrm>
            <a:off x="749808" y="4005072"/>
            <a:ext cx="3657600" cy="420624"/>
          </a:xfrm>
          <a:prstGeom prst="rect">
            <a:avLst/>
          </a:prstGeom>
          <a:noFill/>
          <a:ln/>
        </p:spPr>
        <p:txBody>
          <a:bodyPr wrap="square" lIns="0" tIns="0" rIns="0" bIns="0" rtlCol="0" anchor="ctr"/>
          <a:lstStyle/>
          <a:p>
            <a:pPr marL="0" indent="0">
              <a:buNone/>
            </a:pPr>
            <a:r>
              <a:rPr lang="en-US" sz="950" dirty="0">
                <a:solidFill>
                  <a:srgbClr val="111111"/>
                </a:solidFill>
                <a:latin typeface="Calibri" pitchFamily="34" charset="0"/>
                <a:ea typeface="Calibri" pitchFamily="34" charset="-122"/>
                <a:cs typeface="Calibri" pitchFamily="34" charset="-120"/>
              </a:rPr>
              <a:t>You will NOT break anything</a:t>
            </a:r>
            <a:endParaRPr lang="en-US" sz="950" dirty="0"/>
          </a:p>
          <a:p>
            <a:pPr marL="0" indent="0">
              <a:buNone/>
            </a:pPr>
            <a:r>
              <a:rPr lang="en-US" sz="950" dirty="0">
                <a:solidFill>
                  <a:srgbClr val="111111"/>
                </a:solidFill>
                <a:latin typeface="Calibri" pitchFamily="34" charset="0"/>
                <a:ea typeface="Calibri" pitchFamily="34" charset="-122"/>
                <a:cs typeface="Calibri" pitchFamily="34" charset="-120"/>
              </a:rPr>
              <a:t>GitHub keeps a full history. Every change can be undone. There is no deleting by accident.</a:t>
            </a:r>
            <a:endParaRPr lang="en-US" sz="950" dirty="0"/>
          </a:p>
        </p:txBody>
      </p:sp>
      <p:sp>
        <p:nvSpPr>
          <p:cNvPr id="27" name="Shape 25"/>
          <p:cNvSpPr/>
          <p:nvPr/>
        </p:nvSpPr>
        <p:spPr>
          <a:xfrm>
            <a:off x="4663440" y="1280160"/>
            <a:ext cx="0" cy="3730752"/>
          </a:xfrm>
          <a:prstGeom prst="line">
            <a:avLst/>
          </a:prstGeom>
          <a:noFill/>
          <a:ln w="12700">
            <a:solidFill>
              <a:srgbClr val="D1D5DB"/>
            </a:solidFill>
            <a:prstDash val="solid"/>
          </a:ln>
        </p:spPr>
        <p:txBody>
          <a:bodyPr/>
          <a:lstStyle/>
          <a:p>
            <a:endParaRPr lang="en-US"/>
          </a:p>
        </p:txBody>
      </p:sp>
      <p:sp>
        <p:nvSpPr>
          <p:cNvPr id="28" name="Text 26"/>
          <p:cNvSpPr/>
          <p:nvPr/>
        </p:nvSpPr>
        <p:spPr>
          <a:xfrm>
            <a:off x="4800600" y="1298448"/>
            <a:ext cx="397764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Your Friday README Update — 3 Lines</a:t>
            </a:r>
            <a:endParaRPr lang="en-US" sz="1200" dirty="0"/>
          </a:p>
        </p:txBody>
      </p:sp>
      <p:sp>
        <p:nvSpPr>
          <p:cNvPr id="29" name="Shape 27"/>
          <p:cNvSpPr/>
          <p:nvPr/>
        </p:nvSpPr>
        <p:spPr>
          <a:xfrm>
            <a:off x="4800600" y="1609344"/>
            <a:ext cx="3977640" cy="274320"/>
          </a:xfrm>
          <a:prstGeom prst="roundRect">
            <a:avLst>
              <a:gd name="adj" fmla="val 16667"/>
            </a:avLst>
          </a:prstGeom>
          <a:solidFill>
            <a:srgbClr val="D6F0F1"/>
          </a:solidFill>
          <a:ln w="12700">
            <a:solidFill>
              <a:srgbClr val="0D7377"/>
            </a:solidFill>
            <a:prstDash val="solid"/>
          </a:ln>
        </p:spPr>
        <p:txBody>
          <a:bodyPr/>
          <a:lstStyle/>
          <a:p>
            <a:endParaRPr lang="en-US"/>
          </a:p>
        </p:txBody>
      </p:sp>
      <p:sp>
        <p:nvSpPr>
          <p:cNvPr id="30" name="Text 28"/>
          <p:cNvSpPr/>
          <p:nvPr/>
        </p:nvSpPr>
        <p:spPr>
          <a:xfrm>
            <a:off x="4892040" y="1664208"/>
            <a:ext cx="914400" cy="164592"/>
          </a:xfrm>
          <a:prstGeom prst="rect">
            <a:avLst/>
          </a:prstGeom>
          <a:noFill/>
          <a:ln/>
        </p:spPr>
        <p:txBody>
          <a:bodyPr wrap="square" lIns="0" tIns="0" rIns="0" bIns="0" rtlCol="0" anchor="ctr"/>
          <a:lstStyle/>
          <a:p>
            <a:pPr marL="0" indent="0">
              <a:buNone/>
            </a:pPr>
            <a:r>
              <a:rPr lang="en-US" sz="900" b="1" dirty="0">
                <a:solidFill>
                  <a:srgbClr val="0D7377"/>
                </a:solidFill>
                <a:latin typeface="Calibri" pitchFamily="34" charset="0"/>
                <a:ea typeface="Calibri" pitchFamily="34" charset="-122"/>
                <a:cs typeface="Calibri" pitchFamily="34" charset="-120"/>
              </a:rPr>
              <a:t>STATUS:  </a:t>
            </a:r>
            <a:endParaRPr lang="en-US" sz="900" dirty="0"/>
          </a:p>
        </p:txBody>
      </p:sp>
      <p:sp>
        <p:nvSpPr>
          <p:cNvPr id="31" name="Text 29"/>
          <p:cNvSpPr/>
          <p:nvPr/>
        </p:nvSpPr>
        <p:spPr>
          <a:xfrm>
            <a:off x="5852160" y="1664208"/>
            <a:ext cx="2834640" cy="164592"/>
          </a:xfrm>
          <a:prstGeom prst="rect">
            <a:avLst/>
          </a:prstGeom>
          <a:noFill/>
          <a:ln/>
        </p:spPr>
        <p:txBody>
          <a:bodyPr wrap="square" lIns="0" tIns="0" rIns="0" bIns="0" rtlCol="0" anchor="ctr"/>
          <a:lstStyle/>
          <a:p>
            <a:pPr marL="0" indent="0">
              <a:buNone/>
            </a:pPr>
            <a:r>
              <a:rPr lang="en-US" sz="900" i="1" dirty="0">
                <a:solidFill>
                  <a:srgbClr val="111111"/>
                </a:solidFill>
                <a:latin typeface="Calibri" pitchFamily="34" charset="0"/>
                <a:ea typeface="Calibri" pitchFamily="34" charset="-122"/>
                <a:cs typeface="Calibri" pitchFamily="34" charset="-120"/>
              </a:rPr>
              <a:t>On track  /  At risk  /  Blocked</a:t>
            </a:r>
            <a:endParaRPr lang="en-US" sz="900" dirty="0"/>
          </a:p>
        </p:txBody>
      </p:sp>
      <p:sp>
        <p:nvSpPr>
          <p:cNvPr id="32" name="Shape 30"/>
          <p:cNvSpPr/>
          <p:nvPr/>
        </p:nvSpPr>
        <p:spPr>
          <a:xfrm>
            <a:off x="4800600" y="1938528"/>
            <a:ext cx="3977640" cy="274320"/>
          </a:xfrm>
          <a:prstGeom prst="roundRect">
            <a:avLst>
              <a:gd name="adj" fmla="val 16667"/>
            </a:avLst>
          </a:prstGeom>
          <a:solidFill>
            <a:srgbClr val="D6F0F1"/>
          </a:solidFill>
          <a:ln w="12700">
            <a:solidFill>
              <a:srgbClr val="0D7377"/>
            </a:solidFill>
            <a:prstDash val="solid"/>
          </a:ln>
        </p:spPr>
        <p:txBody>
          <a:bodyPr/>
          <a:lstStyle/>
          <a:p>
            <a:endParaRPr lang="en-US"/>
          </a:p>
        </p:txBody>
      </p:sp>
      <p:sp>
        <p:nvSpPr>
          <p:cNvPr id="33" name="Text 31"/>
          <p:cNvSpPr/>
          <p:nvPr/>
        </p:nvSpPr>
        <p:spPr>
          <a:xfrm>
            <a:off x="4892040" y="1993392"/>
            <a:ext cx="914400" cy="164592"/>
          </a:xfrm>
          <a:prstGeom prst="rect">
            <a:avLst/>
          </a:prstGeom>
          <a:noFill/>
          <a:ln/>
        </p:spPr>
        <p:txBody>
          <a:bodyPr wrap="square" lIns="0" tIns="0" rIns="0" bIns="0" rtlCol="0" anchor="ctr"/>
          <a:lstStyle/>
          <a:p>
            <a:pPr marL="0" indent="0">
              <a:buNone/>
            </a:pPr>
            <a:r>
              <a:rPr lang="en-US" sz="900" b="1" dirty="0">
                <a:solidFill>
                  <a:srgbClr val="0D7377"/>
                </a:solidFill>
                <a:latin typeface="Calibri" pitchFamily="34" charset="0"/>
                <a:ea typeface="Calibri" pitchFamily="34" charset="-122"/>
                <a:cs typeface="Calibri" pitchFamily="34" charset="-120"/>
              </a:rPr>
              <a:t>THIS WEEK:  </a:t>
            </a:r>
            <a:endParaRPr lang="en-US" sz="900" dirty="0"/>
          </a:p>
        </p:txBody>
      </p:sp>
      <p:sp>
        <p:nvSpPr>
          <p:cNvPr id="34" name="Text 32"/>
          <p:cNvSpPr/>
          <p:nvPr/>
        </p:nvSpPr>
        <p:spPr>
          <a:xfrm>
            <a:off x="5852160" y="1993392"/>
            <a:ext cx="2834640" cy="164592"/>
          </a:xfrm>
          <a:prstGeom prst="rect">
            <a:avLst/>
          </a:prstGeom>
          <a:noFill/>
          <a:ln/>
        </p:spPr>
        <p:txBody>
          <a:bodyPr wrap="square" lIns="0" tIns="0" rIns="0" bIns="0" rtlCol="0" anchor="ctr"/>
          <a:lstStyle/>
          <a:p>
            <a:pPr marL="0" indent="0">
              <a:buNone/>
            </a:pPr>
            <a:r>
              <a:rPr lang="en-US" sz="900" i="1" dirty="0">
                <a:solidFill>
                  <a:srgbClr val="111111"/>
                </a:solidFill>
                <a:latin typeface="Calibri" pitchFamily="34" charset="0"/>
                <a:ea typeface="Calibri" pitchFamily="34" charset="-122"/>
                <a:cs typeface="Calibri" pitchFamily="34" charset="-120"/>
              </a:rPr>
              <a:t>One sentence on what happened</a:t>
            </a:r>
            <a:endParaRPr lang="en-US" sz="900" dirty="0"/>
          </a:p>
        </p:txBody>
      </p:sp>
      <p:sp>
        <p:nvSpPr>
          <p:cNvPr id="35" name="Shape 33"/>
          <p:cNvSpPr/>
          <p:nvPr/>
        </p:nvSpPr>
        <p:spPr>
          <a:xfrm>
            <a:off x="4800600" y="2267712"/>
            <a:ext cx="3977640" cy="274320"/>
          </a:xfrm>
          <a:prstGeom prst="roundRect">
            <a:avLst>
              <a:gd name="adj" fmla="val 16667"/>
            </a:avLst>
          </a:prstGeom>
          <a:solidFill>
            <a:srgbClr val="D6F0F1"/>
          </a:solidFill>
          <a:ln w="12700">
            <a:solidFill>
              <a:srgbClr val="0D7377"/>
            </a:solidFill>
            <a:prstDash val="solid"/>
          </a:ln>
        </p:spPr>
        <p:txBody>
          <a:bodyPr/>
          <a:lstStyle/>
          <a:p>
            <a:endParaRPr lang="en-US"/>
          </a:p>
        </p:txBody>
      </p:sp>
      <p:sp>
        <p:nvSpPr>
          <p:cNvPr id="36" name="Text 34"/>
          <p:cNvSpPr/>
          <p:nvPr/>
        </p:nvSpPr>
        <p:spPr>
          <a:xfrm>
            <a:off x="4892040" y="2322576"/>
            <a:ext cx="914400" cy="164592"/>
          </a:xfrm>
          <a:prstGeom prst="rect">
            <a:avLst/>
          </a:prstGeom>
          <a:noFill/>
          <a:ln/>
        </p:spPr>
        <p:txBody>
          <a:bodyPr wrap="square" lIns="0" tIns="0" rIns="0" bIns="0" rtlCol="0" anchor="ctr"/>
          <a:lstStyle/>
          <a:p>
            <a:pPr marL="0" indent="0">
              <a:buNone/>
            </a:pPr>
            <a:r>
              <a:rPr lang="en-US" sz="900" b="1" dirty="0">
                <a:solidFill>
                  <a:srgbClr val="0D7377"/>
                </a:solidFill>
                <a:latin typeface="Calibri" pitchFamily="34" charset="0"/>
                <a:ea typeface="Calibri" pitchFamily="34" charset="-122"/>
                <a:cs typeface="Calibri" pitchFamily="34" charset="-120"/>
              </a:rPr>
              <a:t>NEXT WEEK:  </a:t>
            </a:r>
            <a:endParaRPr lang="en-US" sz="900" dirty="0"/>
          </a:p>
        </p:txBody>
      </p:sp>
      <p:sp>
        <p:nvSpPr>
          <p:cNvPr id="37" name="Text 35"/>
          <p:cNvSpPr/>
          <p:nvPr/>
        </p:nvSpPr>
        <p:spPr>
          <a:xfrm>
            <a:off x="5852160" y="2322576"/>
            <a:ext cx="2834640" cy="164592"/>
          </a:xfrm>
          <a:prstGeom prst="rect">
            <a:avLst/>
          </a:prstGeom>
          <a:noFill/>
          <a:ln/>
        </p:spPr>
        <p:txBody>
          <a:bodyPr wrap="square" lIns="0" tIns="0" rIns="0" bIns="0" rtlCol="0" anchor="ctr"/>
          <a:lstStyle/>
          <a:p>
            <a:pPr marL="0" indent="0">
              <a:buNone/>
            </a:pPr>
            <a:r>
              <a:rPr lang="en-US" sz="900" i="1" dirty="0">
                <a:solidFill>
                  <a:srgbClr val="111111"/>
                </a:solidFill>
                <a:latin typeface="Calibri" pitchFamily="34" charset="0"/>
                <a:ea typeface="Calibri" pitchFamily="34" charset="-122"/>
                <a:cs typeface="Calibri" pitchFamily="34" charset="-120"/>
              </a:rPr>
              <a:t>One sentence on what's coming</a:t>
            </a:r>
            <a:endParaRPr lang="en-US" sz="900" dirty="0"/>
          </a:p>
        </p:txBody>
      </p:sp>
      <p:sp>
        <p:nvSpPr>
          <p:cNvPr id="38" name="Text 36"/>
          <p:cNvSpPr/>
          <p:nvPr/>
        </p:nvSpPr>
        <p:spPr>
          <a:xfrm>
            <a:off x="4800600" y="2615184"/>
            <a:ext cx="3977640" cy="256032"/>
          </a:xfrm>
          <a:prstGeom prst="rect">
            <a:avLst/>
          </a:prstGeom>
          <a:noFill/>
          <a:ln/>
        </p:spPr>
        <p:txBody>
          <a:bodyPr wrap="square" lIns="0" tIns="0" rIns="0" bIns="0" rtlCol="0" anchor="ctr"/>
          <a:lstStyle/>
          <a:p>
            <a:pPr marL="0" indent="0">
              <a:buNone/>
            </a:pPr>
            <a:r>
              <a:rPr lang="en-US" sz="1200" b="1" dirty="0">
                <a:solidFill>
                  <a:srgbClr val="1A2B4A"/>
                </a:solidFill>
                <a:latin typeface="Calibri" pitchFamily="34" charset="0"/>
                <a:ea typeface="Calibri" pitchFamily="34" charset="-122"/>
                <a:cs typeface="Calibri" pitchFamily="34" charset="-120"/>
              </a:rPr>
              <a:t>Repo Folder Structure</a:t>
            </a:r>
            <a:endParaRPr lang="en-US" sz="1200" dirty="0"/>
          </a:p>
        </p:txBody>
      </p:sp>
      <p:sp>
        <p:nvSpPr>
          <p:cNvPr id="39" name="Text 37"/>
          <p:cNvSpPr/>
          <p:nvPr/>
        </p:nvSpPr>
        <p:spPr>
          <a:xfrm>
            <a:off x="4800600" y="2907792"/>
            <a:ext cx="3977640" cy="1828800"/>
          </a:xfrm>
          <a:prstGeom prst="rect">
            <a:avLst/>
          </a:prstGeom>
          <a:noFill/>
          <a:ln/>
        </p:spPr>
        <p:txBody>
          <a:bodyPr wrap="square" lIns="0" tIns="0" rIns="0" bIns="0" rtlCol="0" anchor="ctr"/>
          <a:lstStyle/>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FROM-ZERO-TO-APP/  (root)</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01-PARTICIPANTS/ → one folder per person</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02-WHATSAPP-ARCHIVE/ → screenshots (Hansh)</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03-STORY-BIBLE/ → all versions (Shefali)</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04-SELECTS/ → Eddie's selects by week</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05-EDIT/ → all cut versions</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06-DELIVERY/ → final Netflix package</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07-PRODUCTION-DOCS/ → RACI, Gantt, budget</a:t>
            </a:r>
            <a:endParaRPr lang="en-US" sz="850" dirty="0"/>
          </a:p>
          <a:p>
            <a:pPr marL="0" indent="0">
              <a:spcAft>
                <a:spcPts val="100"/>
              </a:spcAft>
              <a:buNone/>
            </a:pPr>
            <a:r>
              <a:rPr lang="en-US" sz="850" dirty="0">
                <a:solidFill>
                  <a:srgbClr val="111111"/>
                </a:solidFill>
                <a:latin typeface="Courier New" pitchFamily="34" charset="0"/>
                <a:ea typeface="Courier New" pitchFamily="34" charset="-122"/>
                <a:cs typeface="Courier New" pitchFamily="34" charset="-120"/>
              </a:rPr>
              <a:t>   📄 README.md → team status (updated Fridays)</a:t>
            </a:r>
            <a:endParaRPr lang="en-US" sz="850" dirty="0"/>
          </a:p>
        </p:txBody>
      </p:sp>
      <p:sp>
        <p:nvSpPr>
          <p:cNvPr id="40" name="Shape 38"/>
          <p:cNvSpPr/>
          <p:nvPr/>
        </p:nvSpPr>
        <p:spPr>
          <a:xfrm>
            <a:off x="347472" y="4754880"/>
            <a:ext cx="8430768" cy="274320"/>
          </a:xfrm>
          <a:prstGeom prst="roundRect">
            <a:avLst>
              <a:gd name="adj" fmla="val 16667"/>
            </a:avLst>
          </a:prstGeom>
          <a:solidFill>
            <a:srgbClr val="E8EDF4"/>
          </a:solidFill>
          <a:ln w="12700">
            <a:solidFill>
              <a:srgbClr val="1A2B4A"/>
            </a:solidFill>
            <a:prstDash val="solid"/>
          </a:ln>
        </p:spPr>
        <p:txBody>
          <a:bodyPr/>
          <a:lstStyle/>
          <a:p>
            <a:endParaRPr lang="en-US"/>
          </a:p>
        </p:txBody>
      </p:sp>
      <p:sp>
        <p:nvSpPr>
          <p:cNvPr id="41" name="Text 39"/>
          <p:cNvSpPr/>
          <p:nvPr/>
        </p:nvSpPr>
        <p:spPr>
          <a:xfrm>
            <a:off x="475488" y="4809744"/>
            <a:ext cx="8229600" cy="182880"/>
          </a:xfrm>
          <a:prstGeom prst="rect">
            <a:avLst/>
          </a:prstGeom>
          <a:noFill/>
          <a:ln/>
        </p:spPr>
        <p:txBody>
          <a:bodyPr wrap="square" lIns="0" tIns="0" rIns="0" bIns="0" rtlCol="0" anchor="ctr"/>
          <a:lstStyle/>
          <a:p>
            <a:pPr marL="0" indent="0">
              <a:buNone/>
            </a:pPr>
            <a:r>
              <a:rPr lang="en-US" sz="850" b="1" dirty="0">
                <a:solidFill>
                  <a:srgbClr val="1A2B4A"/>
                </a:solidFill>
                <a:latin typeface="Courier New" pitchFamily="34" charset="0"/>
                <a:ea typeface="Courier New" pitchFamily="34" charset="-122"/>
                <a:cs typeface="Courier New" pitchFamily="34" charset="-120"/>
              </a:rPr>
              <a:t>FILE NAMING RULE:  [FIRSTNAME-LASTNAME]_[W##]_[TYPE]_[YYYY-MM-DD].[ext]   e.g.  SHEFALI-MODY_W03_SELF-SHOT_2025-03-17.mp4   — No spaces. Ever.</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4263</Words>
  <Application>Microsoft Office PowerPoint</Application>
  <PresentationFormat>On-screen Show (16:9)</PresentationFormat>
  <Paragraphs>612</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Shefali Mody</cp:lastModifiedBy>
  <cp:revision>1</cp:revision>
  <dcterms:created xsi:type="dcterms:W3CDTF">2026-06-10T08:09:04Z</dcterms:created>
  <dcterms:modified xsi:type="dcterms:W3CDTF">2026-06-10T08:43:22Z</dcterms:modified>
</cp:coreProperties>
</file>